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158032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2000" y="1834307"/>
            <a:ext cx="7772400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8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the 5 Levels</a:t>
            </a:r>
            <a:endParaRPr lang="en-US" sz="3600" dirty="0"/>
          </a:p>
          <a:p>
            <a:pPr algn="l" indent="0" marL="0">
              <a:lnSpc>
                <a:spcPts val="4320"/>
              </a:lnSpc>
              <a:spcAft>
                <a:spcPts val="8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AI Coding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3032968"/>
            <a:ext cx="762000" cy="50750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3337620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"Spicy Autocomplete" to the "Dark Factory"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44594" y="4619625"/>
            <a:ext cx="4461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0901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98400"/>
            <a:ext cx="895499" cy="234851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349151"/>
            <a:ext cx="6025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60649" y="253901"/>
            <a:ext cx="41378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Paradox of AI Productivity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780901"/>
            <a:ext cx="76200" cy="4362599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1161901"/>
            <a:ext cx="3771900" cy="1456879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07963" y="1161901"/>
            <a:ext cx="0" cy="1456879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5676" y="1365052"/>
            <a:ext cx="328080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85676" y="1882527"/>
            <a:ext cx="3280803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across industry when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are bolted onto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workflows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37050" y="1161901"/>
            <a:ext cx="3772049" cy="1456879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0863" y="1161901"/>
            <a:ext cx="0" cy="1456879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38576" y="1365052"/>
            <a:ext cx="32809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038576" y="1882527"/>
            <a:ext cx="3280955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Perceived speed gain by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developers, but measured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show the opposite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4150" y="3689747"/>
            <a:ext cx="7924949" cy="1199852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88950" y="3943648"/>
            <a:ext cx="74616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J-CURVE EFFECT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8950" y="4216598"/>
            <a:ext cx="746165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dips when you run a "new engine on an old transmission."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redesign the workflow around the tool, not bolt the tool onto old processes.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0901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98400"/>
            <a:ext cx="895499" cy="234851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349151"/>
            <a:ext cx="6025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60649" y="253901"/>
            <a:ext cx="406517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Levels of "Vibe Coding"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780901"/>
            <a:ext cx="76200" cy="4362599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03480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5445" y="1144339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8301" y="1079302"/>
            <a:ext cx="76171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Spicy Autocomplete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8301" y="1304627"/>
            <a:ext cx="76171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suggests the next line; human writes the 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3400" y="1568202"/>
            <a:ext cx="8102650" cy="126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400" y="165705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5445" y="1766590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8301" y="1701552"/>
            <a:ext cx="76171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Coding Intern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8301" y="1926878"/>
            <a:ext cx="76171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discrete, well-scoped tasks; human reviews everything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3400" y="2190452"/>
            <a:ext cx="8102650" cy="126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3400" y="227930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5445" y="2388840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8301" y="2323802"/>
            <a:ext cx="76171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Junior Developer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68301" y="2549128"/>
            <a:ext cx="76171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multi-file changes and navigates the codebase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3400" y="2812703"/>
            <a:ext cx="8102650" cy="126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3400" y="290155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5445" y="3011091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68301" y="2946053"/>
            <a:ext cx="76171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Developer as Manager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68301" y="3171379"/>
            <a:ext cx="76171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relationship flips: human directs, AI implements and submits PRs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3400" y="3434953"/>
            <a:ext cx="8102650" cy="126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3400" y="352380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05445" y="3633341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68301" y="3568303"/>
            <a:ext cx="76171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Developer as Product Manager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68301" y="3793629"/>
            <a:ext cx="76171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writes specifications and evaluates outcomes; code is a "black box"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3400" y="4057204"/>
            <a:ext cx="8102650" cy="126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3400" y="41460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05445" y="4255591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68301" y="4190554"/>
            <a:ext cx="76171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Dark Factory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68301" y="4415879"/>
            <a:ext cx="76171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Lights-out software production: specs in, software out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0901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98400"/>
            <a:ext cx="895499" cy="234851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349151"/>
            <a:ext cx="6025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60649" y="253901"/>
            <a:ext cx="520477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0 - 2: Human-Led AI Assistance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780901"/>
            <a:ext cx="76200" cy="4362599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085701"/>
            <a:ext cx="2531566" cy="380389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3400" y="1109514"/>
            <a:ext cx="2531566" cy="0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7301" y="1396752"/>
            <a:ext cx="368350" cy="381000"/>
          </a:xfrm>
          <a:prstGeom prst="roundRect">
            <a:avLst>
              <a:gd name="adj" fmla="val 248242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7915" y="1433215"/>
            <a:ext cx="684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82601" y="1387227"/>
            <a:ext cx="155903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Spicy Autocomplete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7301" y="1939677"/>
            <a:ext cx="2064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7301" y="2158752"/>
            <a:ext cx="20642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suggests the next line of code as you type. Think GitHub Copilot inline suggestions.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87301" y="2828627"/>
            <a:ext cx="2064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7301" y="3047702"/>
            <a:ext cx="20642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human. AI is a passive assistant with no context beyond the current file.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7301" y="3717578"/>
            <a:ext cx="1325612" cy="228600"/>
          </a:xfrm>
          <a:prstGeom prst="rect">
            <a:avLst/>
          </a:prstGeom>
          <a:solidFill>
            <a:srgbClr val="E0E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88802" y="3755678"/>
            <a:ext cx="11450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WRITES CODE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8867" y="1085701"/>
            <a:ext cx="2531715" cy="380389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18867" y="1109514"/>
            <a:ext cx="2531715" cy="0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2768" y="138722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29633" y="1423690"/>
            <a:ext cx="684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80718" y="1477714"/>
            <a:ext cx="1440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Coding Intern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72768" y="1920627"/>
            <a:ext cx="2064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72768" y="2139702"/>
            <a:ext cx="206439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discrete, well-scoped tasks: write a function, refactor a block, generate a test.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72768" y="2809577"/>
            <a:ext cx="2064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CODE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72768" y="3028652"/>
            <a:ext cx="206439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reviews every output line-by-line before merging.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72768" y="3517553"/>
            <a:ext cx="1299270" cy="228600"/>
          </a:xfrm>
          <a:prstGeom prst="rect">
            <a:avLst/>
          </a:prstGeom>
          <a:solidFill>
            <a:srgbClr val="E0E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74269" y="3555653"/>
            <a:ext cx="1118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REVIEWS ALL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04483" y="1085701"/>
            <a:ext cx="2531566" cy="380389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104483" y="1109514"/>
            <a:ext cx="2531566" cy="0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8384" y="1396752"/>
            <a:ext cx="349300" cy="381000"/>
          </a:xfrm>
          <a:prstGeom prst="roundRect">
            <a:avLst>
              <a:gd name="adj" fmla="val 261781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499473" y="1433215"/>
            <a:ext cx="684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34634" y="1387227"/>
            <a:ext cx="1578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Junior Developer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8384" y="1939677"/>
            <a:ext cx="2064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8384" y="2158752"/>
            <a:ext cx="20642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multi-file changes, navigates the codebase, and understands project structure.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8384" y="2828627"/>
            <a:ext cx="2064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CODE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8384" y="3047702"/>
            <a:ext cx="206424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provides direction and performs code review at the PR level.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58384" y="3536603"/>
            <a:ext cx="1054894" cy="228600"/>
          </a:xfrm>
          <a:prstGeom prst="rect">
            <a:avLst/>
          </a:prstGeom>
          <a:solidFill>
            <a:srgbClr val="E0E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459885" y="3574703"/>
            <a:ext cx="8689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DIRECTS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0901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98400"/>
            <a:ext cx="895499" cy="234851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349151"/>
            <a:ext cx="6025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60649" y="253901"/>
            <a:ext cx="445501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3 - 5: AI-Led Development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780901"/>
            <a:ext cx="76200" cy="4362599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085701"/>
            <a:ext cx="2531566" cy="380389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3400" y="1109514"/>
            <a:ext cx="2531566" cy="0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7301" y="1396752"/>
            <a:ext cx="338733" cy="381000"/>
          </a:xfrm>
          <a:prstGeom prst="roundRect">
            <a:avLst>
              <a:gd name="adj" fmla="val 269947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23032" y="1433215"/>
            <a:ext cx="684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52984" y="1387227"/>
            <a:ext cx="15892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as Manager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7301" y="1939677"/>
            <a:ext cx="2064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FLIP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7301" y="2158752"/>
            <a:ext cx="20642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relationship inverts. Human directs strategy; AI implements features and submits PRs.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87301" y="2828627"/>
            <a:ext cx="2064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ROLE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7301" y="3047702"/>
            <a:ext cx="206424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PRs, set priorities, resolve ambiguity. Think tech lead, not coder.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7301" y="3536603"/>
            <a:ext cx="998488" cy="228600"/>
          </a:xfrm>
          <a:prstGeom prst="rect">
            <a:avLst/>
          </a:prstGeom>
          <a:solidFill>
            <a:srgbClr val="E0E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88802" y="3574703"/>
            <a:ext cx="8113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IMPLEMENTS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8867" y="1085701"/>
            <a:ext cx="2531715" cy="380389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18867" y="1109514"/>
            <a:ext cx="2531715" cy="0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2768" y="138722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29633" y="1423690"/>
            <a:ext cx="684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80718" y="1477714"/>
            <a:ext cx="13475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as PM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72768" y="1920627"/>
            <a:ext cx="2064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ABSTRACTION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72768" y="2139702"/>
            <a:ext cx="206439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writes specifications and evaluates outcomes. Code becomes a "black box."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72768" y="2809577"/>
            <a:ext cx="2064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ROLE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72768" y="3028652"/>
            <a:ext cx="206439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acceptance criteria, validate behavior, manage product vision.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72768" y="3517553"/>
            <a:ext cx="970211" cy="228600"/>
          </a:xfrm>
          <a:prstGeom prst="rect">
            <a:avLst/>
          </a:prstGeom>
          <a:solidFill>
            <a:srgbClr val="E0E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74269" y="3555653"/>
            <a:ext cx="7825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OWNS CODE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04483" y="1085701"/>
            <a:ext cx="2531566" cy="3803898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104483" y="1109514"/>
            <a:ext cx="2531566" cy="0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8384" y="138722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515249" y="1423690"/>
            <a:ext cx="684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66334" y="1477714"/>
            <a:ext cx="13755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Dark Factory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8384" y="1920627"/>
            <a:ext cx="2064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STATE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8384" y="2139702"/>
            <a:ext cx="206424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Lights-out software production. No human writes or reviews code.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8384" y="2628602"/>
            <a:ext cx="2064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ROLE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8384" y="2847677"/>
            <a:ext cx="20642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 in, software out. Humans define what, machines handle everything else.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58384" y="3517553"/>
            <a:ext cx="1286173" cy="228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459885" y="3555653"/>
            <a:ext cx="11048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AUTONOMOUS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0901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98400"/>
            <a:ext cx="895499" cy="234851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349151"/>
            <a:ext cx="6025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60649" y="253901"/>
            <a:ext cx="3974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the Dark Factory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780901"/>
            <a:ext cx="76200" cy="4362599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085701"/>
            <a:ext cx="3924300" cy="2795885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57213" y="1085701"/>
            <a:ext cx="0" cy="2795885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625" y="1314301"/>
            <a:ext cx="34878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vs. Tests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9625" y="1587252"/>
            <a:ext cx="3487865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tests live in the codebase. AI "teaches to the test" and games the results.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9625" y="2044154"/>
            <a:ext cx="3487865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External behavioral specs that live </a:t>
            </a:r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</a:t>
            </a:r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code so the AI cannot optimize around them.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11601" y="1085701"/>
            <a:ext cx="3924449" cy="2795885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35413" y="1085701"/>
            <a:ext cx="0" cy="2795885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7826" y="1314301"/>
            <a:ext cx="34880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Twin Universe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7826" y="1587252"/>
            <a:ext cx="348801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versions of external services (Okta, Jira, Slack) for autonomous agents to test against.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7826" y="2044154"/>
            <a:ext cx="348801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Benefit:</a:t>
            </a:r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Agents can run thousands of integration tests without touching real data or services.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3400" y="4084737"/>
            <a:ext cx="8102650" cy="804863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7301" y="4287887"/>
            <a:ext cx="611684" cy="398562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65002" y="4389388"/>
            <a:ext cx="26140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2135" y="4291608"/>
            <a:ext cx="422366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$1,000 Rule: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you haven't spent $1,000 per engineer per day</a:t>
            </a:r>
            <a:endParaRPr lang="en-US" sz="1100" dirty="0"/>
          </a:p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compute, your "factory" has room for improvement.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0901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98400"/>
            <a:ext cx="895499" cy="234851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349151"/>
            <a:ext cx="6025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60649" y="253901"/>
            <a:ext cx="462306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Structural Shift: People &amp; Org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780901"/>
            <a:ext cx="76200" cy="4362599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085701"/>
            <a:ext cx="8102650" cy="1110853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57213" y="1085701"/>
            <a:ext cx="0" cy="1110853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625" y="1314301"/>
            <a:ext cx="77497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DELETING FRICTION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9625" y="1587252"/>
            <a:ext cx="774978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Stand-ups, sprints, and Jira boards were built to manage human limitations. In a Dark Factory, these become friction points that slow down autonomous production.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3400" y="2399705"/>
            <a:ext cx="3924300" cy="1778943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3400" y="2423517"/>
            <a:ext cx="3924300" cy="0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2675930"/>
            <a:ext cx="353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Managers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2000" y="2898130"/>
            <a:ext cx="35364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ROLE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2000" y="3132981"/>
            <a:ext cx="3536442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coordination and status tracking to defining precise, unambiguous specifications that agents can execute against.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11601" y="2399705"/>
            <a:ext cx="3924449" cy="1778943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11601" y="2423517"/>
            <a:ext cx="3924449" cy="0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0201" y="2675930"/>
            <a:ext cx="35365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Managers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40201" y="2898130"/>
            <a:ext cx="35365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ROLE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40201" y="3132981"/>
            <a:ext cx="3536594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tracking dependencies and timelines to architecting the "spec pipeline" that feeds autonomous systems.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3400" y="4381798"/>
            <a:ext cx="8102650" cy="507802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7301" y="4559498"/>
            <a:ext cx="13926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BOTTLENECK: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55800" y="4559498"/>
            <a:ext cx="41960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speed is no longer the constraint. </a:t>
            </a:r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Quality</a:t>
            </a:r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0901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98400"/>
            <a:ext cx="895499" cy="234851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349151"/>
            <a:ext cx="6025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60649" y="253901"/>
            <a:ext cx="47499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Legacy (Brownfield) Challenge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780901"/>
            <a:ext cx="76200" cy="4362599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136452"/>
            <a:ext cx="8102650" cy="577751"/>
          </a:xfrm>
          <a:prstGeom prst="rect">
            <a:avLst/>
          </a:prstGeom>
          <a:solidFill>
            <a:srgbClr val="FEF9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57213" y="1136452"/>
            <a:ext cx="0" cy="577751"/>
          </a:xfrm>
          <a:prstGeom prst="line">
            <a:avLst/>
          </a:prstGeom>
          <a:noFill/>
          <a:ln w="47625">
            <a:solidFill>
              <a:srgbClr val="EAB3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4926" y="1339602"/>
            <a:ext cx="76981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13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"Dark Factory" a legacy system immediately.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3400" y="1968103"/>
            <a:ext cx="2531566" cy="463451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94532" y="2095054"/>
            <a:ext cx="6214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3400" y="2431554"/>
            <a:ext cx="2531566" cy="2407146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060204" y="2431554"/>
            <a:ext cx="0" cy="240714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3400" y="4833938"/>
            <a:ext cx="253156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8163" y="2431554"/>
            <a:ext cx="0" cy="240714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075" y="2634704"/>
            <a:ext cx="21483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Engineer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6075" y="2888605"/>
            <a:ext cx="21483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document what the existing system actually does, not what the docs say it does. Build ground truth.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8867" y="1968103"/>
            <a:ext cx="2531715" cy="463451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79999" y="2095054"/>
            <a:ext cx="6214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18867" y="2431554"/>
            <a:ext cx="2531715" cy="2407146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845820" y="2431554"/>
            <a:ext cx="0" cy="240714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8867" y="4833938"/>
            <a:ext cx="25317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23630" y="2431554"/>
            <a:ext cx="0" cy="240714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1543" y="2634704"/>
            <a:ext cx="2148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at Level 2/3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31543" y="2888605"/>
            <a:ext cx="214849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Level 2 and 3 practices to current features. AI implements under human oversight while learning the system.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04483" y="1968103"/>
            <a:ext cx="2531566" cy="463451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65615" y="2095054"/>
            <a:ext cx="6214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04483" y="2431554"/>
            <a:ext cx="2531566" cy="2407146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631287" y="2431554"/>
            <a:ext cx="0" cy="240714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04483" y="4833938"/>
            <a:ext cx="253156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09246" y="2431554"/>
            <a:ext cx="0" cy="240714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7159" y="2634704"/>
            <a:ext cx="21483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&amp; Redesign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17159" y="2888605"/>
            <a:ext cx="21483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specs from legacy code. Redesign CI/CD pipelines to handle AI-scale volume of changes.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0901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98400"/>
            <a:ext cx="895499" cy="234851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349151"/>
            <a:ext cx="6025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60649" y="253901"/>
            <a:ext cx="40390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"Better Engineer" of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780901"/>
            <a:ext cx="76200" cy="4362599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085701"/>
            <a:ext cx="3898850" cy="182121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7301" y="1339602"/>
            <a:ext cx="3458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36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HOLLOW MIDDLE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7301" y="1638002"/>
            <a:ext cx="3458870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bottom of the skill stack (routine tasks, boilerplate, implementation). Seniors handle the top (judgment, architecture, vision).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7301" y="2247007"/>
            <a:ext cx="3458870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traditional junior learning path is being hollowed out. Mid-level task execution is automated.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37050" y="1085701"/>
            <a:ext cx="3898999" cy="1166366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0863" y="1085701"/>
            <a:ext cx="0" cy="1166366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7826" y="1288852"/>
            <a:ext cx="337245" cy="282327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89327" y="1364903"/>
            <a:ext cx="1369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26571" y="1344216"/>
            <a:ext cx="13302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Thinking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7826" y="1647379"/>
            <a:ext cx="35139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where an architecture breaks under load. See the forest, not just the trees.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37050" y="2404467"/>
            <a:ext cx="3898999" cy="1166366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60863" y="2404467"/>
            <a:ext cx="0" cy="1166366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7826" y="2607618"/>
            <a:ext cx="337245" cy="282327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89327" y="2683669"/>
            <a:ext cx="1369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26571" y="2662982"/>
            <a:ext cx="863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7826" y="2966145"/>
            <a:ext cx="35139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 problem so clearly that a machine cannot guess wrong. Precision in specs is the new superpower.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37050" y="3723233"/>
            <a:ext cx="3898999" cy="1166366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60863" y="3723233"/>
            <a:ext cx="0" cy="1166366"/>
          </a:xfrm>
          <a:prstGeom prst="line">
            <a:avLst/>
          </a:prstGeom>
          <a:noFill/>
          <a:ln w="47625">
            <a:solidFill>
              <a:srgbClr val="136E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7826" y="3926384"/>
            <a:ext cx="337245" cy="282327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89327" y="4002435"/>
            <a:ext cx="1369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26571" y="3981748"/>
            <a:ext cx="13817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Intuition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7826" y="4284911"/>
            <a:ext cx="35139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"why" behind the "what." Empathy and product sense are irreplaceable.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1334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7285" y="1225451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0701" y="1133475"/>
            <a:ext cx="7202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 the workflow, don't bolt on 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0701" y="1358801"/>
            <a:ext cx="72025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J-Curve is real. Productivity drops before it skyrockets.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2000" y="167937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97285" y="1771352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0701" y="1679377"/>
            <a:ext cx="7202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level, plan your ascent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0701" y="1904702"/>
            <a:ext cx="72025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level requires different processes, not just better tools.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2000" y="222527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97285" y="231725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0701" y="2225278"/>
            <a:ext cx="7202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specs and digital twins are the foundation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0701" y="2450604"/>
            <a:ext cx="72025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trust AI with code review until you have bulletproof behavioral testing.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2000" y="277118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97285" y="286315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0701" y="2771180"/>
            <a:ext cx="7202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shifts from code to specs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0701" y="2996505"/>
            <a:ext cx="72025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competitive advantage is articulation and systems thinking.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2000" y="331708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36E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97285" y="340905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0701" y="3317081"/>
            <a:ext cx="7202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systems need a phased approach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0701" y="3542407"/>
            <a:ext cx="72025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engineer first, operate at Level 2/3, then redesign for autonomy.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44594" y="4619625"/>
            <a:ext cx="4461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Navigating the 5 Levels of AI Coding</dc:title>
  <dc:subject>PptxGenJS Presentation</dc:subject>
  <dc:creator>Shift4</dc:creator>
  <cp:lastModifiedBy>Shift4</cp:lastModifiedBy>
  <cp:revision>1</cp:revision>
  <dcterms:created xsi:type="dcterms:W3CDTF">2026-02-19T04:17:46Z</dcterms:created>
  <dcterms:modified xsi:type="dcterms:W3CDTF">2026-02-19T04:17:46Z</dcterms:modified>
</cp:coreProperties>
</file>