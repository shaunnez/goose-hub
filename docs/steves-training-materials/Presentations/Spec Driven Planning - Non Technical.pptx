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e7777f6e0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e7777f6e0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de7777f6e0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e7777f6e0_2_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de7777f6e0_2_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g3de7777f6e0_2_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e7777f6e0_2_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g3de7777f6e0_2_3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g3de7777f6e0_2_3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e7777f6e0_2_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de7777f6e0_2_6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de7777f6e0_2_6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e7777f6e0_2_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de7777f6e0_2_9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de7777f6e0_2_9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e7777f6e0_2_1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de7777f6e0_2_1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de7777f6e0_2_1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e7777f6e0_2_1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de7777f6e0_2_1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de7777f6e0_2_1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e7777f6e0_2_20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de7777f6e0_2_20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de7777f6e0_2_20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e7777f6e0_2_2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de7777f6e0_2_2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de7777f6e0_2_2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e7777f6e0_2_27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de7777f6e0_2_27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g3de7777f6e0_2_27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de7777f6e0_2_3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3de7777f6e0_2_30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de7777f6e0_2_30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e7777f6e0_2_3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de7777f6e0_2_34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g3de7777f6e0_2_34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e7777f6e0_2_3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de7777f6e0_2_3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3de7777f6e0_2_3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de7777f6e0_2_3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de7777f6e0_2_38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3de7777f6e0_2_38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56" name="Shape 56"/>
        <p:cNvGrpSpPr/>
        <p:nvPr/>
      </p:nvGrpSpPr>
      <p:grpSpPr>
        <a:xfrm>
          <a:off x="0" y="0"/>
          <a:ext cx="0" cy="0"/>
          <a:chOff x="0" y="0"/>
          <a:chExt cx="0" cy="0"/>
        </a:xfrm>
      </p:grpSpPr>
      <p:sp>
        <p:nvSpPr>
          <p:cNvPr id="57" name="Google Shape;57;p15"/>
          <p:cNvSpPr/>
          <p:nvPr/>
        </p:nvSpPr>
        <p:spPr>
          <a:xfrm>
            <a:off x="634901" y="1418332"/>
            <a:ext cx="1870174" cy="295275"/>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8" name="Google Shape;58;p15"/>
          <p:cNvSpPr/>
          <p:nvPr/>
        </p:nvSpPr>
        <p:spPr>
          <a:xfrm>
            <a:off x="838051" y="1494532"/>
            <a:ext cx="1493151"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0" i="0" lang="en" sz="1000" u="none" cap="none" strike="noStrike">
                <a:solidFill>
                  <a:srgbClr val="FFFFFF"/>
                </a:solidFill>
                <a:latin typeface="Arial"/>
                <a:ea typeface="Arial"/>
                <a:cs typeface="Arial"/>
                <a:sym typeface="Arial"/>
              </a:rPr>
              <a:t>FOR EVERYONE</a:t>
            </a:r>
            <a:endParaRPr b="0" i="0" sz="1000" u="none" cap="none" strike="noStrike">
              <a:solidFill>
                <a:schemeClr val="dk1"/>
              </a:solidFill>
              <a:latin typeface="Calibri"/>
              <a:ea typeface="Calibri"/>
              <a:cs typeface="Calibri"/>
              <a:sym typeface="Calibri"/>
            </a:endParaRPr>
          </a:p>
        </p:txBody>
      </p:sp>
      <p:sp>
        <p:nvSpPr>
          <p:cNvPr id="59" name="Google Shape;59;p15"/>
          <p:cNvSpPr/>
          <p:nvPr/>
        </p:nvSpPr>
        <p:spPr>
          <a:xfrm>
            <a:off x="634901" y="1916757"/>
            <a:ext cx="4274972" cy="10971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1DE"/>
              </a:buClr>
              <a:buSzPts val="3600"/>
              <a:buFont typeface="Georgia"/>
              <a:buNone/>
            </a:pPr>
            <a:r>
              <a:rPr b="1" i="0" lang="en" sz="3600" u="none" cap="none" strike="noStrike">
                <a:solidFill>
                  <a:srgbClr val="F4F1DE"/>
                </a:solidFill>
                <a:latin typeface="Georgia"/>
                <a:ea typeface="Georgia"/>
                <a:cs typeface="Georgia"/>
                <a:sym typeface="Georgia"/>
              </a:rPr>
              <a:t>The Power of Planning</a:t>
            </a:r>
            <a:endParaRPr b="0" i="0" sz="3600" u="none" cap="none" strike="noStrike">
              <a:solidFill>
                <a:schemeClr val="dk1"/>
              </a:solidFill>
              <a:latin typeface="Calibri"/>
              <a:ea typeface="Calibri"/>
              <a:cs typeface="Calibri"/>
              <a:sym typeface="Calibri"/>
            </a:endParaRPr>
          </a:p>
        </p:txBody>
      </p:sp>
      <p:sp>
        <p:nvSpPr>
          <p:cNvPr id="60" name="Google Shape;60;p15"/>
          <p:cNvSpPr/>
          <p:nvPr/>
        </p:nvSpPr>
        <p:spPr>
          <a:xfrm>
            <a:off x="634901" y="3191619"/>
            <a:ext cx="4274972" cy="533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AAAAAA"/>
              </a:buClr>
              <a:buSzPts val="1400"/>
              <a:buFont typeface="Arial"/>
              <a:buNone/>
            </a:pPr>
            <a:r>
              <a:rPr b="0" i="0" lang="en" sz="1400" u="none" cap="none" strike="noStrike">
                <a:solidFill>
                  <a:srgbClr val="AAAAAA"/>
                </a:solidFill>
                <a:latin typeface="Arial"/>
                <a:ea typeface="Arial"/>
                <a:cs typeface="Arial"/>
                <a:sym typeface="Arial"/>
              </a:rPr>
              <a:t>How to get proposals, reports, and projects right the first time — without the rework.</a:t>
            </a:r>
            <a:endParaRPr b="0" i="0" sz="1400" u="none" cap="none" strike="noStrike">
              <a:solidFill>
                <a:schemeClr val="dk1"/>
              </a:solidFill>
              <a:latin typeface="Calibri"/>
              <a:ea typeface="Calibri"/>
              <a:cs typeface="Calibri"/>
              <a:sym typeface="Calibri"/>
            </a:endParaRPr>
          </a:p>
        </p:txBody>
      </p:sp>
      <p:sp>
        <p:nvSpPr>
          <p:cNvPr id="61" name="Google Shape;61;p15"/>
          <p:cNvSpPr/>
          <p:nvPr/>
        </p:nvSpPr>
        <p:spPr>
          <a:xfrm>
            <a:off x="5334000" y="0"/>
            <a:ext cx="3810000" cy="5143500"/>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2" name="Google Shape;62;p15"/>
          <p:cNvSpPr/>
          <p:nvPr/>
        </p:nvSpPr>
        <p:spPr>
          <a:xfrm>
            <a:off x="5841950" y="3044875"/>
            <a:ext cx="2849981" cy="800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C2C2C"/>
              </a:buClr>
              <a:buSzPts val="1400"/>
              <a:buFont typeface="Georgia"/>
              <a:buNone/>
            </a:pPr>
            <a:r>
              <a:rPr b="0" i="1" lang="en" sz="1400" u="none" cap="none" strike="noStrike">
                <a:solidFill>
                  <a:srgbClr val="2C2C2C"/>
                </a:solidFill>
                <a:latin typeface="Georgia"/>
                <a:ea typeface="Georgia"/>
                <a:cs typeface="Georgia"/>
                <a:sym typeface="Georgia"/>
              </a:rPr>
              <a:t>"Give me six hours to chop down a tree and I will spend the first four sharpening the axe."</a:t>
            </a:r>
            <a:endParaRPr b="0" i="0" sz="1400" u="none" cap="none" strike="noStrike">
              <a:solidFill>
                <a:schemeClr val="dk1"/>
              </a:solidFill>
              <a:latin typeface="Calibri"/>
              <a:ea typeface="Calibri"/>
              <a:cs typeface="Calibri"/>
              <a:sym typeface="Calibri"/>
            </a:endParaRPr>
          </a:p>
        </p:txBody>
      </p:sp>
      <p:sp>
        <p:nvSpPr>
          <p:cNvPr id="63" name="Google Shape;63;p15"/>
          <p:cNvSpPr/>
          <p:nvPr/>
        </p:nvSpPr>
        <p:spPr>
          <a:xfrm>
            <a:off x="5841950" y="4225975"/>
            <a:ext cx="2849981"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300"/>
              <a:buFont typeface="Georgia"/>
              <a:buNone/>
            </a:pPr>
            <a:r>
              <a:rPr b="0" i="0" lang="en" sz="1300" u="none" cap="none" strike="noStrike">
                <a:solidFill>
                  <a:srgbClr val="F4F1DE"/>
                </a:solidFill>
                <a:latin typeface="Georgia"/>
                <a:ea typeface="Georgia"/>
                <a:cs typeface="Georgia"/>
                <a:sym typeface="Georgia"/>
              </a:rPr>
              <a:t>Steve Driggs</a:t>
            </a:r>
            <a:endParaRPr b="0" i="0" sz="1300" u="none" cap="none" strike="noStrike">
              <a:solidFill>
                <a:schemeClr val="dk1"/>
              </a:solidFill>
              <a:latin typeface="Calibri"/>
              <a:ea typeface="Calibri"/>
              <a:cs typeface="Calibri"/>
              <a:sym typeface="Calibri"/>
            </a:endParaRPr>
          </a:p>
        </p:txBody>
      </p:sp>
      <p:sp>
        <p:nvSpPr>
          <p:cNvPr id="64" name="Google Shape;64;p15"/>
          <p:cNvSpPr/>
          <p:nvPr/>
        </p:nvSpPr>
        <p:spPr>
          <a:xfrm>
            <a:off x="5841950" y="4492675"/>
            <a:ext cx="2849981"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0" i="0" lang="en" sz="1000" u="none" cap="none" strike="noStrike">
                <a:solidFill>
                  <a:srgbClr val="F4F1DE"/>
                </a:solidFill>
                <a:latin typeface="Arial"/>
                <a:ea typeface="Arial"/>
                <a:cs typeface="Arial"/>
                <a:sym typeface="Arial"/>
              </a:rPr>
              <a:t>Spec-Driven Planning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69" name="Shape 69"/>
        <p:cNvGrpSpPr/>
        <p:nvPr/>
      </p:nvGrpSpPr>
      <p:grpSpPr>
        <a:xfrm>
          <a:off x="0" y="0"/>
          <a:ext cx="0" cy="0"/>
          <a:chOff x="0" y="0"/>
          <a:chExt cx="0" cy="0"/>
        </a:xfrm>
      </p:grpSpPr>
      <p:sp>
        <p:nvSpPr>
          <p:cNvPr id="70" name="Google Shape;70;p16"/>
          <p:cNvSpPr/>
          <p:nvPr/>
        </p:nvSpPr>
        <p:spPr>
          <a:xfrm>
            <a:off x="558701" y="507950"/>
            <a:ext cx="762000" cy="111026"/>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1" name="Google Shape;71;p16"/>
          <p:cNvSpPr/>
          <p:nvPr/>
        </p:nvSpPr>
        <p:spPr>
          <a:xfrm>
            <a:off x="558701" y="558701"/>
            <a:ext cx="777240"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72" name="Google Shape;72;p16"/>
          <p:cNvSpPr/>
          <p:nvPr/>
        </p:nvSpPr>
        <p:spPr>
          <a:xfrm>
            <a:off x="558701" y="745927"/>
            <a:ext cx="818713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600"/>
              <a:buFont typeface="Georgia"/>
              <a:buNone/>
            </a:pPr>
            <a:r>
              <a:rPr b="1" i="0" lang="en" sz="2600" u="none" cap="none" strike="noStrike">
                <a:solidFill>
                  <a:srgbClr val="2C2C2C"/>
                </a:solidFill>
                <a:latin typeface="Georgia"/>
                <a:ea typeface="Georgia"/>
                <a:cs typeface="Georgia"/>
                <a:sym typeface="Georgia"/>
              </a:rPr>
              <a:t>Why Work Gets Redone</a:t>
            </a:r>
            <a:endParaRPr b="0" i="0" sz="2600" u="none" cap="none" strike="noStrike">
              <a:solidFill>
                <a:schemeClr val="dk1"/>
              </a:solidFill>
              <a:latin typeface="Calibri"/>
              <a:ea typeface="Calibri"/>
              <a:cs typeface="Calibri"/>
              <a:sym typeface="Calibri"/>
            </a:endParaRPr>
          </a:p>
        </p:txBody>
      </p:sp>
      <p:sp>
        <p:nvSpPr>
          <p:cNvPr id="73" name="Google Shape;73;p16"/>
          <p:cNvSpPr/>
          <p:nvPr/>
        </p:nvSpPr>
        <p:spPr>
          <a:xfrm>
            <a:off x="558701" y="1203127"/>
            <a:ext cx="818713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66666"/>
              </a:buClr>
              <a:buSzPts val="1200"/>
              <a:buFont typeface="Arial"/>
              <a:buNone/>
            </a:pPr>
            <a:r>
              <a:rPr b="0" i="0" lang="en" sz="1200" u="none" cap="none" strike="noStrike">
                <a:solidFill>
                  <a:srgbClr val="666666"/>
                </a:solidFill>
                <a:latin typeface="Arial"/>
                <a:ea typeface="Arial"/>
                <a:cs typeface="Arial"/>
                <a:sym typeface="Arial"/>
              </a:rPr>
              <a:t>Whether it's a proposal, a quarterly report, or a team initiative — the same patterns cause wasted effort.</a:t>
            </a:r>
            <a:endParaRPr b="0" i="0" sz="1200" u="none" cap="none" strike="noStrike">
              <a:solidFill>
                <a:schemeClr val="dk1"/>
              </a:solidFill>
              <a:latin typeface="Calibri"/>
              <a:ea typeface="Calibri"/>
              <a:cs typeface="Calibri"/>
              <a:sym typeface="Calibri"/>
            </a:endParaRPr>
          </a:p>
        </p:txBody>
      </p:sp>
      <p:sp>
        <p:nvSpPr>
          <p:cNvPr id="74" name="Google Shape;74;p16"/>
          <p:cNvSpPr/>
          <p:nvPr/>
        </p:nvSpPr>
        <p:spPr>
          <a:xfrm>
            <a:off x="558701" y="1695748"/>
            <a:ext cx="2523083" cy="2939802"/>
          </a:xfrm>
          <a:prstGeom prst="roundRect">
            <a:avLst>
              <a:gd fmla="val 302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75" name="Google Shape;75;p16"/>
          <p:cNvCxnSpPr/>
          <p:nvPr/>
        </p:nvCxnSpPr>
        <p:spPr>
          <a:xfrm>
            <a:off x="587276" y="1695748"/>
            <a:ext cx="0" cy="2939802"/>
          </a:xfrm>
          <a:prstGeom prst="straightConnector1">
            <a:avLst/>
          </a:prstGeom>
          <a:noFill/>
          <a:ln cap="flat" cmpd="sng" w="57150">
            <a:solidFill>
              <a:srgbClr val="E07A5F"/>
            </a:solidFill>
            <a:prstDash val="solid"/>
            <a:round/>
            <a:headEnd len="sm" w="sm" type="none"/>
            <a:tailEnd len="sm" w="sm" type="none"/>
          </a:ln>
        </p:spPr>
      </p:cxnSp>
      <p:sp>
        <p:nvSpPr>
          <p:cNvPr id="76" name="Google Shape;76;p16"/>
          <p:cNvSpPr/>
          <p:nvPr/>
        </p:nvSpPr>
        <p:spPr>
          <a:xfrm>
            <a:off x="844451" y="1924348"/>
            <a:ext cx="2048908"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 sz="2800" u="none" cap="none" strike="noStrike">
                <a:solidFill>
                  <a:srgbClr val="E07A5F"/>
                </a:solidFill>
                <a:latin typeface="Georgia"/>
                <a:ea typeface="Georgia"/>
                <a:cs typeface="Georgia"/>
                <a:sym typeface="Georgia"/>
              </a:rPr>
              <a:t>01</a:t>
            </a:r>
            <a:endParaRPr b="0" i="0" sz="2800" u="none" cap="none" strike="noStrike">
              <a:solidFill>
                <a:schemeClr val="dk1"/>
              </a:solidFill>
              <a:latin typeface="Calibri"/>
              <a:ea typeface="Calibri"/>
              <a:cs typeface="Calibri"/>
              <a:sym typeface="Calibri"/>
            </a:endParaRPr>
          </a:p>
        </p:txBody>
      </p:sp>
      <p:sp>
        <p:nvSpPr>
          <p:cNvPr id="77" name="Google Shape;77;p16"/>
          <p:cNvSpPr/>
          <p:nvPr/>
        </p:nvSpPr>
        <p:spPr>
          <a:xfrm>
            <a:off x="844451" y="2400598"/>
            <a:ext cx="2048908"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200"/>
              <a:buFont typeface="Arial"/>
              <a:buNone/>
            </a:pPr>
            <a:r>
              <a:rPr b="1" i="0" lang="en" sz="1200" u="none" cap="none" strike="noStrike">
                <a:solidFill>
                  <a:srgbClr val="2C2C2C"/>
                </a:solidFill>
                <a:latin typeface="Arial"/>
                <a:ea typeface="Arial"/>
                <a:cs typeface="Arial"/>
                <a:sym typeface="Arial"/>
              </a:rPr>
              <a:t>Built on Assumptions</a:t>
            </a:r>
            <a:endParaRPr b="0" i="0" sz="1200" u="none" cap="none" strike="noStrike">
              <a:solidFill>
                <a:schemeClr val="dk1"/>
              </a:solidFill>
              <a:latin typeface="Calibri"/>
              <a:ea typeface="Calibri"/>
              <a:cs typeface="Calibri"/>
              <a:sym typeface="Calibri"/>
            </a:endParaRPr>
          </a:p>
        </p:txBody>
      </p:sp>
      <p:sp>
        <p:nvSpPr>
          <p:cNvPr id="78" name="Google Shape;78;p16"/>
          <p:cNvSpPr/>
          <p:nvPr/>
        </p:nvSpPr>
        <p:spPr>
          <a:xfrm>
            <a:off x="844451" y="2648248"/>
            <a:ext cx="2048908" cy="95175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55555"/>
              </a:buClr>
              <a:buSzPts val="1000"/>
              <a:buFont typeface="Arial"/>
              <a:buNone/>
            </a:pPr>
            <a:r>
              <a:rPr b="0" i="0" lang="en" sz="1000" u="none" cap="none" strike="noStrike">
                <a:solidFill>
                  <a:srgbClr val="555555"/>
                </a:solidFill>
                <a:latin typeface="Arial"/>
                <a:ea typeface="Arial"/>
                <a:cs typeface="Arial"/>
                <a:sym typeface="Arial"/>
              </a:rPr>
              <a:t>You draft the proposal based on what you think the client wants — without re-reading their actual brief. Two rounds of revisions later, you're starting over.</a:t>
            </a:r>
            <a:endParaRPr b="0" i="0" sz="1000" u="none" cap="none" strike="noStrike">
              <a:solidFill>
                <a:schemeClr val="dk1"/>
              </a:solidFill>
              <a:latin typeface="Calibri"/>
              <a:ea typeface="Calibri"/>
              <a:cs typeface="Calibri"/>
              <a:sym typeface="Calibri"/>
            </a:endParaRPr>
          </a:p>
        </p:txBody>
      </p:sp>
      <p:sp>
        <p:nvSpPr>
          <p:cNvPr id="79" name="Google Shape;79;p16"/>
          <p:cNvSpPr/>
          <p:nvPr/>
        </p:nvSpPr>
        <p:spPr>
          <a:xfrm>
            <a:off x="3310384" y="1695748"/>
            <a:ext cx="2523232" cy="2939802"/>
          </a:xfrm>
          <a:prstGeom prst="roundRect">
            <a:avLst>
              <a:gd fmla="val 302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80" name="Google Shape;80;p16"/>
          <p:cNvCxnSpPr/>
          <p:nvPr/>
        </p:nvCxnSpPr>
        <p:spPr>
          <a:xfrm>
            <a:off x="3338959" y="1695748"/>
            <a:ext cx="0" cy="2939802"/>
          </a:xfrm>
          <a:prstGeom prst="straightConnector1">
            <a:avLst/>
          </a:prstGeom>
          <a:noFill/>
          <a:ln cap="flat" cmpd="sng" w="57150">
            <a:solidFill>
              <a:srgbClr val="E07A5F"/>
            </a:solidFill>
            <a:prstDash val="solid"/>
            <a:round/>
            <a:headEnd len="sm" w="sm" type="none"/>
            <a:tailEnd len="sm" w="sm" type="none"/>
          </a:ln>
        </p:spPr>
      </p:cxnSp>
      <p:sp>
        <p:nvSpPr>
          <p:cNvPr id="81" name="Google Shape;81;p16"/>
          <p:cNvSpPr/>
          <p:nvPr/>
        </p:nvSpPr>
        <p:spPr>
          <a:xfrm>
            <a:off x="3596134" y="1924348"/>
            <a:ext cx="204906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 sz="2800" u="none" cap="none" strike="noStrike">
                <a:solidFill>
                  <a:srgbClr val="E07A5F"/>
                </a:solidFill>
                <a:latin typeface="Georgia"/>
                <a:ea typeface="Georgia"/>
                <a:cs typeface="Georgia"/>
                <a:sym typeface="Georgia"/>
              </a:rPr>
              <a:t>02</a:t>
            </a:r>
            <a:endParaRPr b="0" i="0" sz="2800" u="none" cap="none" strike="noStrike">
              <a:solidFill>
                <a:schemeClr val="dk1"/>
              </a:solidFill>
              <a:latin typeface="Calibri"/>
              <a:ea typeface="Calibri"/>
              <a:cs typeface="Calibri"/>
              <a:sym typeface="Calibri"/>
            </a:endParaRPr>
          </a:p>
        </p:txBody>
      </p:sp>
      <p:sp>
        <p:nvSpPr>
          <p:cNvPr id="82" name="Google Shape;82;p16"/>
          <p:cNvSpPr/>
          <p:nvPr/>
        </p:nvSpPr>
        <p:spPr>
          <a:xfrm>
            <a:off x="3596134" y="2400598"/>
            <a:ext cx="204906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200"/>
              <a:buFont typeface="Arial"/>
              <a:buNone/>
            </a:pPr>
            <a:r>
              <a:rPr b="1" i="0" lang="en" sz="1200" u="none" cap="none" strike="noStrike">
                <a:solidFill>
                  <a:srgbClr val="2C2C2C"/>
                </a:solidFill>
                <a:latin typeface="Arial"/>
                <a:ea typeface="Arial"/>
                <a:cs typeface="Arial"/>
                <a:sym typeface="Arial"/>
              </a:rPr>
              <a:t>Fuzzy Finish Line</a:t>
            </a:r>
            <a:endParaRPr b="0" i="0" sz="1200" u="none" cap="none" strike="noStrike">
              <a:solidFill>
                <a:schemeClr val="dk1"/>
              </a:solidFill>
              <a:latin typeface="Calibri"/>
              <a:ea typeface="Calibri"/>
              <a:cs typeface="Calibri"/>
              <a:sym typeface="Calibri"/>
            </a:endParaRPr>
          </a:p>
        </p:txBody>
      </p:sp>
      <p:sp>
        <p:nvSpPr>
          <p:cNvPr id="83" name="Google Shape;83;p16"/>
          <p:cNvSpPr/>
          <p:nvPr/>
        </p:nvSpPr>
        <p:spPr>
          <a:xfrm>
            <a:off x="3596134" y="2648248"/>
            <a:ext cx="2049060" cy="76140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55555"/>
              </a:buClr>
              <a:buSzPts val="1000"/>
              <a:buFont typeface="Arial"/>
              <a:buNone/>
            </a:pPr>
            <a:r>
              <a:rPr b="0" i="0" lang="en" sz="1000" u="none" cap="none" strike="noStrike">
                <a:solidFill>
                  <a:srgbClr val="555555"/>
                </a:solidFill>
                <a:latin typeface="Arial"/>
                <a:ea typeface="Arial"/>
                <a:cs typeface="Arial"/>
                <a:sym typeface="Arial"/>
              </a:rPr>
              <a:t>"Make it compelling." "Clean it up." Everyone in the review has a different idea of what "done" means, so the draft keeps circling.</a:t>
            </a:r>
            <a:endParaRPr b="0" i="0" sz="1000" u="none" cap="none" strike="noStrike">
              <a:solidFill>
                <a:schemeClr val="dk1"/>
              </a:solidFill>
              <a:latin typeface="Calibri"/>
              <a:ea typeface="Calibri"/>
              <a:cs typeface="Calibri"/>
              <a:sym typeface="Calibri"/>
            </a:endParaRPr>
          </a:p>
        </p:txBody>
      </p:sp>
      <p:sp>
        <p:nvSpPr>
          <p:cNvPr id="84" name="Google Shape;84;p16"/>
          <p:cNvSpPr/>
          <p:nvPr/>
        </p:nvSpPr>
        <p:spPr>
          <a:xfrm>
            <a:off x="6062216" y="1695748"/>
            <a:ext cx="2523083" cy="2939802"/>
          </a:xfrm>
          <a:prstGeom prst="roundRect">
            <a:avLst>
              <a:gd fmla="val 302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85" name="Google Shape;85;p16"/>
          <p:cNvCxnSpPr/>
          <p:nvPr/>
        </p:nvCxnSpPr>
        <p:spPr>
          <a:xfrm>
            <a:off x="6090791" y="1695748"/>
            <a:ext cx="0" cy="2939802"/>
          </a:xfrm>
          <a:prstGeom prst="straightConnector1">
            <a:avLst/>
          </a:prstGeom>
          <a:noFill/>
          <a:ln cap="flat" cmpd="sng" w="57150">
            <a:solidFill>
              <a:srgbClr val="E07A5F"/>
            </a:solidFill>
            <a:prstDash val="solid"/>
            <a:round/>
            <a:headEnd len="sm" w="sm" type="none"/>
            <a:tailEnd len="sm" w="sm" type="none"/>
          </a:ln>
        </p:spPr>
      </p:cxnSp>
      <p:sp>
        <p:nvSpPr>
          <p:cNvPr id="86" name="Google Shape;86;p16"/>
          <p:cNvSpPr/>
          <p:nvPr/>
        </p:nvSpPr>
        <p:spPr>
          <a:xfrm>
            <a:off x="6347966" y="1924348"/>
            <a:ext cx="2048908"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 sz="2800" u="none" cap="none" strike="noStrike">
                <a:solidFill>
                  <a:srgbClr val="E07A5F"/>
                </a:solidFill>
                <a:latin typeface="Georgia"/>
                <a:ea typeface="Georgia"/>
                <a:cs typeface="Georgia"/>
                <a:sym typeface="Georgia"/>
              </a:rPr>
              <a:t>03</a:t>
            </a:r>
            <a:endParaRPr b="0" i="0" sz="2800" u="none" cap="none" strike="noStrike">
              <a:solidFill>
                <a:schemeClr val="dk1"/>
              </a:solidFill>
              <a:latin typeface="Calibri"/>
              <a:ea typeface="Calibri"/>
              <a:cs typeface="Calibri"/>
              <a:sym typeface="Calibri"/>
            </a:endParaRPr>
          </a:p>
        </p:txBody>
      </p:sp>
      <p:sp>
        <p:nvSpPr>
          <p:cNvPr id="87" name="Google Shape;87;p16"/>
          <p:cNvSpPr/>
          <p:nvPr/>
        </p:nvSpPr>
        <p:spPr>
          <a:xfrm>
            <a:off x="6347966" y="2400598"/>
            <a:ext cx="2048908"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200"/>
              <a:buFont typeface="Arial"/>
              <a:buNone/>
            </a:pPr>
            <a:r>
              <a:rPr b="1" i="0" lang="en" sz="1200" u="none" cap="none" strike="noStrike">
                <a:solidFill>
                  <a:srgbClr val="2C2C2C"/>
                </a:solidFill>
                <a:latin typeface="Arial"/>
                <a:ea typeface="Arial"/>
                <a:cs typeface="Arial"/>
                <a:sym typeface="Arial"/>
              </a:rPr>
              <a:t>Feedback Too Late</a:t>
            </a:r>
            <a:endParaRPr b="0" i="0" sz="1200" u="none" cap="none" strike="noStrike">
              <a:solidFill>
                <a:schemeClr val="dk1"/>
              </a:solidFill>
              <a:latin typeface="Calibri"/>
              <a:ea typeface="Calibri"/>
              <a:cs typeface="Calibri"/>
              <a:sym typeface="Calibri"/>
            </a:endParaRPr>
          </a:p>
        </p:txBody>
      </p:sp>
      <p:sp>
        <p:nvSpPr>
          <p:cNvPr id="88" name="Google Shape;88;p16"/>
          <p:cNvSpPr/>
          <p:nvPr/>
        </p:nvSpPr>
        <p:spPr>
          <a:xfrm>
            <a:off x="6347966" y="2648248"/>
            <a:ext cx="2048908" cy="114210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555555"/>
              </a:buClr>
              <a:buSzPts val="1000"/>
              <a:buFont typeface="Arial"/>
              <a:buNone/>
            </a:pPr>
            <a:r>
              <a:rPr b="0" i="0" lang="en" sz="1000" u="none" cap="none" strike="noStrike">
                <a:solidFill>
                  <a:srgbClr val="555555"/>
                </a:solidFill>
                <a:latin typeface="Arial"/>
                <a:ea typeface="Arial"/>
                <a:cs typeface="Arial"/>
                <a:sym typeface="Arial"/>
              </a:rPr>
              <a:t>You spend a week writing the report, then your manager says the whole framing is wrong. If you'd aligned on the outline first, it would've been a 10-minute conversation.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93" name="Shape 93"/>
        <p:cNvGrpSpPr/>
        <p:nvPr/>
      </p:nvGrpSpPr>
      <p:grpSpPr>
        <a:xfrm>
          <a:off x="0" y="0"/>
          <a:ext cx="0" cy="0"/>
          <a:chOff x="0" y="0"/>
          <a:chExt cx="0" cy="0"/>
        </a:xfrm>
      </p:grpSpPr>
      <p:sp>
        <p:nvSpPr>
          <p:cNvPr id="94" name="Google Shape;94;p17"/>
          <p:cNvSpPr/>
          <p:nvPr/>
        </p:nvSpPr>
        <p:spPr>
          <a:xfrm>
            <a:off x="558701" y="507950"/>
            <a:ext cx="762000" cy="111026"/>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95" name="Google Shape;95;p17"/>
          <p:cNvSpPr/>
          <p:nvPr/>
        </p:nvSpPr>
        <p:spPr>
          <a:xfrm>
            <a:off x="558701" y="558701"/>
            <a:ext cx="777240"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96" name="Google Shape;96;p17"/>
          <p:cNvSpPr/>
          <p:nvPr/>
        </p:nvSpPr>
        <p:spPr>
          <a:xfrm>
            <a:off x="558701" y="745927"/>
            <a:ext cx="818713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600"/>
              <a:buFont typeface="Georgia"/>
              <a:buNone/>
            </a:pPr>
            <a:r>
              <a:rPr b="1" i="0" lang="en" sz="2600" u="none" cap="none" strike="noStrike">
                <a:solidFill>
                  <a:srgbClr val="F4F1DE"/>
                </a:solidFill>
                <a:latin typeface="Georgia"/>
                <a:ea typeface="Georgia"/>
                <a:cs typeface="Georgia"/>
                <a:sym typeface="Georgia"/>
              </a:rPr>
              <a:t>The Cost of Skipping the Plan</a:t>
            </a:r>
            <a:endParaRPr b="0" i="0" sz="2600" u="none" cap="none" strike="noStrike">
              <a:solidFill>
                <a:schemeClr val="dk1"/>
              </a:solidFill>
              <a:latin typeface="Calibri"/>
              <a:ea typeface="Calibri"/>
              <a:cs typeface="Calibri"/>
              <a:sym typeface="Calibri"/>
            </a:endParaRPr>
          </a:p>
        </p:txBody>
      </p:sp>
      <p:sp>
        <p:nvSpPr>
          <p:cNvPr id="97" name="Google Shape;97;p17"/>
          <p:cNvSpPr/>
          <p:nvPr/>
        </p:nvSpPr>
        <p:spPr>
          <a:xfrm>
            <a:off x="558701" y="1203127"/>
            <a:ext cx="818713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1200"/>
              <a:buFont typeface="Arial"/>
              <a:buNone/>
            </a:pPr>
            <a:r>
              <a:rPr b="0" i="0" lang="en" sz="1200" u="none" cap="none" strike="noStrike">
                <a:solidFill>
                  <a:srgbClr val="AAAAAA"/>
                </a:solidFill>
                <a:latin typeface="Arial"/>
                <a:ea typeface="Arial"/>
                <a:cs typeface="Arial"/>
                <a:sym typeface="Arial"/>
              </a:rPr>
              <a:t>Mistakes get more expensive the later you catch them.</a:t>
            </a:r>
            <a:endParaRPr b="0" i="0" sz="1200" u="none" cap="none" strike="noStrike">
              <a:solidFill>
                <a:schemeClr val="dk1"/>
              </a:solidFill>
              <a:latin typeface="Calibri"/>
              <a:ea typeface="Calibri"/>
              <a:cs typeface="Calibri"/>
              <a:sym typeface="Calibri"/>
            </a:endParaRPr>
          </a:p>
        </p:txBody>
      </p:sp>
      <p:sp>
        <p:nvSpPr>
          <p:cNvPr id="98" name="Google Shape;98;p17"/>
          <p:cNvSpPr/>
          <p:nvPr/>
        </p:nvSpPr>
        <p:spPr>
          <a:xfrm>
            <a:off x="558701" y="1700510"/>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99" name="Google Shape;99;p17"/>
          <p:cNvSpPr/>
          <p:nvPr/>
        </p:nvSpPr>
        <p:spPr>
          <a:xfrm>
            <a:off x="723702" y="1802011"/>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In the Outline</a:t>
            </a:r>
            <a:endParaRPr b="0" i="0" sz="1000" u="none" cap="none" strike="noStrike">
              <a:solidFill>
                <a:schemeClr val="dk1"/>
              </a:solidFill>
              <a:latin typeface="Calibri"/>
              <a:ea typeface="Calibri"/>
              <a:cs typeface="Calibri"/>
              <a:sym typeface="Calibri"/>
            </a:endParaRPr>
          </a:p>
        </p:txBody>
      </p:sp>
      <p:sp>
        <p:nvSpPr>
          <p:cNvPr id="100" name="Google Shape;100;p17"/>
          <p:cNvSpPr/>
          <p:nvPr/>
        </p:nvSpPr>
        <p:spPr>
          <a:xfrm>
            <a:off x="2361754" y="1695748"/>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 sz="1000" u="none" cap="none" strike="noStrike">
                <a:solidFill>
                  <a:srgbClr val="CCCCCC"/>
                </a:solidFill>
                <a:latin typeface="Arial"/>
                <a:ea typeface="Arial"/>
                <a:cs typeface="Arial"/>
                <a:sym typeface="Arial"/>
              </a:rPr>
              <a:t>10 minutes. "Move section 3 before section 2."</a:t>
            </a:r>
            <a:endParaRPr b="0" i="0" sz="1000" u="none" cap="none" strike="noStrike">
              <a:solidFill>
                <a:schemeClr val="dk1"/>
              </a:solidFill>
              <a:latin typeface="Calibri"/>
              <a:ea typeface="Calibri"/>
              <a:cs typeface="Calibri"/>
              <a:sym typeface="Calibri"/>
            </a:endParaRPr>
          </a:p>
        </p:txBody>
      </p:sp>
      <p:sp>
        <p:nvSpPr>
          <p:cNvPr id="101" name="Google Shape;101;p17"/>
          <p:cNvSpPr/>
          <p:nvPr/>
        </p:nvSpPr>
        <p:spPr>
          <a:xfrm>
            <a:off x="558701" y="2208312"/>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2" name="Google Shape;102;p17"/>
          <p:cNvSpPr/>
          <p:nvPr/>
        </p:nvSpPr>
        <p:spPr>
          <a:xfrm>
            <a:off x="723702" y="2309813"/>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In the Draft</a:t>
            </a:r>
            <a:endParaRPr b="0" i="0" sz="1000" u="none" cap="none" strike="noStrike">
              <a:solidFill>
                <a:schemeClr val="dk1"/>
              </a:solidFill>
              <a:latin typeface="Calibri"/>
              <a:ea typeface="Calibri"/>
              <a:cs typeface="Calibri"/>
              <a:sym typeface="Calibri"/>
            </a:endParaRPr>
          </a:p>
        </p:txBody>
      </p:sp>
      <p:sp>
        <p:nvSpPr>
          <p:cNvPr id="103" name="Google Shape;103;p17"/>
          <p:cNvSpPr/>
          <p:nvPr/>
        </p:nvSpPr>
        <p:spPr>
          <a:xfrm>
            <a:off x="2361754" y="2203549"/>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 sz="1000" u="none" cap="none" strike="noStrike">
                <a:solidFill>
                  <a:srgbClr val="CCCCCC"/>
                </a:solidFill>
                <a:latin typeface="Arial"/>
                <a:ea typeface="Arial"/>
                <a:cs typeface="Arial"/>
                <a:sym typeface="Arial"/>
              </a:rPr>
              <a:t>Half a day. Rewrite three pages and redo the analysis.</a:t>
            </a:r>
            <a:endParaRPr b="0" i="0" sz="1000" u="none" cap="none" strike="noStrike">
              <a:solidFill>
                <a:schemeClr val="dk1"/>
              </a:solidFill>
              <a:latin typeface="Calibri"/>
              <a:ea typeface="Calibri"/>
              <a:cs typeface="Calibri"/>
              <a:sym typeface="Calibri"/>
            </a:endParaRPr>
          </a:p>
        </p:txBody>
      </p:sp>
      <p:sp>
        <p:nvSpPr>
          <p:cNvPr id="104" name="Google Shape;104;p17"/>
          <p:cNvSpPr/>
          <p:nvPr/>
        </p:nvSpPr>
        <p:spPr>
          <a:xfrm>
            <a:off x="558701" y="2716113"/>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5" name="Google Shape;105;p17"/>
          <p:cNvSpPr/>
          <p:nvPr/>
        </p:nvSpPr>
        <p:spPr>
          <a:xfrm>
            <a:off x="723702" y="2817614"/>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After Delivery</a:t>
            </a:r>
            <a:endParaRPr b="0" i="0" sz="1000" u="none" cap="none" strike="noStrike">
              <a:solidFill>
                <a:schemeClr val="dk1"/>
              </a:solidFill>
              <a:latin typeface="Calibri"/>
              <a:ea typeface="Calibri"/>
              <a:cs typeface="Calibri"/>
              <a:sym typeface="Calibri"/>
            </a:endParaRPr>
          </a:p>
        </p:txBody>
      </p:sp>
      <p:sp>
        <p:nvSpPr>
          <p:cNvPr id="106" name="Google Shape;106;p17"/>
          <p:cNvSpPr/>
          <p:nvPr/>
        </p:nvSpPr>
        <p:spPr>
          <a:xfrm>
            <a:off x="2361754" y="2711351"/>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 sz="1000" u="none" cap="none" strike="noStrike">
                <a:solidFill>
                  <a:srgbClr val="CCCCCC"/>
                </a:solidFill>
                <a:latin typeface="Arial"/>
                <a:ea typeface="Arial"/>
                <a:cs typeface="Arial"/>
                <a:sym typeface="Arial"/>
              </a:rPr>
              <a:t>A week. Plus the credibility hit with the audience.</a:t>
            </a:r>
            <a:endParaRPr b="0" i="0" sz="1000" u="none" cap="none" strike="noStrike">
              <a:solidFill>
                <a:schemeClr val="dk1"/>
              </a:solidFill>
              <a:latin typeface="Calibri"/>
              <a:ea typeface="Calibri"/>
              <a:cs typeface="Calibri"/>
              <a:sym typeface="Calibri"/>
            </a:endParaRPr>
          </a:p>
        </p:txBody>
      </p:sp>
      <p:sp>
        <p:nvSpPr>
          <p:cNvPr id="107" name="Google Shape;107;p17"/>
          <p:cNvSpPr/>
          <p:nvPr/>
        </p:nvSpPr>
        <p:spPr>
          <a:xfrm>
            <a:off x="558701" y="3223915"/>
            <a:ext cx="1625352" cy="345877"/>
          </a:xfrm>
          <a:prstGeom prst="roundRect">
            <a:avLst>
              <a:gd fmla="val 14687"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8" name="Google Shape;108;p17"/>
          <p:cNvSpPr/>
          <p:nvPr/>
        </p:nvSpPr>
        <p:spPr>
          <a:xfrm>
            <a:off x="723702" y="3325416"/>
            <a:ext cx="1295349"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Scope Creep</a:t>
            </a:r>
            <a:endParaRPr b="0" i="0" sz="1000" u="none" cap="none" strike="noStrike">
              <a:solidFill>
                <a:schemeClr val="dk1"/>
              </a:solidFill>
              <a:latin typeface="Calibri"/>
              <a:ea typeface="Calibri"/>
              <a:cs typeface="Calibri"/>
              <a:sym typeface="Calibri"/>
            </a:endParaRPr>
          </a:p>
        </p:txBody>
      </p:sp>
      <p:sp>
        <p:nvSpPr>
          <p:cNvPr id="109" name="Google Shape;109;p17"/>
          <p:cNvSpPr/>
          <p:nvPr/>
        </p:nvSpPr>
        <p:spPr>
          <a:xfrm>
            <a:off x="2361754" y="3219152"/>
            <a:ext cx="1840025" cy="355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CCCCC"/>
              </a:buClr>
              <a:buSzPts val="1000"/>
              <a:buFont typeface="Arial"/>
              <a:buNone/>
            </a:pPr>
            <a:r>
              <a:rPr b="0" i="0" lang="en" sz="1000" u="none" cap="none" strike="noStrike">
                <a:solidFill>
                  <a:srgbClr val="CCCCCC"/>
                </a:solidFill>
                <a:latin typeface="Arial"/>
                <a:ea typeface="Arial"/>
                <a:cs typeface="Arial"/>
                <a:sym typeface="Arial"/>
              </a:rPr>
              <a:t>Without clear goals, "one more thing" never stops.</a:t>
            </a:r>
            <a:endParaRPr b="0" i="0" sz="1000" u="none" cap="none" strike="noStrike">
              <a:solidFill>
                <a:schemeClr val="dk1"/>
              </a:solidFill>
              <a:latin typeface="Calibri"/>
              <a:ea typeface="Calibri"/>
              <a:cs typeface="Calibri"/>
              <a:sym typeface="Calibri"/>
            </a:endParaRPr>
          </a:p>
        </p:txBody>
      </p:sp>
      <p:sp>
        <p:nvSpPr>
          <p:cNvPr id="110" name="Google Shape;110;p17"/>
          <p:cNvSpPr/>
          <p:nvPr/>
        </p:nvSpPr>
        <p:spPr>
          <a:xfrm>
            <a:off x="4419600" y="1695748"/>
            <a:ext cx="4165699" cy="2939802"/>
          </a:xfrm>
          <a:prstGeom prst="roundRect">
            <a:avLst>
              <a:gd fmla="val 2592"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1" name="Google Shape;111;p17"/>
          <p:cNvSpPr/>
          <p:nvPr/>
        </p:nvSpPr>
        <p:spPr>
          <a:xfrm>
            <a:off x="4698950" y="2363986"/>
            <a:ext cx="3679138" cy="238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600"/>
              <a:buFont typeface="Georgia"/>
              <a:buNone/>
            </a:pPr>
            <a:r>
              <a:rPr b="1" i="0" lang="en" sz="1600" u="none" cap="none" strike="noStrike">
                <a:solidFill>
                  <a:srgbClr val="2C2C2C"/>
                </a:solidFill>
                <a:latin typeface="Georgia"/>
                <a:ea typeface="Georgia"/>
                <a:cs typeface="Georgia"/>
                <a:sym typeface="Georgia"/>
              </a:rPr>
              <a:t>The Fix</a:t>
            </a:r>
            <a:endParaRPr b="0" i="0" sz="1600" u="none" cap="none" strike="noStrike">
              <a:solidFill>
                <a:schemeClr val="dk1"/>
              </a:solidFill>
              <a:latin typeface="Calibri"/>
              <a:ea typeface="Calibri"/>
              <a:cs typeface="Calibri"/>
              <a:sym typeface="Calibri"/>
            </a:endParaRPr>
          </a:p>
        </p:txBody>
      </p:sp>
      <p:sp>
        <p:nvSpPr>
          <p:cNvPr id="112" name="Google Shape;112;p17"/>
          <p:cNvSpPr/>
          <p:nvPr/>
        </p:nvSpPr>
        <p:spPr>
          <a:xfrm>
            <a:off x="4698950" y="2754511"/>
            <a:ext cx="3679138" cy="62865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C2C2C"/>
              </a:buClr>
              <a:buSzPts val="1100"/>
              <a:buFont typeface="Arial"/>
              <a:buNone/>
            </a:pPr>
            <a:r>
              <a:rPr b="0" i="0" lang="en" sz="1100" u="none" cap="none" strike="noStrike">
                <a:solidFill>
                  <a:srgbClr val="2C2C2C"/>
                </a:solidFill>
                <a:latin typeface="Arial"/>
                <a:ea typeface="Arial"/>
                <a:cs typeface="Arial"/>
                <a:sym typeface="Arial"/>
              </a:rPr>
              <a:t>Spend time on the outline. Gather what you need before you write. Agree on what "done" means before you start drafting.</a:t>
            </a:r>
            <a:endParaRPr b="0" i="0" sz="1100" u="none" cap="none" strike="noStrike">
              <a:solidFill>
                <a:schemeClr val="dk1"/>
              </a:solidFill>
              <a:latin typeface="Calibri"/>
              <a:ea typeface="Calibri"/>
              <a:cs typeface="Calibri"/>
              <a:sym typeface="Calibri"/>
            </a:endParaRPr>
          </a:p>
        </p:txBody>
      </p:sp>
      <p:sp>
        <p:nvSpPr>
          <p:cNvPr id="113" name="Google Shape;113;p17"/>
          <p:cNvSpPr/>
          <p:nvPr/>
        </p:nvSpPr>
        <p:spPr>
          <a:xfrm>
            <a:off x="4698950" y="3510111"/>
            <a:ext cx="3679138"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Planning isn't overhead — it's how you avoid doing the work twice.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118" name="Shape 118"/>
        <p:cNvGrpSpPr/>
        <p:nvPr/>
      </p:nvGrpSpPr>
      <p:grpSpPr>
        <a:xfrm>
          <a:off x="0" y="0"/>
          <a:ext cx="0" cy="0"/>
          <a:chOff x="0" y="0"/>
          <a:chExt cx="0" cy="0"/>
        </a:xfrm>
      </p:grpSpPr>
      <p:sp>
        <p:nvSpPr>
          <p:cNvPr id="119" name="Google Shape;119;p18"/>
          <p:cNvSpPr/>
          <p:nvPr/>
        </p:nvSpPr>
        <p:spPr>
          <a:xfrm>
            <a:off x="0" y="0"/>
            <a:ext cx="101501" cy="5143500"/>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0" name="Google Shape;120;p18"/>
          <p:cNvSpPr/>
          <p:nvPr/>
        </p:nvSpPr>
        <p:spPr>
          <a:xfrm>
            <a:off x="482501" y="431750"/>
            <a:ext cx="1530400"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1" name="Google Shape;121;p18"/>
          <p:cNvSpPr/>
          <p:nvPr/>
        </p:nvSpPr>
        <p:spPr>
          <a:xfrm>
            <a:off x="634901" y="596801"/>
            <a:ext cx="125011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THE LIFECYCLE</a:t>
            </a:r>
            <a:endParaRPr b="0" i="0" sz="900" u="none" cap="none" strike="noStrike">
              <a:solidFill>
                <a:schemeClr val="dk1"/>
              </a:solidFill>
              <a:latin typeface="Calibri"/>
              <a:ea typeface="Calibri"/>
              <a:cs typeface="Calibri"/>
              <a:sym typeface="Calibri"/>
            </a:endParaRPr>
          </a:p>
        </p:txBody>
      </p:sp>
      <p:sp>
        <p:nvSpPr>
          <p:cNvPr id="122" name="Google Shape;122;p18"/>
          <p:cNvSpPr/>
          <p:nvPr/>
        </p:nvSpPr>
        <p:spPr>
          <a:xfrm>
            <a:off x="482501" y="996702"/>
            <a:ext cx="8368385"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 sz="2200" u="none" cap="none" strike="noStrike">
                <a:solidFill>
                  <a:srgbClr val="2C2C2C"/>
                </a:solidFill>
                <a:latin typeface="Georgia"/>
                <a:ea typeface="Georgia"/>
                <a:cs typeface="Georgia"/>
                <a:sym typeface="Georgia"/>
              </a:rPr>
              <a:t>Gather, Outline, Review, Draft, Check</a:t>
            </a:r>
            <a:endParaRPr b="0" i="0" sz="2200" u="none" cap="none" strike="noStrike">
              <a:solidFill>
                <a:schemeClr val="dk1"/>
              </a:solidFill>
              <a:latin typeface="Calibri"/>
              <a:ea typeface="Calibri"/>
              <a:cs typeface="Calibri"/>
              <a:sym typeface="Calibri"/>
            </a:endParaRPr>
          </a:p>
        </p:txBody>
      </p:sp>
      <p:sp>
        <p:nvSpPr>
          <p:cNvPr id="123" name="Google Shape;123;p18"/>
          <p:cNvSpPr/>
          <p:nvPr/>
        </p:nvSpPr>
        <p:spPr>
          <a:xfrm>
            <a:off x="482501" y="1361777"/>
            <a:ext cx="8368385"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50"/>
              <a:buFont typeface="Arial"/>
              <a:buNone/>
            </a:pPr>
            <a:r>
              <a:rPr b="0" i="0" lang="en" sz="1050" u="none" cap="none" strike="noStrike">
                <a:solidFill>
                  <a:srgbClr val="666666"/>
                </a:solidFill>
                <a:latin typeface="Arial"/>
                <a:ea typeface="Arial"/>
                <a:cs typeface="Arial"/>
                <a:sym typeface="Arial"/>
              </a:rPr>
              <a:t>Five phases. Two moments where you pause and get alignment. The rest flows naturally.</a:t>
            </a:r>
            <a:endParaRPr b="0" i="0" sz="1050" u="none" cap="none" strike="noStrike">
              <a:solidFill>
                <a:schemeClr val="dk1"/>
              </a:solidFill>
              <a:latin typeface="Calibri"/>
              <a:ea typeface="Calibri"/>
              <a:cs typeface="Calibri"/>
              <a:sym typeface="Calibri"/>
            </a:endParaRPr>
          </a:p>
        </p:txBody>
      </p:sp>
      <p:sp>
        <p:nvSpPr>
          <p:cNvPr id="124" name="Google Shape;124;p18"/>
          <p:cNvSpPr/>
          <p:nvPr/>
        </p:nvSpPr>
        <p:spPr>
          <a:xfrm>
            <a:off x="4825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 sz="2400" u="none" cap="none" strike="noStrike">
                <a:solidFill>
                  <a:srgbClr val="E07A5F"/>
                </a:solidFill>
                <a:latin typeface="Georgia"/>
                <a:ea typeface="Georgia"/>
                <a:cs typeface="Georgia"/>
                <a:sym typeface="Georgia"/>
              </a:rPr>
              <a:t>1</a:t>
            </a:r>
            <a:endParaRPr b="0" i="0" sz="2400" u="none" cap="none" strike="noStrike">
              <a:solidFill>
                <a:schemeClr val="dk1"/>
              </a:solidFill>
              <a:latin typeface="Calibri"/>
              <a:ea typeface="Calibri"/>
              <a:cs typeface="Calibri"/>
              <a:sym typeface="Calibri"/>
            </a:endParaRPr>
          </a:p>
        </p:txBody>
      </p:sp>
      <p:sp>
        <p:nvSpPr>
          <p:cNvPr id="125" name="Google Shape;125;p18"/>
          <p:cNvSpPr/>
          <p:nvPr/>
        </p:nvSpPr>
        <p:spPr>
          <a:xfrm>
            <a:off x="4825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 sz="1100" u="none" cap="none" strike="noStrike">
                <a:solidFill>
                  <a:srgbClr val="2C2C2C"/>
                </a:solidFill>
                <a:latin typeface="Arial"/>
                <a:ea typeface="Arial"/>
                <a:cs typeface="Arial"/>
                <a:sym typeface="Arial"/>
              </a:rPr>
              <a:t>Gather</a:t>
            </a:r>
            <a:endParaRPr b="0" i="0" sz="1100" u="none" cap="none" strike="noStrike">
              <a:solidFill>
                <a:schemeClr val="dk1"/>
              </a:solidFill>
              <a:latin typeface="Calibri"/>
              <a:ea typeface="Calibri"/>
              <a:cs typeface="Calibri"/>
              <a:sym typeface="Calibri"/>
            </a:endParaRPr>
          </a:p>
        </p:txBody>
      </p:sp>
      <p:sp>
        <p:nvSpPr>
          <p:cNvPr id="126" name="Google Shape;126;p18"/>
          <p:cNvSpPr/>
          <p:nvPr/>
        </p:nvSpPr>
        <p:spPr>
          <a:xfrm>
            <a:off x="482501" y="2347615"/>
            <a:ext cx="1528673" cy="9599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 sz="900" u="none" cap="none" strike="noStrike">
                <a:solidFill>
                  <a:srgbClr val="555555"/>
                </a:solidFill>
                <a:latin typeface="Arial"/>
                <a:ea typeface="Arial"/>
                <a:cs typeface="Arial"/>
                <a:sym typeface="Arial"/>
              </a:rPr>
              <a:t>Collect the facts. Read the brief. Check last year's numbers. Talk to stakeholders. Know the landscape before you write a word.</a:t>
            </a:r>
            <a:endParaRPr b="0" i="0" sz="900" u="none" cap="none" strike="noStrike">
              <a:solidFill>
                <a:schemeClr val="dk1"/>
              </a:solidFill>
              <a:latin typeface="Calibri"/>
              <a:ea typeface="Calibri"/>
              <a:cs typeface="Calibri"/>
              <a:sym typeface="Calibri"/>
            </a:endParaRPr>
          </a:p>
        </p:txBody>
      </p:sp>
      <p:sp>
        <p:nvSpPr>
          <p:cNvPr id="127" name="Google Shape;127;p18"/>
          <p:cNvSpPr/>
          <p:nvPr/>
        </p:nvSpPr>
        <p:spPr>
          <a:xfrm>
            <a:off x="21589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 sz="2400" u="none" cap="none" strike="noStrike">
                <a:solidFill>
                  <a:srgbClr val="E07A5F"/>
                </a:solidFill>
                <a:latin typeface="Georgia"/>
                <a:ea typeface="Georgia"/>
                <a:cs typeface="Georgia"/>
                <a:sym typeface="Georgia"/>
              </a:rPr>
              <a:t>2</a:t>
            </a:r>
            <a:endParaRPr b="0" i="0" sz="2400" u="none" cap="none" strike="noStrike">
              <a:solidFill>
                <a:schemeClr val="dk1"/>
              </a:solidFill>
              <a:latin typeface="Calibri"/>
              <a:ea typeface="Calibri"/>
              <a:cs typeface="Calibri"/>
              <a:sym typeface="Calibri"/>
            </a:endParaRPr>
          </a:p>
        </p:txBody>
      </p:sp>
      <p:sp>
        <p:nvSpPr>
          <p:cNvPr id="128" name="Google Shape;128;p18"/>
          <p:cNvSpPr/>
          <p:nvPr/>
        </p:nvSpPr>
        <p:spPr>
          <a:xfrm>
            <a:off x="21589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 sz="1100" u="none" cap="none" strike="noStrike">
                <a:solidFill>
                  <a:srgbClr val="2C2C2C"/>
                </a:solidFill>
                <a:latin typeface="Arial"/>
                <a:ea typeface="Arial"/>
                <a:cs typeface="Arial"/>
                <a:sym typeface="Arial"/>
              </a:rPr>
              <a:t>Outline</a:t>
            </a:r>
            <a:endParaRPr b="0" i="0" sz="1100" u="none" cap="none" strike="noStrike">
              <a:solidFill>
                <a:schemeClr val="dk1"/>
              </a:solidFill>
              <a:latin typeface="Calibri"/>
              <a:ea typeface="Calibri"/>
              <a:cs typeface="Calibri"/>
              <a:sym typeface="Calibri"/>
            </a:endParaRPr>
          </a:p>
        </p:txBody>
      </p:sp>
      <p:sp>
        <p:nvSpPr>
          <p:cNvPr id="129" name="Google Shape;129;p18"/>
          <p:cNvSpPr/>
          <p:nvPr/>
        </p:nvSpPr>
        <p:spPr>
          <a:xfrm>
            <a:off x="2158901" y="2347615"/>
            <a:ext cx="1528673"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 sz="900" u="none" cap="none" strike="noStrike">
                <a:solidFill>
                  <a:srgbClr val="555555"/>
                </a:solidFill>
                <a:latin typeface="Arial"/>
                <a:ea typeface="Arial"/>
                <a:cs typeface="Arial"/>
                <a:sym typeface="Arial"/>
              </a:rPr>
              <a:t>Write down what you'll cover, who owns each section, and how you'll know it's done.</a:t>
            </a:r>
            <a:endParaRPr b="0" i="0" sz="900" u="none" cap="none" strike="noStrike">
              <a:solidFill>
                <a:schemeClr val="dk1"/>
              </a:solidFill>
              <a:latin typeface="Calibri"/>
              <a:ea typeface="Calibri"/>
              <a:cs typeface="Calibri"/>
              <a:sym typeface="Calibri"/>
            </a:endParaRPr>
          </a:p>
        </p:txBody>
      </p:sp>
      <p:sp>
        <p:nvSpPr>
          <p:cNvPr id="130" name="Google Shape;130;p18"/>
          <p:cNvSpPr/>
          <p:nvPr/>
        </p:nvSpPr>
        <p:spPr>
          <a:xfrm>
            <a:off x="38353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 sz="2400" u="none" cap="none" strike="noStrike">
                <a:solidFill>
                  <a:srgbClr val="E07A5F"/>
                </a:solidFill>
                <a:latin typeface="Georgia"/>
                <a:ea typeface="Georgia"/>
                <a:cs typeface="Georgia"/>
                <a:sym typeface="Georgia"/>
              </a:rPr>
              <a:t>3</a:t>
            </a:r>
            <a:endParaRPr b="0" i="0" sz="2400" u="none" cap="none" strike="noStrike">
              <a:solidFill>
                <a:schemeClr val="dk1"/>
              </a:solidFill>
              <a:latin typeface="Calibri"/>
              <a:ea typeface="Calibri"/>
              <a:cs typeface="Calibri"/>
              <a:sym typeface="Calibri"/>
            </a:endParaRPr>
          </a:p>
        </p:txBody>
      </p:sp>
      <p:sp>
        <p:nvSpPr>
          <p:cNvPr id="131" name="Google Shape;131;p18"/>
          <p:cNvSpPr/>
          <p:nvPr/>
        </p:nvSpPr>
        <p:spPr>
          <a:xfrm>
            <a:off x="38353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 sz="1100" u="none" cap="none" strike="noStrike">
                <a:solidFill>
                  <a:srgbClr val="2C2C2C"/>
                </a:solidFill>
                <a:latin typeface="Arial"/>
                <a:ea typeface="Arial"/>
                <a:cs typeface="Arial"/>
                <a:sym typeface="Arial"/>
              </a:rPr>
              <a:t>Review</a:t>
            </a:r>
            <a:endParaRPr b="0" i="0" sz="1100" u="none" cap="none" strike="noStrike">
              <a:solidFill>
                <a:schemeClr val="dk1"/>
              </a:solidFill>
              <a:latin typeface="Calibri"/>
              <a:ea typeface="Calibri"/>
              <a:cs typeface="Calibri"/>
              <a:sym typeface="Calibri"/>
            </a:endParaRPr>
          </a:p>
        </p:txBody>
      </p:sp>
      <p:sp>
        <p:nvSpPr>
          <p:cNvPr id="132" name="Google Shape;132;p18"/>
          <p:cNvSpPr/>
          <p:nvPr/>
        </p:nvSpPr>
        <p:spPr>
          <a:xfrm>
            <a:off x="3835301" y="2347615"/>
            <a:ext cx="1528673" cy="79995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 sz="900" u="none" cap="none" strike="noStrike">
                <a:solidFill>
                  <a:srgbClr val="555555"/>
                </a:solidFill>
                <a:latin typeface="Arial"/>
                <a:ea typeface="Arial"/>
                <a:cs typeface="Arial"/>
                <a:sym typeface="Arial"/>
              </a:rPr>
              <a:t>Have someone else read the outline. Find gaps, misalignment, or missing pieces now — not after you've written 20 pages.</a:t>
            </a:r>
            <a:endParaRPr b="0" i="0" sz="900" u="none" cap="none" strike="noStrike">
              <a:solidFill>
                <a:schemeClr val="dk1"/>
              </a:solidFill>
              <a:latin typeface="Calibri"/>
              <a:ea typeface="Calibri"/>
              <a:cs typeface="Calibri"/>
              <a:sym typeface="Calibri"/>
            </a:endParaRPr>
          </a:p>
        </p:txBody>
      </p:sp>
      <p:sp>
        <p:nvSpPr>
          <p:cNvPr id="133" name="Google Shape;133;p18"/>
          <p:cNvSpPr/>
          <p:nvPr/>
        </p:nvSpPr>
        <p:spPr>
          <a:xfrm>
            <a:off x="55117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 sz="2400" u="none" cap="none" strike="noStrike">
                <a:solidFill>
                  <a:srgbClr val="E07A5F"/>
                </a:solidFill>
                <a:latin typeface="Georgia"/>
                <a:ea typeface="Georgia"/>
                <a:cs typeface="Georgia"/>
                <a:sym typeface="Georgia"/>
              </a:rPr>
              <a:t>4</a:t>
            </a:r>
            <a:endParaRPr b="0" i="0" sz="2400" u="none" cap="none" strike="noStrike">
              <a:solidFill>
                <a:schemeClr val="dk1"/>
              </a:solidFill>
              <a:latin typeface="Calibri"/>
              <a:ea typeface="Calibri"/>
              <a:cs typeface="Calibri"/>
              <a:sym typeface="Calibri"/>
            </a:endParaRPr>
          </a:p>
        </p:txBody>
      </p:sp>
      <p:sp>
        <p:nvSpPr>
          <p:cNvPr id="134" name="Google Shape;134;p18"/>
          <p:cNvSpPr/>
          <p:nvPr/>
        </p:nvSpPr>
        <p:spPr>
          <a:xfrm>
            <a:off x="55117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 sz="1100" u="none" cap="none" strike="noStrike">
                <a:solidFill>
                  <a:srgbClr val="2C2C2C"/>
                </a:solidFill>
                <a:latin typeface="Arial"/>
                <a:ea typeface="Arial"/>
                <a:cs typeface="Arial"/>
                <a:sym typeface="Arial"/>
              </a:rPr>
              <a:t>Draft</a:t>
            </a:r>
            <a:endParaRPr b="0" i="0" sz="1100" u="none" cap="none" strike="noStrike">
              <a:solidFill>
                <a:schemeClr val="dk1"/>
              </a:solidFill>
              <a:latin typeface="Calibri"/>
              <a:ea typeface="Calibri"/>
              <a:cs typeface="Calibri"/>
              <a:sym typeface="Calibri"/>
            </a:endParaRPr>
          </a:p>
        </p:txBody>
      </p:sp>
      <p:sp>
        <p:nvSpPr>
          <p:cNvPr id="135" name="Google Shape;135;p18"/>
          <p:cNvSpPr/>
          <p:nvPr/>
        </p:nvSpPr>
        <p:spPr>
          <a:xfrm>
            <a:off x="5511701" y="2347615"/>
            <a:ext cx="1528673"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 sz="900" u="none" cap="none" strike="noStrike">
                <a:solidFill>
                  <a:srgbClr val="555555"/>
                </a:solidFill>
                <a:latin typeface="Arial"/>
                <a:ea typeface="Arial"/>
                <a:cs typeface="Arial"/>
                <a:sym typeface="Arial"/>
              </a:rPr>
              <a:t>Write the actual deliverable. Everyone knows their section and what "done" means.</a:t>
            </a:r>
            <a:endParaRPr b="0" i="0" sz="900" u="none" cap="none" strike="noStrike">
              <a:solidFill>
                <a:schemeClr val="dk1"/>
              </a:solidFill>
              <a:latin typeface="Calibri"/>
              <a:ea typeface="Calibri"/>
              <a:cs typeface="Calibri"/>
              <a:sym typeface="Calibri"/>
            </a:endParaRPr>
          </a:p>
        </p:txBody>
      </p:sp>
      <p:sp>
        <p:nvSpPr>
          <p:cNvPr id="136" name="Google Shape;136;p18"/>
          <p:cNvSpPr/>
          <p:nvPr/>
        </p:nvSpPr>
        <p:spPr>
          <a:xfrm>
            <a:off x="7188101" y="1738164"/>
            <a:ext cx="1528673"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400"/>
              <a:buFont typeface="Georgia"/>
              <a:buNone/>
            </a:pPr>
            <a:r>
              <a:rPr b="1" i="0" lang="en" sz="2400" u="none" cap="none" strike="noStrike">
                <a:solidFill>
                  <a:srgbClr val="E07A5F"/>
                </a:solidFill>
                <a:latin typeface="Georgia"/>
                <a:ea typeface="Georgia"/>
                <a:cs typeface="Georgia"/>
                <a:sym typeface="Georgia"/>
              </a:rPr>
              <a:t>5</a:t>
            </a:r>
            <a:endParaRPr b="0" i="0" sz="2400" u="none" cap="none" strike="noStrike">
              <a:solidFill>
                <a:schemeClr val="dk1"/>
              </a:solidFill>
              <a:latin typeface="Calibri"/>
              <a:ea typeface="Calibri"/>
              <a:cs typeface="Calibri"/>
              <a:sym typeface="Calibri"/>
            </a:endParaRPr>
          </a:p>
        </p:txBody>
      </p:sp>
      <p:sp>
        <p:nvSpPr>
          <p:cNvPr id="137" name="Google Shape;137;p18"/>
          <p:cNvSpPr/>
          <p:nvPr/>
        </p:nvSpPr>
        <p:spPr>
          <a:xfrm>
            <a:off x="7188101" y="2131814"/>
            <a:ext cx="1528673"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100"/>
              <a:buFont typeface="Arial"/>
              <a:buNone/>
            </a:pPr>
            <a:r>
              <a:rPr b="1" i="0" lang="en" sz="1100" u="none" cap="none" strike="noStrike">
                <a:solidFill>
                  <a:srgbClr val="2C2C2C"/>
                </a:solidFill>
                <a:latin typeface="Arial"/>
                <a:ea typeface="Arial"/>
                <a:cs typeface="Arial"/>
                <a:sym typeface="Arial"/>
              </a:rPr>
              <a:t>Check</a:t>
            </a:r>
            <a:endParaRPr b="0" i="0" sz="1100" u="none" cap="none" strike="noStrike">
              <a:solidFill>
                <a:schemeClr val="dk1"/>
              </a:solidFill>
              <a:latin typeface="Calibri"/>
              <a:ea typeface="Calibri"/>
              <a:cs typeface="Calibri"/>
              <a:sym typeface="Calibri"/>
            </a:endParaRPr>
          </a:p>
        </p:txBody>
      </p:sp>
      <p:sp>
        <p:nvSpPr>
          <p:cNvPr id="138" name="Google Shape;138;p18"/>
          <p:cNvSpPr/>
          <p:nvPr/>
        </p:nvSpPr>
        <p:spPr>
          <a:xfrm>
            <a:off x="7188101" y="2347615"/>
            <a:ext cx="1528673"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55555"/>
              </a:buClr>
              <a:buSzPts val="900"/>
              <a:buFont typeface="Arial"/>
              <a:buNone/>
            </a:pPr>
            <a:r>
              <a:rPr b="0" i="0" lang="en" sz="900" u="none" cap="none" strike="noStrike">
                <a:solidFill>
                  <a:srgbClr val="555555"/>
                </a:solidFill>
                <a:latin typeface="Arial"/>
                <a:ea typeface="Arial"/>
                <a:cs typeface="Arial"/>
                <a:sym typeface="Arial"/>
              </a:rPr>
              <a:t>Review against your criteria. Fix what's off. Finalize when it's right.</a:t>
            </a:r>
            <a:endParaRPr b="0" i="0" sz="900" u="none" cap="none" strike="noStrike">
              <a:solidFill>
                <a:schemeClr val="dk1"/>
              </a:solidFill>
              <a:latin typeface="Calibri"/>
              <a:ea typeface="Calibri"/>
              <a:cs typeface="Calibri"/>
              <a:sym typeface="Calibri"/>
            </a:endParaRPr>
          </a:p>
        </p:txBody>
      </p:sp>
      <p:sp>
        <p:nvSpPr>
          <p:cNvPr id="139" name="Google Shape;139;p18"/>
          <p:cNvSpPr/>
          <p:nvPr/>
        </p:nvSpPr>
        <p:spPr>
          <a:xfrm>
            <a:off x="482501" y="4064198"/>
            <a:ext cx="8204299" cy="64755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0" name="Google Shape;140;p18"/>
          <p:cNvCxnSpPr/>
          <p:nvPr/>
        </p:nvCxnSpPr>
        <p:spPr>
          <a:xfrm>
            <a:off x="506313" y="4064198"/>
            <a:ext cx="0" cy="647551"/>
          </a:xfrm>
          <a:prstGeom prst="straightConnector1">
            <a:avLst/>
          </a:prstGeom>
          <a:noFill/>
          <a:ln cap="flat" cmpd="sng" w="47625">
            <a:solidFill>
              <a:srgbClr val="E07A5F"/>
            </a:solidFill>
            <a:prstDash val="solid"/>
            <a:round/>
            <a:headEnd len="sm" w="sm" type="none"/>
            <a:tailEnd len="sm" w="sm" type="none"/>
          </a:ln>
        </p:spPr>
      </p:cxnSp>
      <p:sp>
        <p:nvSpPr>
          <p:cNvPr id="141" name="Google Shape;141;p18"/>
          <p:cNvSpPr/>
          <p:nvPr/>
        </p:nvSpPr>
        <p:spPr>
          <a:xfrm>
            <a:off x="707827" y="4216598"/>
            <a:ext cx="7957298" cy="1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800"/>
              <a:buFont typeface="Arial"/>
              <a:buNone/>
            </a:pPr>
            <a:r>
              <a:rPr b="1" i="0" lang="en" sz="800" u="none" cap="none" strike="noStrike">
                <a:solidFill>
                  <a:srgbClr val="E07A5F"/>
                </a:solidFill>
                <a:latin typeface="Arial"/>
                <a:ea typeface="Arial"/>
                <a:cs typeface="Arial"/>
                <a:sym typeface="Arial"/>
              </a:rPr>
              <a:t>KEY INSIGHT</a:t>
            </a:r>
            <a:endParaRPr b="0" i="0" sz="800" u="none" cap="none" strike="noStrike">
              <a:solidFill>
                <a:schemeClr val="dk1"/>
              </a:solidFill>
              <a:latin typeface="Calibri"/>
              <a:ea typeface="Calibri"/>
              <a:cs typeface="Calibri"/>
              <a:sym typeface="Calibri"/>
            </a:endParaRPr>
          </a:p>
        </p:txBody>
      </p:sp>
      <p:sp>
        <p:nvSpPr>
          <p:cNvPr id="142" name="Google Shape;142;p18"/>
          <p:cNvSpPr/>
          <p:nvPr/>
        </p:nvSpPr>
        <p:spPr>
          <a:xfrm>
            <a:off x="707827" y="4381649"/>
            <a:ext cx="7957298" cy="17770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44444"/>
              </a:buClr>
              <a:buSzPts val="1000"/>
              <a:buFont typeface="Arial"/>
              <a:buNone/>
            </a:pPr>
            <a:r>
              <a:rPr b="0" i="1" lang="en" sz="1000" u="none" cap="none" strike="noStrike">
                <a:solidFill>
                  <a:srgbClr val="444444"/>
                </a:solidFill>
                <a:latin typeface="Arial"/>
                <a:ea typeface="Arial"/>
                <a:cs typeface="Arial"/>
                <a:sym typeface="Arial"/>
              </a:rPr>
              <a:t>Get alignment on the outline before drafting, and alignment on the draft before delivering. Two small pauses save enormous rework.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147" name="Shape 147"/>
        <p:cNvGrpSpPr/>
        <p:nvPr/>
      </p:nvGrpSpPr>
      <p:grpSpPr>
        <a:xfrm>
          <a:off x="0" y="0"/>
          <a:ext cx="0" cy="0"/>
          <a:chOff x="0" y="0"/>
          <a:chExt cx="0" cy="0"/>
        </a:xfrm>
      </p:grpSpPr>
      <p:sp>
        <p:nvSpPr>
          <p:cNvPr id="148" name="Google Shape;148;p19"/>
          <p:cNvSpPr/>
          <p:nvPr/>
        </p:nvSpPr>
        <p:spPr>
          <a:xfrm>
            <a:off x="558701" y="381000"/>
            <a:ext cx="849064"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49" name="Google Shape;149;p19"/>
          <p:cNvSpPr/>
          <p:nvPr/>
        </p:nvSpPr>
        <p:spPr>
          <a:xfrm>
            <a:off x="711101" y="546050"/>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STEP 1</a:t>
            </a:r>
            <a:endParaRPr b="0" i="0" sz="900" u="none" cap="none" strike="noStrike">
              <a:solidFill>
                <a:schemeClr val="dk1"/>
              </a:solidFill>
              <a:latin typeface="Calibri"/>
              <a:ea typeface="Calibri"/>
              <a:cs typeface="Calibri"/>
              <a:sym typeface="Calibri"/>
            </a:endParaRPr>
          </a:p>
        </p:txBody>
      </p:sp>
      <p:sp>
        <p:nvSpPr>
          <p:cNvPr id="150" name="Google Shape;150;p19"/>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 sz="2200" u="none" cap="none" strike="noStrike">
                <a:solidFill>
                  <a:srgbClr val="F4F1DE"/>
                </a:solidFill>
                <a:latin typeface="Georgia"/>
                <a:ea typeface="Georgia"/>
                <a:cs typeface="Georgia"/>
                <a:sym typeface="Georgia"/>
              </a:rPr>
              <a:t>Gather Before You Write</a:t>
            </a:r>
            <a:endParaRPr b="0" i="0" sz="2200" u="none" cap="none" strike="noStrike">
              <a:solidFill>
                <a:schemeClr val="dk1"/>
              </a:solidFill>
              <a:latin typeface="Calibri"/>
              <a:ea typeface="Calibri"/>
              <a:cs typeface="Calibri"/>
              <a:sym typeface="Calibri"/>
            </a:endParaRPr>
          </a:p>
        </p:txBody>
      </p:sp>
      <p:sp>
        <p:nvSpPr>
          <p:cNvPr id="151" name="Google Shape;151;p19"/>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 sz="1050" u="none" cap="none" strike="noStrike">
                <a:solidFill>
                  <a:srgbClr val="AAAAAA"/>
                </a:solidFill>
                <a:latin typeface="Arial"/>
                <a:ea typeface="Arial"/>
                <a:cs typeface="Arial"/>
                <a:sym typeface="Arial"/>
              </a:rPr>
              <a:t>Before writing a single sentence, go collect what you actually need. Don't draft from memory — draft from evidence.</a:t>
            </a:r>
            <a:endParaRPr b="0" i="0" sz="1050" u="none" cap="none" strike="noStrike">
              <a:solidFill>
                <a:schemeClr val="dk1"/>
              </a:solidFill>
              <a:latin typeface="Calibri"/>
              <a:ea typeface="Calibri"/>
              <a:cs typeface="Calibri"/>
              <a:sym typeface="Calibri"/>
            </a:endParaRPr>
          </a:p>
        </p:txBody>
      </p:sp>
      <p:sp>
        <p:nvSpPr>
          <p:cNvPr id="152" name="Google Shape;152;p19"/>
          <p:cNvSpPr/>
          <p:nvPr/>
        </p:nvSpPr>
        <p:spPr>
          <a:xfrm>
            <a:off x="558701" y="1661964"/>
            <a:ext cx="2540050" cy="2576810"/>
          </a:xfrm>
          <a:prstGeom prst="roundRect">
            <a:avLst>
              <a:gd fmla="val 3000"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3" name="Google Shape;153;p19"/>
          <p:cNvSpPr/>
          <p:nvPr/>
        </p:nvSpPr>
        <p:spPr>
          <a:xfrm>
            <a:off x="745927" y="1849189"/>
            <a:ext cx="220891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800"/>
              <a:buFont typeface="Georgia"/>
              <a:buNone/>
            </a:pPr>
            <a:r>
              <a:rPr b="1" i="0" lang="en" sz="1800" u="none" cap="none" strike="noStrike">
                <a:solidFill>
                  <a:srgbClr val="87A96B"/>
                </a:solidFill>
                <a:latin typeface="Georgia"/>
                <a:ea typeface="Georgia"/>
                <a:cs typeface="Georgia"/>
                <a:sym typeface="Georgia"/>
              </a:rPr>
              <a:t>A</a:t>
            </a:r>
            <a:endParaRPr b="0" i="0" sz="1800" u="none" cap="none" strike="noStrike">
              <a:solidFill>
                <a:schemeClr val="dk1"/>
              </a:solidFill>
              <a:latin typeface="Calibri"/>
              <a:ea typeface="Calibri"/>
              <a:cs typeface="Calibri"/>
              <a:sym typeface="Calibri"/>
            </a:endParaRPr>
          </a:p>
        </p:txBody>
      </p:sp>
      <p:sp>
        <p:nvSpPr>
          <p:cNvPr id="154" name="Google Shape;154;p19"/>
          <p:cNvSpPr/>
          <p:nvPr/>
        </p:nvSpPr>
        <p:spPr>
          <a:xfrm>
            <a:off x="745927" y="2182564"/>
            <a:ext cx="22089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 sz="1100" u="none" cap="none" strike="noStrike">
                <a:solidFill>
                  <a:srgbClr val="F4F1DE"/>
                </a:solidFill>
                <a:latin typeface="Arial"/>
                <a:ea typeface="Arial"/>
                <a:cs typeface="Arial"/>
                <a:sym typeface="Arial"/>
              </a:rPr>
              <a:t>Scan the Landscape</a:t>
            </a:r>
            <a:endParaRPr b="0" i="0" sz="1100" u="none" cap="none" strike="noStrike">
              <a:solidFill>
                <a:schemeClr val="dk1"/>
              </a:solidFill>
              <a:latin typeface="Calibri"/>
              <a:ea typeface="Calibri"/>
              <a:cs typeface="Calibri"/>
              <a:sym typeface="Calibri"/>
            </a:endParaRPr>
          </a:p>
        </p:txBody>
      </p:sp>
      <p:sp>
        <p:nvSpPr>
          <p:cNvPr id="155" name="Google Shape;155;p19"/>
          <p:cNvSpPr/>
          <p:nvPr/>
        </p:nvSpPr>
        <p:spPr>
          <a:xfrm>
            <a:off x="745927" y="2398365"/>
            <a:ext cx="2208910"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Quickly check multiple sources. Read the brief, pull last quarter's report, skim the relevant emails.</a:t>
            </a:r>
            <a:endParaRPr b="0" i="0" sz="900" u="none" cap="none" strike="noStrike">
              <a:solidFill>
                <a:schemeClr val="dk1"/>
              </a:solidFill>
              <a:latin typeface="Calibri"/>
              <a:ea typeface="Calibri"/>
              <a:cs typeface="Calibri"/>
              <a:sym typeface="Calibri"/>
            </a:endParaRPr>
          </a:p>
        </p:txBody>
      </p:sp>
      <p:sp>
        <p:nvSpPr>
          <p:cNvPr id="156" name="Google Shape;156;p19"/>
          <p:cNvSpPr/>
          <p:nvPr/>
        </p:nvSpPr>
        <p:spPr>
          <a:xfrm>
            <a:off x="745927" y="2954536"/>
            <a:ext cx="2208910" cy="28039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850"/>
              <a:buFont typeface="Arial"/>
              <a:buNone/>
            </a:pPr>
            <a:r>
              <a:rPr b="0" i="1" lang="en" sz="850" u="none" cap="none" strike="noStrike">
                <a:solidFill>
                  <a:srgbClr val="87A96B"/>
                </a:solidFill>
                <a:latin typeface="Arial"/>
                <a:ea typeface="Arial"/>
                <a:cs typeface="Arial"/>
                <a:sym typeface="Arial"/>
              </a:rPr>
              <a:t>"The client brief says Q2 launch, but the contract says Q3. Which is it?"</a:t>
            </a:r>
            <a:endParaRPr b="0" i="0" sz="850" u="none" cap="none" strike="noStrike">
              <a:solidFill>
                <a:schemeClr val="dk1"/>
              </a:solidFill>
              <a:latin typeface="Calibri"/>
              <a:ea typeface="Calibri"/>
              <a:cs typeface="Calibri"/>
              <a:sym typeface="Calibri"/>
            </a:endParaRPr>
          </a:p>
        </p:txBody>
      </p:sp>
      <p:sp>
        <p:nvSpPr>
          <p:cNvPr id="157" name="Google Shape;157;p19"/>
          <p:cNvSpPr/>
          <p:nvPr/>
        </p:nvSpPr>
        <p:spPr>
          <a:xfrm>
            <a:off x="3301901" y="1661964"/>
            <a:ext cx="2540198" cy="2576810"/>
          </a:xfrm>
          <a:prstGeom prst="roundRect">
            <a:avLst>
              <a:gd fmla="val 3000"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8" name="Google Shape;158;p19"/>
          <p:cNvSpPr/>
          <p:nvPr/>
        </p:nvSpPr>
        <p:spPr>
          <a:xfrm>
            <a:off x="3489127" y="1849189"/>
            <a:ext cx="2209062"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800"/>
              <a:buFont typeface="Georgia"/>
              <a:buNone/>
            </a:pPr>
            <a:r>
              <a:rPr b="1" i="0" lang="en" sz="1800" u="none" cap="none" strike="noStrike">
                <a:solidFill>
                  <a:srgbClr val="87A96B"/>
                </a:solidFill>
                <a:latin typeface="Georgia"/>
                <a:ea typeface="Georgia"/>
                <a:cs typeface="Georgia"/>
                <a:sym typeface="Georgia"/>
              </a:rPr>
              <a:t>B</a:t>
            </a:r>
            <a:endParaRPr b="0" i="0" sz="1800" u="none" cap="none" strike="noStrike">
              <a:solidFill>
                <a:schemeClr val="dk1"/>
              </a:solidFill>
              <a:latin typeface="Calibri"/>
              <a:ea typeface="Calibri"/>
              <a:cs typeface="Calibri"/>
              <a:sym typeface="Calibri"/>
            </a:endParaRPr>
          </a:p>
        </p:txBody>
      </p:sp>
      <p:sp>
        <p:nvSpPr>
          <p:cNvPr id="159" name="Google Shape;159;p19"/>
          <p:cNvSpPr/>
          <p:nvPr/>
        </p:nvSpPr>
        <p:spPr>
          <a:xfrm>
            <a:off x="3489127" y="2182564"/>
            <a:ext cx="2209062"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 sz="1100" u="none" cap="none" strike="noStrike">
                <a:solidFill>
                  <a:srgbClr val="F4F1DE"/>
                </a:solidFill>
                <a:latin typeface="Arial"/>
                <a:ea typeface="Arial"/>
                <a:cs typeface="Arial"/>
                <a:sym typeface="Arial"/>
              </a:rPr>
              <a:t>Go Deep Where It Matters</a:t>
            </a:r>
            <a:endParaRPr b="0" i="0" sz="1100" u="none" cap="none" strike="noStrike">
              <a:solidFill>
                <a:schemeClr val="dk1"/>
              </a:solidFill>
              <a:latin typeface="Calibri"/>
              <a:ea typeface="Calibri"/>
              <a:cs typeface="Calibri"/>
              <a:sym typeface="Calibri"/>
            </a:endParaRPr>
          </a:p>
        </p:txBody>
      </p:sp>
      <p:sp>
        <p:nvSpPr>
          <p:cNvPr id="160" name="Google Shape;160;p19"/>
          <p:cNvSpPr/>
          <p:nvPr/>
        </p:nvSpPr>
        <p:spPr>
          <a:xfrm>
            <a:off x="3489127" y="2398365"/>
            <a:ext cx="2209062"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Dig into the areas that are unclear or high-stakes. Call the person who knows. Check the actual numbers.</a:t>
            </a:r>
            <a:endParaRPr b="0" i="0" sz="900" u="none" cap="none" strike="noStrike">
              <a:solidFill>
                <a:schemeClr val="dk1"/>
              </a:solidFill>
              <a:latin typeface="Calibri"/>
              <a:ea typeface="Calibri"/>
              <a:cs typeface="Calibri"/>
              <a:sym typeface="Calibri"/>
            </a:endParaRPr>
          </a:p>
        </p:txBody>
      </p:sp>
      <p:sp>
        <p:nvSpPr>
          <p:cNvPr id="161" name="Google Shape;161;p19"/>
          <p:cNvSpPr/>
          <p:nvPr/>
        </p:nvSpPr>
        <p:spPr>
          <a:xfrm>
            <a:off x="3489127" y="2954536"/>
            <a:ext cx="2209062" cy="42058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850"/>
              <a:buFont typeface="Arial"/>
              <a:buNone/>
            </a:pPr>
            <a:r>
              <a:rPr b="0" i="1" lang="en" sz="850" u="none" cap="none" strike="noStrike">
                <a:solidFill>
                  <a:srgbClr val="87A96B"/>
                </a:solidFill>
                <a:latin typeface="Arial"/>
                <a:ea typeface="Arial"/>
                <a:cs typeface="Arial"/>
                <a:sym typeface="Arial"/>
              </a:rPr>
              <a:t>"Finance confirmed the budget is $40K, not $60K. That changes the whole recommendation."</a:t>
            </a:r>
            <a:endParaRPr b="0" i="0" sz="850" u="none" cap="none" strike="noStrike">
              <a:solidFill>
                <a:schemeClr val="dk1"/>
              </a:solidFill>
              <a:latin typeface="Calibri"/>
              <a:ea typeface="Calibri"/>
              <a:cs typeface="Calibri"/>
              <a:sym typeface="Calibri"/>
            </a:endParaRPr>
          </a:p>
        </p:txBody>
      </p:sp>
      <p:sp>
        <p:nvSpPr>
          <p:cNvPr id="162" name="Google Shape;162;p19"/>
          <p:cNvSpPr/>
          <p:nvPr/>
        </p:nvSpPr>
        <p:spPr>
          <a:xfrm>
            <a:off x="6045250" y="1661964"/>
            <a:ext cx="2540050" cy="2576810"/>
          </a:xfrm>
          <a:prstGeom prst="roundRect">
            <a:avLst>
              <a:gd fmla="val 3000"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3" name="Google Shape;163;p19"/>
          <p:cNvSpPr/>
          <p:nvPr/>
        </p:nvSpPr>
        <p:spPr>
          <a:xfrm>
            <a:off x="6232475" y="1849189"/>
            <a:ext cx="220891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800"/>
              <a:buFont typeface="Georgia"/>
              <a:buNone/>
            </a:pPr>
            <a:r>
              <a:rPr b="1" i="0" lang="en" sz="1800" u="none" cap="none" strike="noStrike">
                <a:solidFill>
                  <a:srgbClr val="87A96B"/>
                </a:solidFill>
                <a:latin typeface="Georgia"/>
                <a:ea typeface="Georgia"/>
                <a:cs typeface="Georgia"/>
                <a:sym typeface="Georgia"/>
              </a:rPr>
              <a:t>C</a:t>
            </a:r>
            <a:endParaRPr b="0" i="0" sz="1800" u="none" cap="none" strike="noStrike">
              <a:solidFill>
                <a:schemeClr val="dk1"/>
              </a:solidFill>
              <a:latin typeface="Calibri"/>
              <a:ea typeface="Calibri"/>
              <a:cs typeface="Calibri"/>
              <a:sym typeface="Calibri"/>
            </a:endParaRPr>
          </a:p>
        </p:txBody>
      </p:sp>
      <p:sp>
        <p:nvSpPr>
          <p:cNvPr id="164" name="Google Shape;164;p19"/>
          <p:cNvSpPr/>
          <p:nvPr/>
        </p:nvSpPr>
        <p:spPr>
          <a:xfrm>
            <a:off x="6232475" y="2182564"/>
            <a:ext cx="220891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 sz="1100" u="none" cap="none" strike="noStrike">
                <a:solidFill>
                  <a:srgbClr val="F4F1DE"/>
                </a:solidFill>
                <a:latin typeface="Arial"/>
                <a:ea typeface="Arial"/>
                <a:cs typeface="Arial"/>
                <a:sym typeface="Arial"/>
              </a:rPr>
              <a:t>Resolve Contradictions</a:t>
            </a:r>
            <a:endParaRPr b="0" i="0" sz="1100" u="none" cap="none" strike="noStrike">
              <a:solidFill>
                <a:schemeClr val="dk1"/>
              </a:solidFill>
              <a:latin typeface="Calibri"/>
              <a:ea typeface="Calibri"/>
              <a:cs typeface="Calibri"/>
              <a:sym typeface="Calibri"/>
            </a:endParaRPr>
          </a:p>
        </p:txBody>
      </p:sp>
      <p:sp>
        <p:nvSpPr>
          <p:cNvPr id="165" name="Google Shape;165;p19"/>
          <p:cNvSpPr/>
          <p:nvPr/>
        </p:nvSpPr>
        <p:spPr>
          <a:xfrm>
            <a:off x="6232475" y="2398365"/>
            <a:ext cx="2208910"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When two sources disagree, settle it now. Don't draft around a question mark — you'll just rewrite later.</a:t>
            </a:r>
            <a:endParaRPr b="0" i="0" sz="900" u="none" cap="none" strike="noStrike">
              <a:solidFill>
                <a:schemeClr val="dk1"/>
              </a:solidFill>
              <a:latin typeface="Calibri"/>
              <a:ea typeface="Calibri"/>
              <a:cs typeface="Calibri"/>
              <a:sym typeface="Calibri"/>
            </a:endParaRPr>
          </a:p>
        </p:txBody>
      </p:sp>
      <p:sp>
        <p:nvSpPr>
          <p:cNvPr id="166" name="Google Shape;166;p19"/>
          <p:cNvSpPr/>
          <p:nvPr/>
        </p:nvSpPr>
        <p:spPr>
          <a:xfrm>
            <a:off x="6232475" y="2954536"/>
            <a:ext cx="2208910" cy="42058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850"/>
              <a:buFont typeface="Arial"/>
              <a:buNone/>
            </a:pPr>
            <a:r>
              <a:rPr b="0" i="1" lang="en" sz="850" u="none" cap="none" strike="noStrike">
                <a:solidFill>
                  <a:srgbClr val="87A96B"/>
                </a:solidFill>
                <a:latin typeface="Arial"/>
                <a:ea typeface="Arial"/>
                <a:cs typeface="Arial"/>
                <a:sym typeface="Arial"/>
              </a:rPr>
              <a:t>"Marketing says 12 regions, Operations says 8. Let's get the real number before we scope this."</a:t>
            </a:r>
            <a:endParaRPr b="0" i="0" sz="850" u="none" cap="none" strike="noStrike">
              <a:solidFill>
                <a:schemeClr val="dk1"/>
              </a:solidFill>
              <a:latin typeface="Calibri"/>
              <a:ea typeface="Calibri"/>
              <a:cs typeface="Calibri"/>
              <a:sym typeface="Calibri"/>
            </a:endParaRPr>
          </a:p>
        </p:txBody>
      </p:sp>
      <p:sp>
        <p:nvSpPr>
          <p:cNvPr id="167" name="Google Shape;167;p19"/>
          <p:cNvSpPr/>
          <p:nvPr/>
        </p:nvSpPr>
        <p:spPr>
          <a:xfrm>
            <a:off x="558701" y="4365724"/>
            <a:ext cx="8026598" cy="396776"/>
          </a:xfrm>
          <a:prstGeom prst="roundRect">
            <a:avLst>
              <a:gd fmla="val 12803"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8" name="Google Shape;168;p19"/>
          <p:cNvSpPr/>
          <p:nvPr/>
        </p:nvSpPr>
        <p:spPr>
          <a:xfrm>
            <a:off x="761851" y="4492675"/>
            <a:ext cx="777270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20 minutes of gathering prevents a full day of rewriting when the facts turn out to be different than you assumed.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173" name="Shape 173"/>
        <p:cNvGrpSpPr/>
        <p:nvPr/>
      </p:nvGrpSpPr>
      <p:grpSpPr>
        <a:xfrm>
          <a:off x="0" y="0"/>
          <a:ext cx="0" cy="0"/>
          <a:chOff x="0" y="0"/>
          <a:chExt cx="0" cy="0"/>
        </a:xfrm>
      </p:grpSpPr>
      <p:sp>
        <p:nvSpPr>
          <p:cNvPr id="174" name="Google Shape;174;p20"/>
          <p:cNvSpPr/>
          <p:nvPr/>
        </p:nvSpPr>
        <p:spPr>
          <a:xfrm>
            <a:off x="0" y="0"/>
            <a:ext cx="101501" cy="5143500"/>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5" name="Google Shape;175;p20"/>
          <p:cNvSpPr/>
          <p:nvPr/>
        </p:nvSpPr>
        <p:spPr>
          <a:xfrm>
            <a:off x="457051" y="355550"/>
            <a:ext cx="849064"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6" name="Google Shape;176;p20"/>
          <p:cNvSpPr/>
          <p:nvPr/>
        </p:nvSpPr>
        <p:spPr>
          <a:xfrm>
            <a:off x="609451" y="520601"/>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STEP 2</a:t>
            </a:r>
            <a:endParaRPr b="0" i="0" sz="900" u="none" cap="none" strike="noStrike">
              <a:solidFill>
                <a:schemeClr val="dk1"/>
              </a:solidFill>
              <a:latin typeface="Calibri"/>
              <a:ea typeface="Calibri"/>
              <a:cs typeface="Calibri"/>
              <a:sym typeface="Calibri"/>
            </a:endParaRPr>
          </a:p>
        </p:txBody>
      </p:sp>
      <p:sp>
        <p:nvSpPr>
          <p:cNvPr id="177" name="Google Shape;177;p20"/>
          <p:cNvSpPr/>
          <p:nvPr/>
        </p:nvSpPr>
        <p:spPr>
          <a:xfrm>
            <a:off x="457051" y="920502"/>
            <a:ext cx="8420302"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 sz="2200" u="none" cap="none" strike="noStrike">
                <a:solidFill>
                  <a:srgbClr val="2C2C2C"/>
                </a:solidFill>
                <a:latin typeface="Georgia"/>
                <a:ea typeface="Georgia"/>
                <a:cs typeface="Georgia"/>
                <a:sym typeface="Georgia"/>
              </a:rPr>
              <a:t>Write the Outline, Not the Draft</a:t>
            </a:r>
            <a:endParaRPr b="0" i="0" sz="2200" u="none" cap="none" strike="noStrike">
              <a:solidFill>
                <a:schemeClr val="dk1"/>
              </a:solidFill>
              <a:latin typeface="Calibri"/>
              <a:ea typeface="Calibri"/>
              <a:cs typeface="Calibri"/>
              <a:sym typeface="Calibri"/>
            </a:endParaRPr>
          </a:p>
        </p:txBody>
      </p:sp>
      <p:sp>
        <p:nvSpPr>
          <p:cNvPr id="178" name="Google Shape;178;p20"/>
          <p:cNvSpPr/>
          <p:nvPr/>
        </p:nvSpPr>
        <p:spPr>
          <a:xfrm>
            <a:off x="457051" y="1285577"/>
            <a:ext cx="8420302" cy="1649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00"/>
              <a:buFont typeface="Arial"/>
              <a:buNone/>
            </a:pPr>
            <a:r>
              <a:rPr b="0" i="0" lang="en" sz="1000" u="none" cap="none" strike="noStrike">
                <a:solidFill>
                  <a:srgbClr val="666666"/>
                </a:solidFill>
                <a:latin typeface="Arial"/>
                <a:ea typeface="Arial"/>
                <a:cs typeface="Arial"/>
                <a:sym typeface="Arial"/>
              </a:rPr>
              <a:t>A strong outline answers six questions. Skip any and you'll discover the gap mid-draft.</a:t>
            </a:r>
            <a:endParaRPr b="0" i="0" sz="1000" u="none" cap="none" strike="noStrike">
              <a:solidFill>
                <a:schemeClr val="dk1"/>
              </a:solidFill>
              <a:latin typeface="Calibri"/>
              <a:ea typeface="Calibri"/>
              <a:cs typeface="Calibri"/>
              <a:sym typeface="Calibri"/>
            </a:endParaRPr>
          </a:p>
        </p:txBody>
      </p:sp>
      <p:sp>
        <p:nvSpPr>
          <p:cNvPr id="179" name="Google Shape;179;p20"/>
          <p:cNvSpPr/>
          <p:nvPr/>
        </p:nvSpPr>
        <p:spPr>
          <a:xfrm>
            <a:off x="457051" y="1602879"/>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80" name="Google Shape;180;p20"/>
          <p:cNvCxnSpPr/>
          <p:nvPr/>
        </p:nvCxnSpPr>
        <p:spPr>
          <a:xfrm>
            <a:off x="457051" y="2106513"/>
            <a:ext cx="4556968" cy="0"/>
          </a:xfrm>
          <a:prstGeom prst="straightConnector1">
            <a:avLst/>
          </a:prstGeom>
          <a:noFill/>
          <a:ln cap="flat" cmpd="sng" w="9525">
            <a:solidFill>
              <a:srgbClr val="E8E4D8"/>
            </a:solidFill>
            <a:prstDash val="solid"/>
            <a:round/>
            <a:headEnd len="sm" w="sm" type="none"/>
            <a:tailEnd len="sm" w="sm" type="none"/>
          </a:ln>
        </p:spPr>
      </p:cxnSp>
      <p:sp>
        <p:nvSpPr>
          <p:cNvPr id="181" name="Google Shape;181;p20"/>
          <p:cNvSpPr/>
          <p:nvPr/>
        </p:nvSpPr>
        <p:spPr>
          <a:xfrm>
            <a:off x="584002" y="1679079"/>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 sz="1300" u="none" cap="none" strike="noStrike">
                <a:solidFill>
                  <a:srgbClr val="E07A5F"/>
                </a:solidFill>
                <a:latin typeface="Georgia"/>
                <a:ea typeface="Georgia"/>
                <a:cs typeface="Georgia"/>
                <a:sym typeface="Georgia"/>
              </a:rPr>
              <a:t>1</a:t>
            </a:r>
            <a:endParaRPr b="0" i="0" sz="1300" u="none" cap="none" strike="noStrike">
              <a:solidFill>
                <a:schemeClr val="dk1"/>
              </a:solidFill>
              <a:latin typeface="Calibri"/>
              <a:ea typeface="Calibri"/>
              <a:cs typeface="Calibri"/>
              <a:sym typeface="Calibri"/>
            </a:endParaRPr>
          </a:p>
        </p:txBody>
      </p:sp>
      <p:sp>
        <p:nvSpPr>
          <p:cNvPr id="182" name="Google Shape;182;p20"/>
          <p:cNvSpPr/>
          <p:nvPr/>
        </p:nvSpPr>
        <p:spPr>
          <a:xfrm>
            <a:off x="888653" y="1717179"/>
            <a:ext cx="346752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What's this for and who's it for?</a:t>
            </a:r>
            <a:endParaRPr b="0" i="0" sz="1000" u="none" cap="none" strike="noStrike">
              <a:solidFill>
                <a:schemeClr val="dk1"/>
              </a:solidFill>
              <a:latin typeface="Calibri"/>
              <a:ea typeface="Calibri"/>
              <a:cs typeface="Calibri"/>
              <a:sym typeface="Calibri"/>
            </a:endParaRPr>
          </a:p>
        </p:txBody>
      </p:sp>
      <p:sp>
        <p:nvSpPr>
          <p:cNvPr id="183" name="Google Shape;183;p20"/>
          <p:cNvSpPr/>
          <p:nvPr/>
        </p:nvSpPr>
        <p:spPr>
          <a:xfrm>
            <a:off x="888653" y="1885355"/>
            <a:ext cx="346752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 sz="850" u="none" cap="none" strike="noStrike">
                <a:solidFill>
                  <a:srgbClr val="888888"/>
                </a:solidFill>
                <a:latin typeface="Arial"/>
                <a:ea typeface="Arial"/>
                <a:cs typeface="Arial"/>
                <a:sym typeface="Arial"/>
              </a:rPr>
              <a:t>The purpose in one sentence. The audience. What they need from this.</a:t>
            </a:r>
            <a:endParaRPr b="0" i="0" sz="850" u="none" cap="none" strike="noStrike">
              <a:solidFill>
                <a:schemeClr val="dk1"/>
              </a:solidFill>
              <a:latin typeface="Calibri"/>
              <a:ea typeface="Calibri"/>
              <a:cs typeface="Calibri"/>
              <a:sym typeface="Calibri"/>
            </a:endParaRPr>
          </a:p>
        </p:txBody>
      </p:sp>
      <p:sp>
        <p:nvSpPr>
          <p:cNvPr id="184" name="Google Shape;184;p20"/>
          <p:cNvSpPr/>
          <p:nvPr/>
        </p:nvSpPr>
        <p:spPr>
          <a:xfrm>
            <a:off x="457051" y="2111276"/>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85" name="Google Shape;185;p20"/>
          <p:cNvCxnSpPr/>
          <p:nvPr/>
        </p:nvCxnSpPr>
        <p:spPr>
          <a:xfrm>
            <a:off x="457051" y="2614910"/>
            <a:ext cx="4556968" cy="0"/>
          </a:xfrm>
          <a:prstGeom prst="straightConnector1">
            <a:avLst/>
          </a:prstGeom>
          <a:noFill/>
          <a:ln cap="flat" cmpd="sng" w="9525">
            <a:solidFill>
              <a:srgbClr val="E8E4D8"/>
            </a:solidFill>
            <a:prstDash val="solid"/>
            <a:round/>
            <a:headEnd len="sm" w="sm" type="none"/>
            <a:tailEnd len="sm" w="sm" type="none"/>
          </a:ln>
        </p:spPr>
      </p:cxnSp>
      <p:sp>
        <p:nvSpPr>
          <p:cNvPr id="186" name="Google Shape;186;p20"/>
          <p:cNvSpPr/>
          <p:nvPr/>
        </p:nvSpPr>
        <p:spPr>
          <a:xfrm>
            <a:off x="584002" y="2187476"/>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 sz="1300" u="none" cap="none" strike="noStrike">
                <a:solidFill>
                  <a:srgbClr val="E07A5F"/>
                </a:solidFill>
                <a:latin typeface="Georgia"/>
                <a:ea typeface="Georgia"/>
                <a:cs typeface="Georgia"/>
                <a:sym typeface="Georgia"/>
              </a:rPr>
              <a:t>2</a:t>
            </a:r>
            <a:endParaRPr b="0" i="0" sz="1300" u="none" cap="none" strike="noStrike">
              <a:solidFill>
                <a:schemeClr val="dk1"/>
              </a:solidFill>
              <a:latin typeface="Calibri"/>
              <a:ea typeface="Calibri"/>
              <a:cs typeface="Calibri"/>
              <a:sym typeface="Calibri"/>
            </a:endParaRPr>
          </a:p>
        </p:txBody>
      </p:sp>
      <p:sp>
        <p:nvSpPr>
          <p:cNvPr id="187" name="Google Shape;187;p20"/>
          <p:cNvSpPr/>
          <p:nvPr/>
        </p:nvSpPr>
        <p:spPr>
          <a:xfrm>
            <a:off x="888653" y="2225576"/>
            <a:ext cx="3977131"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What did we learn in gathering?</a:t>
            </a:r>
            <a:endParaRPr b="0" i="0" sz="1000" u="none" cap="none" strike="noStrike">
              <a:solidFill>
                <a:schemeClr val="dk1"/>
              </a:solidFill>
              <a:latin typeface="Calibri"/>
              <a:ea typeface="Calibri"/>
              <a:cs typeface="Calibri"/>
              <a:sym typeface="Calibri"/>
            </a:endParaRPr>
          </a:p>
        </p:txBody>
      </p:sp>
      <p:sp>
        <p:nvSpPr>
          <p:cNvPr id="188" name="Google Shape;188;p20"/>
          <p:cNvSpPr/>
          <p:nvPr/>
        </p:nvSpPr>
        <p:spPr>
          <a:xfrm>
            <a:off x="888653" y="2393752"/>
            <a:ext cx="3977131"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 sz="850" u="none" cap="none" strike="noStrike">
                <a:solidFill>
                  <a:srgbClr val="888888"/>
                </a:solidFill>
                <a:latin typeface="Arial"/>
                <a:ea typeface="Arial"/>
                <a:cs typeface="Arial"/>
                <a:sym typeface="Arial"/>
              </a:rPr>
              <a:t>Key facts, numbers, and anything that surprised you or contradicted assumptions.</a:t>
            </a:r>
            <a:endParaRPr b="0" i="0" sz="850" u="none" cap="none" strike="noStrike">
              <a:solidFill>
                <a:schemeClr val="dk1"/>
              </a:solidFill>
              <a:latin typeface="Calibri"/>
              <a:ea typeface="Calibri"/>
              <a:cs typeface="Calibri"/>
              <a:sym typeface="Calibri"/>
            </a:endParaRPr>
          </a:p>
        </p:txBody>
      </p:sp>
      <p:sp>
        <p:nvSpPr>
          <p:cNvPr id="189" name="Google Shape;189;p20"/>
          <p:cNvSpPr/>
          <p:nvPr/>
        </p:nvSpPr>
        <p:spPr>
          <a:xfrm>
            <a:off x="457051" y="2619673"/>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90" name="Google Shape;190;p20"/>
          <p:cNvCxnSpPr/>
          <p:nvPr/>
        </p:nvCxnSpPr>
        <p:spPr>
          <a:xfrm>
            <a:off x="457051" y="3123307"/>
            <a:ext cx="4556968" cy="0"/>
          </a:xfrm>
          <a:prstGeom prst="straightConnector1">
            <a:avLst/>
          </a:prstGeom>
          <a:noFill/>
          <a:ln cap="flat" cmpd="sng" w="9525">
            <a:solidFill>
              <a:srgbClr val="E8E4D8"/>
            </a:solidFill>
            <a:prstDash val="solid"/>
            <a:round/>
            <a:headEnd len="sm" w="sm" type="none"/>
            <a:tailEnd len="sm" w="sm" type="none"/>
          </a:ln>
        </p:spPr>
      </p:cxnSp>
      <p:sp>
        <p:nvSpPr>
          <p:cNvPr id="191" name="Google Shape;191;p20"/>
          <p:cNvSpPr/>
          <p:nvPr/>
        </p:nvSpPr>
        <p:spPr>
          <a:xfrm>
            <a:off x="584002" y="2695873"/>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 sz="1300" u="none" cap="none" strike="noStrike">
                <a:solidFill>
                  <a:srgbClr val="E07A5F"/>
                </a:solidFill>
                <a:latin typeface="Georgia"/>
                <a:ea typeface="Georgia"/>
                <a:cs typeface="Georgia"/>
                <a:sym typeface="Georgia"/>
              </a:rPr>
              <a:t>3</a:t>
            </a:r>
            <a:endParaRPr b="0" i="0" sz="1300" u="none" cap="none" strike="noStrike">
              <a:solidFill>
                <a:schemeClr val="dk1"/>
              </a:solidFill>
              <a:latin typeface="Calibri"/>
              <a:ea typeface="Calibri"/>
              <a:cs typeface="Calibri"/>
              <a:sym typeface="Calibri"/>
            </a:endParaRPr>
          </a:p>
        </p:txBody>
      </p:sp>
      <p:sp>
        <p:nvSpPr>
          <p:cNvPr id="192" name="Google Shape;192;p20"/>
          <p:cNvSpPr/>
          <p:nvPr/>
        </p:nvSpPr>
        <p:spPr>
          <a:xfrm>
            <a:off x="888653" y="2733973"/>
            <a:ext cx="361052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What's the recommendation or structure?</a:t>
            </a:r>
            <a:endParaRPr b="0" i="0" sz="1000" u="none" cap="none" strike="noStrike">
              <a:solidFill>
                <a:schemeClr val="dk1"/>
              </a:solidFill>
              <a:latin typeface="Calibri"/>
              <a:ea typeface="Calibri"/>
              <a:cs typeface="Calibri"/>
              <a:sym typeface="Calibri"/>
            </a:endParaRPr>
          </a:p>
        </p:txBody>
      </p:sp>
      <p:sp>
        <p:nvSpPr>
          <p:cNvPr id="193" name="Google Shape;193;p20"/>
          <p:cNvSpPr/>
          <p:nvPr/>
        </p:nvSpPr>
        <p:spPr>
          <a:xfrm>
            <a:off x="888653" y="2902148"/>
            <a:ext cx="361052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 sz="850" u="none" cap="none" strike="noStrike">
                <a:solidFill>
                  <a:srgbClr val="888888"/>
                </a:solidFill>
                <a:latin typeface="Arial"/>
                <a:ea typeface="Arial"/>
                <a:cs typeface="Arial"/>
                <a:sym typeface="Arial"/>
              </a:rPr>
              <a:t>The core argument, approach, or framework you're going with — and why.</a:t>
            </a:r>
            <a:endParaRPr b="0" i="0" sz="850" u="none" cap="none" strike="noStrike">
              <a:solidFill>
                <a:schemeClr val="dk1"/>
              </a:solidFill>
              <a:latin typeface="Calibri"/>
              <a:ea typeface="Calibri"/>
              <a:cs typeface="Calibri"/>
              <a:sym typeface="Calibri"/>
            </a:endParaRPr>
          </a:p>
        </p:txBody>
      </p:sp>
      <p:sp>
        <p:nvSpPr>
          <p:cNvPr id="194" name="Google Shape;194;p20"/>
          <p:cNvSpPr/>
          <p:nvPr/>
        </p:nvSpPr>
        <p:spPr>
          <a:xfrm>
            <a:off x="457051" y="3128070"/>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95" name="Google Shape;195;p20"/>
          <p:cNvCxnSpPr/>
          <p:nvPr/>
        </p:nvCxnSpPr>
        <p:spPr>
          <a:xfrm>
            <a:off x="457051" y="3631704"/>
            <a:ext cx="4556968" cy="0"/>
          </a:xfrm>
          <a:prstGeom prst="straightConnector1">
            <a:avLst/>
          </a:prstGeom>
          <a:noFill/>
          <a:ln cap="flat" cmpd="sng" w="9525">
            <a:solidFill>
              <a:srgbClr val="E8E4D8"/>
            </a:solidFill>
            <a:prstDash val="solid"/>
            <a:round/>
            <a:headEnd len="sm" w="sm" type="none"/>
            <a:tailEnd len="sm" w="sm" type="none"/>
          </a:ln>
        </p:spPr>
      </p:cxnSp>
      <p:sp>
        <p:nvSpPr>
          <p:cNvPr id="196" name="Google Shape;196;p20"/>
          <p:cNvSpPr/>
          <p:nvPr/>
        </p:nvSpPr>
        <p:spPr>
          <a:xfrm>
            <a:off x="584002" y="3204270"/>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 sz="1300" u="none" cap="none" strike="noStrike">
                <a:solidFill>
                  <a:srgbClr val="E07A5F"/>
                </a:solidFill>
                <a:latin typeface="Georgia"/>
                <a:ea typeface="Georgia"/>
                <a:cs typeface="Georgia"/>
                <a:sym typeface="Georgia"/>
              </a:rPr>
              <a:t>4</a:t>
            </a:r>
            <a:endParaRPr b="0" i="0" sz="1300" u="none" cap="none" strike="noStrike">
              <a:solidFill>
                <a:schemeClr val="dk1"/>
              </a:solidFill>
              <a:latin typeface="Calibri"/>
              <a:ea typeface="Calibri"/>
              <a:cs typeface="Calibri"/>
              <a:sym typeface="Calibri"/>
            </a:endParaRPr>
          </a:p>
        </p:txBody>
      </p:sp>
      <p:sp>
        <p:nvSpPr>
          <p:cNvPr id="197" name="Google Shape;197;p20"/>
          <p:cNvSpPr/>
          <p:nvPr/>
        </p:nvSpPr>
        <p:spPr>
          <a:xfrm>
            <a:off x="888653" y="3242370"/>
            <a:ext cx="3741530"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Who writes what?</a:t>
            </a:r>
            <a:endParaRPr b="0" i="0" sz="1000" u="none" cap="none" strike="noStrike">
              <a:solidFill>
                <a:schemeClr val="dk1"/>
              </a:solidFill>
              <a:latin typeface="Calibri"/>
              <a:ea typeface="Calibri"/>
              <a:cs typeface="Calibri"/>
              <a:sym typeface="Calibri"/>
            </a:endParaRPr>
          </a:p>
        </p:txBody>
      </p:sp>
      <p:sp>
        <p:nvSpPr>
          <p:cNvPr id="198" name="Google Shape;198;p20"/>
          <p:cNvSpPr/>
          <p:nvPr/>
        </p:nvSpPr>
        <p:spPr>
          <a:xfrm>
            <a:off x="888653" y="3410545"/>
            <a:ext cx="3741530"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 sz="850" u="none" cap="none" strike="noStrike">
                <a:solidFill>
                  <a:srgbClr val="888888"/>
                </a:solidFill>
                <a:latin typeface="Arial"/>
                <a:ea typeface="Arial"/>
                <a:cs typeface="Arial"/>
                <a:sym typeface="Arial"/>
              </a:rPr>
              <a:t>Each section has one owner. No confusion about who's responsible for what.</a:t>
            </a:r>
            <a:endParaRPr b="0" i="0" sz="850" u="none" cap="none" strike="noStrike">
              <a:solidFill>
                <a:schemeClr val="dk1"/>
              </a:solidFill>
              <a:latin typeface="Calibri"/>
              <a:ea typeface="Calibri"/>
              <a:cs typeface="Calibri"/>
              <a:sym typeface="Calibri"/>
            </a:endParaRPr>
          </a:p>
        </p:txBody>
      </p:sp>
      <p:sp>
        <p:nvSpPr>
          <p:cNvPr id="199" name="Google Shape;199;p20"/>
          <p:cNvSpPr/>
          <p:nvPr/>
        </p:nvSpPr>
        <p:spPr>
          <a:xfrm>
            <a:off x="457051" y="3636466"/>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00" name="Google Shape;200;p20"/>
          <p:cNvCxnSpPr/>
          <p:nvPr/>
        </p:nvCxnSpPr>
        <p:spPr>
          <a:xfrm>
            <a:off x="457051" y="4140101"/>
            <a:ext cx="4556968" cy="0"/>
          </a:xfrm>
          <a:prstGeom prst="straightConnector1">
            <a:avLst/>
          </a:prstGeom>
          <a:noFill/>
          <a:ln cap="flat" cmpd="sng" w="9525">
            <a:solidFill>
              <a:srgbClr val="E8E4D8"/>
            </a:solidFill>
            <a:prstDash val="solid"/>
            <a:round/>
            <a:headEnd len="sm" w="sm" type="none"/>
            <a:tailEnd len="sm" w="sm" type="none"/>
          </a:ln>
        </p:spPr>
      </p:cxnSp>
      <p:sp>
        <p:nvSpPr>
          <p:cNvPr id="201" name="Google Shape;201;p20"/>
          <p:cNvSpPr/>
          <p:nvPr/>
        </p:nvSpPr>
        <p:spPr>
          <a:xfrm>
            <a:off x="584002" y="3712666"/>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 sz="1300" u="none" cap="none" strike="noStrike">
                <a:solidFill>
                  <a:srgbClr val="E07A5F"/>
                </a:solidFill>
                <a:latin typeface="Georgia"/>
                <a:ea typeface="Georgia"/>
                <a:cs typeface="Georgia"/>
                <a:sym typeface="Georgia"/>
              </a:rPr>
              <a:t>5</a:t>
            </a:r>
            <a:endParaRPr b="0" i="0" sz="1300" u="none" cap="none" strike="noStrike">
              <a:solidFill>
                <a:schemeClr val="dk1"/>
              </a:solidFill>
              <a:latin typeface="Calibri"/>
              <a:ea typeface="Calibri"/>
              <a:cs typeface="Calibri"/>
              <a:sym typeface="Calibri"/>
            </a:endParaRPr>
          </a:p>
        </p:txBody>
      </p:sp>
      <p:sp>
        <p:nvSpPr>
          <p:cNvPr id="202" name="Google Shape;202;p20"/>
          <p:cNvSpPr/>
          <p:nvPr/>
        </p:nvSpPr>
        <p:spPr>
          <a:xfrm>
            <a:off x="888653" y="3750766"/>
            <a:ext cx="352475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What's the timeline?</a:t>
            </a:r>
            <a:endParaRPr b="0" i="0" sz="1000" u="none" cap="none" strike="noStrike">
              <a:solidFill>
                <a:schemeClr val="dk1"/>
              </a:solidFill>
              <a:latin typeface="Calibri"/>
              <a:ea typeface="Calibri"/>
              <a:cs typeface="Calibri"/>
              <a:sym typeface="Calibri"/>
            </a:endParaRPr>
          </a:p>
        </p:txBody>
      </p:sp>
      <p:sp>
        <p:nvSpPr>
          <p:cNvPr id="203" name="Google Shape;203;p20"/>
          <p:cNvSpPr/>
          <p:nvPr/>
        </p:nvSpPr>
        <p:spPr>
          <a:xfrm>
            <a:off x="888653" y="3918942"/>
            <a:ext cx="352475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 sz="850" u="none" cap="none" strike="noStrike">
                <a:solidFill>
                  <a:srgbClr val="888888"/>
                </a:solidFill>
                <a:latin typeface="Arial"/>
                <a:ea typeface="Arial"/>
                <a:cs typeface="Arial"/>
                <a:sym typeface="Arial"/>
              </a:rPr>
              <a:t>When are drafts due? When does review happen? When does it go out?</a:t>
            </a:r>
            <a:endParaRPr b="0" i="0" sz="850" u="none" cap="none" strike="noStrike">
              <a:solidFill>
                <a:schemeClr val="dk1"/>
              </a:solidFill>
              <a:latin typeface="Calibri"/>
              <a:ea typeface="Calibri"/>
              <a:cs typeface="Calibri"/>
              <a:sym typeface="Calibri"/>
            </a:endParaRPr>
          </a:p>
        </p:txBody>
      </p:sp>
      <p:sp>
        <p:nvSpPr>
          <p:cNvPr id="204" name="Google Shape;204;p20"/>
          <p:cNvSpPr/>
          <p:nvPr/>
        </p:nvSpPr>
        <p:spPr>
          <a:xfrm>
            <a:off x="457051" y="4144863"/>
            <a:ext cx="4556968" cy="50839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05" name="Google Shape;205;p20"/>
          <p:cNvCxnSpPr/>
          <p:nvPr/>
        </p:nvCxnSpPr>
        <p:spPr>
          <a:xfrm>
            <a:off x="457051" y="4648498"/>
            <a:ext cx="4556968" cy="0"/>
          </a:xfrm>
          <a:prstGeom prst="straightConnector1">
            <a:avLst/>
          </a:prstGeom>
          <a:noFill/>
          <a:ln cap="flat" cmpd="sng" w="9525">
            <a:solidFill>
              <a:srgbClr val="E8E4D8"/>
            </a:solidFill>
            <a:prstDash val="solid"/>
            <a:round/>
            <a:headEnd len="sm" w="sm" type="none"/>
            <a:tailEnd len="sm" w="sm" type="none"/>
          </a:ln>
        </p:spPr>
      </p:cxnSp>
      <p:sp>
        <p:nvSpPr>
          <p:cNvPr id="206" name="Google Shape;206;p20"/>
          <p:cNvSpPr/>
          <p:nvPr/>
        </p:nvSpPr>
        <p:spPr>
          <a:xfrm>
            <a:off x="584002" y="4221063"/>
            <a:ext cx="207213"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300"/>
              <a:buFont typeface="Georgia"/>
              <a:buNone/>
            </a:pPr>
            <a:r>
              <a:rPr b="1" i="0" lang="en" sz="1300" u="none" cap="none" strike="noStrike">
                <a:solidFill>
                  <a:srgbClr val="E07A5F"/>
                </a:solidFill>
                <a:latin typeface="Georgia"/>
                <a:ea typeface="Georgia"/>
                <a:cs typeface="Georgia"/>
                <a:sym typeface="Georgia"/>
              </a:rPr>
              <a:t>6</a:t>
            </a:r>
            <a:endParaRPr b="0" i="0" sz="1300" u="none" cap="none" strike="noStrike">
              <a:solidFill>
                <a:schemeClr val="dk1"/>
              </a:solidFill>
              <a:latin typeface="Calibri"/>
              <a:ea typeface="Calibri"/>
              <a:cs typeface="Calibri"/>
              <a:sym typeface="Calibri"/>
            </a:endParaRPr>
          </a:p>
        </p:txBody>
      </p:sp>
      <p:sp>
        <p:nvSpPr>
          <p:cNvPr id="207" name="Google Shape;207;p20"/>
          <p:cNvSpPr/>
          <p:nvPr/>
        </p:nvSpPr>
        <p:spPr>
          <a:xfrm>
            <a:off x="888653" y="4259163"/>
            <a:ext cx="331875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How will we know it's done?</a:t>
            </a:r>
            <a:endParaRPr b="0" i="0" sz="1000" u="none" cap="none" strike="noStrike">
              <a:solidFill>
                <a:schemeClr val="dk1"/>
              </a:solidFill>
              <a:latin typeface="Calibri"/>
              <a:ea typeface="Calibri"/>
              <a:cs typeface="Calibri"/>
              <a:sym typeface="Calibri"/>
            </a:endParaRPr>
          </a:p>
        </p:txBody>
      </p:sp>
      <p:sp>
        <p:nvSpPr>
          <p:cNvPr id="208" name="Google Shape;208;p20"/>
          <p:cNvSpPr/>
          <p:nvPr/>
        </p:nvSpPr>
        <p:spPr>
          <a:xfrm>
            <a:off x="888653" y="4427339"/>
            <a:ext cx="3318754"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88888"/>
              </a:buClr>
              <a:buSzPts val="850"/>
              <a:buFont typeface="Arial"/>
              <a:buNone/>
            </a:pPr>
            <a:r>
              <a:rPr b="0" i="0" lang="en" sz="850" u="none" cap="none" strike="noStrike">
                <a:solidFill>
                  <a:srgbClr val="888888"/>
                </a:solidFill>
                <a:latin typeface="Arial"/>
                <a:ea typeface="Arial"/>
                <a:cs typeface="Arial"/>
                <a:sym typeface="Arial"/>
              </a:rPr>
              <a:t>Specific criteria. Not "looks good" — real checkpoints you can verify.</a:t>
            </a:r>
            <a:endParaRPr b="0" i="0" sz="850" u="none" cap="none" strike="noStrike">
              <a:solidFill>
                <a:schemeClr val="dk1"/>
              </a:solidFill>
              <a:latin typeface="Calibri"/>
              <a:ea typeface="Calibri"/>
              <a:cs typeface="Calibri"/>
              <a:sym typeface="Calibri"/>
            </a:endParaRPr>
          </a:p>
        </p:txBody>
      </p:sp>
      <p:sp>
        <p:nvSpPr>
          <p:cNvPr id="209" name="Google Shape;209;p20"/>
          <p:cNvSpPr/>
          <p:nvPr/>
        </p:nvSpPr>
        <p:spPr>
          <a:xfrm>
            <a:off x="5217170" y="1602879"/>
            <a:ext cx="3495080" cy="3185071"/>
          </a:xfrm>
          <a:prstGeom prst="roundRect">
            <a:avLst>
              <a:gd fmla="val 2392"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p:nvPr/>
        </p:nvSpPr>
        <p:spPr>
          <a:xfrm>
            <a:off x="5445770" y="2297162"/>
            <a:ext cx="3098637"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00"/>
              <a:buFont typeface="Arial"/>
              <a:buNone/>
            </a:pPr>
            <a:r>
              <a:rPr b="1" i="0" lang="en" sz="900" u="none" cap="none" strike="noStrike">
                <a:solidFill>
                  <a:srgbClr val="E07A5F"/>
                </a:solidFill>
                <a:latin typeface="Arial"/>
                <a:ea typeface="Arial"/>
                <a:cs typeface="Arial"/>
                <a:sym typeface="Arial"/>
              </a:rPr>
              <a:t>THE GOLD STANDARD</a:t>
            </a:r>
            <a:endParaRPr b="0" i="0" sz="900" u="none" cap="none" strike="noStrike">
              <a:solidFill>
                <a:schemeClr val="dk1"/>
              </a:solidFill>
              <a:latin typeface="Calibri"/>
              <a:ea typeface="Calibri"/>
              <a:cs typeface="Calibri"/>
              <a:sym typeface="Calibri"/>
            </a:endParaRPr>
          </a:p>
        </p:txBody>
      </p:sp>
      <p:sp>
        <p:nvSpPr>
          <p:cNvPr id="211" name="Google Shape;211;p20"/>
          <p:cNvSpPr/>
          <p:nvPr/>
        </p:nvSpPr>
        <p:spPr>
          <a:xfrm>
            <a:off x="5445770" y="2557463"/>
            <a:ext cx="3098637" cy="63981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DE"/>
              </a:buClr>
              <a:buSzPts val="1200"/>
              <a:buFont typeface="Georgia"/>
              <a:buNone/>
            </a:pPr>
            <a:r>
              <a:rPr b="0" i="1" lang="en" sz="1200" u="none" cap="none" strike="noStrike">
                <a:solidFill>
                  <a:srgbClr val="F4F1DE"/>
                </a:solidFill>
                <a:latin typeface="Georgia"/>
                <a:ea typeface="Georgia"/>
                <a:cs typeface="Georgia"/>
                <a:sym typeface="Georgia"/>
              </a:rPr>
              <a:t>Could a colleague pick up this outline and write their section without asking you a single question?</a:t>
            </a:r>
            <a:endParaRPr b="0" i="0" sz="1200" u="none" cap="none" strike="noStrike">
              <a:solidFill>
                <a:schemeClr val="dk1"/>
              </a:solidFill>
              <a:latin typeface="Calibri"/>
              <a:ea typeface="Calibri"/>
              <a:cs typeface="Calibri"/>
              <a:sym typeface="Calibri"/>
            </a:endParaRPr>
          </a:p>
        </p:txBody>
      </p:sp>
      <p:sp>
        <p:nvSpPr>
          <p:cNvPr id="212" name="Google Shape;212;p20"/>
          <p:cNvSpPr/>
          <p:nvPr/>
        </p:nvSpPr>
        <p:spPr>
          <a:xfrm>
            <a:off x="5445770" y="3324225"/>
            <a:ext cx="3098637"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If yes, it's ready. If they'd need to come find you for clarification, keep refining.</a:t>
            </a:r>
            <a:endParaRPr b="0" i="0" sz="900" u="none" cap="none" strike="noStrike">
              <a:solidFill>
                <a:schemeClr val="dk1"/>
              </a:solidFill>
              <a:latin typeface="Calibri"/>
              <a:ea typeface="Calibri"/>
              <a:cs typeface="Calibri"/>
              <a:sym typeface="Calibri"/>
            </a:endParaRPr>
          </a:p>
        </p:txBody>
      </p:sp>
      <p:sp>
        <p:nvSpPr>
          <p:cNvPr id="213" name="Google Shape;213;p20"/>
          <p:cNvSpPr/>
          <p:nvPr/>
        </p:nvSpPr>
        <p:spPr>
          <a:xfrm>
            <a:off x="5445770" y="3796605"/>
            <a:ext cx="3098637"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00"/>
              <a:buFont typeface="Arial"/>
              <a:buNone/>
            </a:pPr>
            <a:r>
              <a:rPr b="0" i="1" lang="en" sz="900" u="none" cap="none" strike="noStrike">
                <a:solidFill>
                  <a:srgbClr val="87A96B"/>
                </a:solidFill>
                <a:latin typeface="Arial"/>
                <a:ea typeface="Arial"/>
                <a:cs typeface="Arial"/>
                <a:sym typeface="Arial"/>
              </a:rPr>
              <a:t>Think of it like a recipe: ingredients, steps, timing, and what to watch out for — all in one place.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218" name="Shape 218"/>
        <p:cNvGrpSpPr/>
        <p:nvPr/>
      </p:nvGrpSpPr>
      <p:grpSpPr>
        <a:xfrm>
          <a:off x="0" y="0"/>
          <a:ext cx="0" cy="0"/>
          <a:chOff x="0" y="0"/>
          <a:chExt cx="0" cy="0"/>
        </a:xfrm>
      </p:grpSpPr>
      <p:sp>
        <p:nvSpPr>
          <p:cNvPr id="219" name="Google Shape;219;p21"/>
          <p:cNvSpPr/>
          <p:nvPr/>
        </p:nvSpPr>
        <p:spPr>
          <a:xfrm>
            <a:off x="558701" y="381000"/>
            <a:ext cx="1490365"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0" name="Google Shape;220;p21"/>
          <p:cNvSpPr/>
          <p:nvPr/>
        </p:nvSpPr>
        <p:spPr>
          <a:xfrm>
            <a:off x="711101" y="546050"/>
            <a:ext cx="1209276"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THE KEY SKILL</a:t>
            </a:r>
            <a:endParaRPr b="0" i="0" sz="900" u="none" cap="none" strike="noStrike">
              <a:solidFill>
                <a:schemeClr val="dk1"/>
              </a:solidFill>
              <a:latin typeface="Calibri"/>
              <a:ea typeface="Calibri"/>
              <a:cs typeface="Calibri"/>
              <a:sym typeface="Calibri"/>
            </a:endParaRPr>
          </a:p>
        </p:txBody>
      </p:sp>
      <p:sp>
        <p:nvSpPr>
          <p:cNvPr id="221" name="Google Shape;221;p21"/>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 sz="2200" u="none" cap="none" strike="noStrike">
                <a:solidFill>
                  <a:srgbClr val="F4F1DE"/>
                </a:solidFill>
                <a:latin typeface="Georgia"/>
                <a:ea typeface="Georgia"/>
                <a:cs typeface="Georgia"/>
                <a:sym typeface="Georgia"/>
              </a:rPr>
              <a:t>Know What "Done" Looks Like</a:t>
            </a:r>
            <a:endParaRPr b="0" i="0" sz="2200" u="none" cap="none" strike="noStrike">
              <a:solidFill>
                <a:schemeClr val="dk1"/>
              </a:solidFill>
              <a:latin typeface="Calibri"/>
              <a:ea typeface="Calibri"/>
              <a:cs typeface="Calibri"/>
              <a:sym typeface="Calibri"/>
            </a:endParaRPr>
          </a:p>
        </p:txBody>
      </p:sp>
      <p:sp>
        <p:nvSpPr>
          <p:cNvPr id="222" name="Google Shape;222;p21"/>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 sz="1050" u="none" cap="none" strike="noStrike">
                <a:solidFill>
                  <a:srgbClr val="AAAAAA"/>
                </a:solidFill>
                <a:latin typeface="Arial"/>
                <a:ea typeface="Arial"/>
                <a:cs typeface="Arial"/>
                <a:sym typeface="Arial"/>
              </a:rPr>
              <a:t>The most powerful planning skill: write criteria anyone can check — with no debate about whether they're met.</a:t>
            </a:r>
            <a:endParaRPr b="0" i="0" sz="1050" u="none" cap="none" strike="noStrike">
              <a:solidFill>
                <a:schemeClr val="dk1"/>
              </a:solidFill>
              <a:latin typeface="Calibri"/>
              <a:ea typeface="Calibri"/>
              <a:cs typeface="Calibri"/>
              <a:sym typeface="Calibri"/>
            </a:endParaRPr>
          </a:p>
        </p:txBody>
      </p:sp>
      <p:sp>
        <p:nvSpPr>
          <p:cNvPr id="223" name="Google Shape;223;p21"/>
          <p:cNvSpPr/>
          <p:nvPr/>
        </p:nvSpPr>
        <p:spPr>
          <a:xfrm>
            <a:off x="558701" y="1661964"/>
            <a:ext cx="3898999" cy="320576"/>
          </a:xfrm>
          <a:prstGeom prst="roundRect">
            <a:avLst>
              <a:gd fmla="val 15846"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4" name="Google Shape;224;p21"/>
          <p:cNvSpPr/>
          <p:nvPr/>
        </p:nvSpPr>
        <p:spPr>
          <a:xfrm>
            <a:off x="711101" y="1750814"/>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VAGUE CRITERIA</a:t>
            </a:r>
            <a:endParaRPr b="0" i="0" sz="1000" u="none" cap="none" strike="noStrike">
              <a:solidFill>
                <a:schemeClr val="dk1"/>
              </a:solidFill>
              <a:latin typeface="Calibri"/>
              <a:ea typeface="Calibri"/>
              <a:cs typeface="Calibri"/>
              <a:sym typeface="Calibri"/>
            </a:endParaRPr>
          </a:p>
        </p:txBody>
      </p:sp>
      <p:sp>
        <p:nvSpPr>
          <p:cNvPr id="225" name="Google Shape;225;p21"/>
          <p:cNvSpPr/>
          <p:nvPr/>
        </p:nvSpPr>
        <p:spPr>
          <a:xfrm>
            <a:off x="558701" y="1982539"/>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26" name="Google Shape;226;p21"/>
          <p:cNvCxnSpPr/>
          <p:nvPr/>
        </p:nvCxnSpPr>
        <p:spPr>
          <a:xfrm>
            <a:off x="558701" y="2473375"/>
            <a:ext cx="3898999" cy="0"/>
          </a:xfrm>
          <a:prstGeom prst="straightConnector1">
            <a:avLst/>
          </a:prstGeom>
          <a:noFill/>
          <a:ln cap="flat" cmpd="sng" w="9525">
            <a:solidFill>
              <a:srgbClr val="444444"/>
            </a:solidFill>
            <a:prstDash val="solid"/>
            <a:round/>
            <a:headEnd len="sm" w="sm" type="none"/>
            <a:tailEnd len="sm" w="sm" type="none"/>
          </a:ln>
        </p:spPr>
      </p:cxnSp>
      <p:sp>
        <p:nvSpPr>
          <p:cNvPr id="227" name="Google Shape;227;p21"/>
          <p:cNvSpPr/>
          <p:nvPr/>
        </p:nvSpPr>
        <p:spPr>
          <a:xfrm>
            <a:off x="711101" y="2071390"/>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 sz="1000" u="none" cap="none" strike="noStrike">
                <a:solidFill>
                  <a:srgbClr val="E07A5F"/>
                </a:solidFill>
                <a:latin typeface="Arial"/>
                <a:ea typeface="Arial"/>
                <a:cs typeface="Arial"/>
                <a:sym typeface="Arial"/>
              </a:rPr>
              <a:t>"Make it compelling"</a:t>
            </a:r>
            <a:endParaRPr b="0" i="0" sz="1000" u="none" cap="none" strike="noStrike">
              <a:solidFill>
                <a:schemeClr val="dk1"/>
              </a:solidFill>
              <a:latin typeface="Calibri"/>
              <a:ea typeface="Calibri"/>
              <a:cs typeface="Calibri"/>
              <a:sym typeface="Calibri"/>
            </a:endParaRPr>
          </a:p>
        </p:txBody>
      </p:sp>
      <p:sp>
        <p:nvSpPr>
          <p:cNvPr id="228" name="Google Shape;228;p21"/>
          <p:cNvSpPr/>
          <p:nvPr/>
        </p:nvSpPr>
        <p:spPr>
          <a:xfrm>
            <a:off x="711101" y="2239566"/>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Compelling to whom? Your idea of compelling isn't mine.</a:t>
            </a:r>
            <a:endParaRPr b="0" i="0" sz="850" u="none" cap="none" strike="noStrike">
              <a:solidFill>
                <a:schemeClr val="dk1"/>
              </a:solidFill>
              <a:latin typeface="Calibri"/>
              <a:ea typeface="Calibri"/>
              <a:cs typeface="Calibri"/>
              <a:sym typeface="Calibri"/>
            </a:endParaRPr>
          </a:p>
        </p:txBody>
      </p:sp>
      <p:sp>
        <p:nvSpPr>
          <p:cNvPr id="229" name="Google Shape;229;p21"/>
          <p:cNvSpPr/>
          <p:nvPr/>
        </p:nvSpPr>
        <p:spPr>
          <a:xfrm>
            <a:off x="558701" y="2478137"/>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30" name="Google Shape;230;p21"/>
          <p:cNvCxnSpPr/>
          <p:nvPr/>
        </p:nvCxnSpPr>
        <p:spPr>
          <a:xfrm>
            <a:off x="558701" y="2968972"/>
            <a:ext cx="3898999" cy="0"/>
          </a:xfrm>
          <a:prstGeom prst="straightConnector1">
            <a:avLst/>
          </a:prstGeom>
          <a:noFill/>
          <a:ln cap="flat" cmpd="sng" w="9525">
            <a:solidFill>
              <a:srgbClr val="444444"/>
            </a:solidFill>
            <a:prstDash val="solid"/>
            <a:round/>
            <a:headEnd len="sm" w="sm" type="none"/>
            <a:tailEnd len="sm" w="sm" type="none"/>
          </a:ln>
        </p:spPr>
      </p:cxnSp>
      <p:sp>
        <p:nvSpPr>
          <p:cNvPr id="231" name="Google Shape;231;p21"/>
          <p:cNvSpPr/>
          <p:nvPr/>
        </p:nvSpPr>
        <p:spPr>
          <a:xfrm>
            <a:off x="711101" y="2566988"/>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 sz="1000" u="none" cap="none" strike="noStrike">
                <a:solidFill>
                  <a:srgbClr val="E07A5F"/>
                </a:solidFill>
                <a:latin typeface="Arial"/>
                <a:ea typeface="Arial"/>
                <a:cs typeface="Arial"/>
                <a:sym typeface="Arial"/>
              </a:rPr>
              <a:t>"Clean it up"</a:t>
            </a:r>
            <a:endParaRPr b="0" i="0" sz="1000" u="none" cap="none" strike="noStrike">
              <a:solidFill>
                <a:schemeClr val="dk1"/>
              </a:solidFill>
              <a:latin typeface="Calibri"/>
              <a:ea typeface="Calibri"/>
              <a:cs typeface="Calibri"/>
              <a:sym typeface="Calibri"/>
            </a:endParaRPr>
          </a:p>
        </p:txBody>
      </p:sp>
      <p:sp>
        <p:nvSpPr>
          <p:cNvPr id="232" name="Google Shape;232;p21"/>
          <p:cNvSpPr/>
          <p:nvPr/>
        </p:nvSpPr>
        <p:spPr>
          <a:xfrm>
            <a:off x="711101" y="2735163"/>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Does that mean formatting? Rewriting? Shortening? All three?</a:t>
            </a:r>
            <a:endParaRPr b="0" i="0" sz="850" u="none" cap="none" strike="noStrike">
              <a:solidFill>
                <a:schemeClr val="dk1"/>
              </a:solidFill>
              <a:latin typeface="Calibri"/>
              <a:ea typeface="Calibri"/>
              <a:cs typeface="Calibri"/>
              <a:sym typeface="Calibri"/>
            </a:endParaRPr>
          </a:p>
        </p:txBody>
      </p:sp>
      <p:sp>
        <p:nvSpPr>
          <p:cNvPr id="233" name="Google Shape;233;p21"/>
          <p:cNvSpPr/>
          <p:nvPr/>
        </p:nvSpPr>
        <p:spPr>
          <a:xfrm>
            <a:off x="558701" y="2973735"/>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34" name="Google Shape;234;p21"/>
          <p:cNvCxnSpPr/>
          <p:nvPr/>
        </p:nvCxnSpPr>
        <p:spPr>
          <a:xfrm>
            <a:off x="558701" y="3464570"/>
            <a:ext cx="3898999" cy="0"/>
          </a:xfrm>
          <a:prstGeom prst="straightConnector1">
            <a:avLst/>
          </a:prstGeom>
          <a:noFill/>
          <a:ln cap="flat" cmpd="sng" w="9525">
            <a:solidFill>
              <a:srgbClr val="444444"/>
            </a:solidFill>
            <a:prstDash val="solid"/>
            <a:round/>
            <a:headEnd len="sm" w="sm" type="none"/>
            <a:tailEnd len="sm" w="sm" type="none"/>
          </a:ln>
        </p:spPr>
      </p:cxnSp>
      <p:sp>
        <p:nvSpPr>
          <p:cNvPr id="235" name="Google Shape;235;p21"/>
          <p:cNvSpPr/>
          <p:nvPr/>
        </p:nvSpPr>
        <p:spPr>
          <a:xfrm>
            <a:off x="711101" y="3062585"/>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 sz="1000" u="none" cap="none" strike="noStrike">
                <a:solidFill>
                  <a:srgbClr val="E07A5F"/>
                </a:solidFill>
                <a:latin typeface="Arial"/>
                <a:ea typeface="Arial"/>
                <a:cs typeface="Arial"/>
                <a:sym typeface="Arial"/>
              </a:rPr>
              <a:t>"Make sure the numbers work"</a:t>
            </a:r>
            <a:endParaRPr b="0" i="0" sz="1000" u="none" cap="none" strike="noStrike">
              <a:solidFill>
                <a:schemeClr val="dk1"/>
              </a:solidFill>
              <a:latin typeface="Calibri"/>
              <a:ea typeface="Calibri"/>
              <a:cs typeface="Calibri"/>
              <a:sym typeface="Calibri"/>
            </a:endParaRPr>
          </a:p>
        </p:txBody>
      </p:sp>
      <p:sp>
        <p:nvSpPr>
          <p:cNvPr id="236" name="Google Shape;236;p21"/>
          <p:cNvSpPr/>
          <p:nvPr/>
        </p:nvSpPr>
        <p:spPr>
          <a:xfrm>
            <a:off x="711101" y="3230761"/>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Which numbers? Against what source? To what precision?</a:t>
            </a:r>
            <a:endParaRPr b="0" i="0" sz="850" u="none" cap="none" strike="noStrike">
              <a:solidFill>
                <a:schemeClr val="dk1"/>
              </a:solidFill>
              <a:latin typeface="Calibri"/>
              <a:ea typeface="Calibri"/>
              <a:cs typeface="Calibri"/>
              <a:sym typeface="Calibri"/>
            </a:endParaRPr>
          </a:p>
        </p:txBody>
      </p:sp>
      <p:sp>
        <p:nvSpPr>
          <p:cNvPr id="237" name="Google Shape;237;p21"/>
          <p:cNvSpPr/>
          <p:nvPr/>
        </p:nvSpPr>
        <p:spPr>
          <a:xfrm>
            <a:off x="558701" y="3469332"/>
            <a:ext cx="3898999" cy="495598"/>
          </a:xfrm>
          <a:prstGeom prst="rect">
            <a:avLst/>
          </a:prstGeom>
          <a:solidFill>
            <a:srgbClr val="3A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38" name="Google Shape;238;p21"/>
          <p:cNvCxnSpPr/>
          <p:nvPr/>
        </p:nvCxnSpPr>
        <p:spPr>
          <a:xfrm>
            <a:off x="558701" y="3960168"/>
            <a:ext cx="3898999" cy="0"/>
          </a:xfrm>
          <a:prstGeom prst="straightConnector1">
            <a:avLst/>
          </a:prstGeom>
          <a:noFill/>
          <a:ln cap="flat" cmpd="sng" w="9525">
            <a:solidFill>
              <a:srgbClr val="444444"/>
            </a:solidFill>
            <a:prstDash val="solid"/>
            <a:round/>
            <a:headEnd len="sm" w="sm" type="none"/>
            <a:tailEnd len="sm" w="sm" type="none"/>
          </a:ln>
        </p:spPr>
      </p:cxnSp>
      <p:sp>
        <p:nvSpPr>
          <p:cNvPr id="239" name="Google Shape;239;p21"/>
          <p:cNvSpPr/>
          <p:nvPr/>
        </p:nvSpPr>
        <p:spPr>
          <a:xfrm>
            <a:off x="711101" y="3558183"/>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 sz="1000" u="none" cap="none" strike="noStrike">
                <a:solidFill>
                  <a:srgbClr val="E07A5F"/>
                </a:solidFill>
                <a:latin typeface="Arial"/>
                <a:ea typeface="Arial"/>
                <a:cs typeface="Arial"/>
                <a:sym typeface="Arial"/>
              </a:rPr>
              <a:t>"It should tell a good story"</a:t>
            </a:r>
            <a:endParaRPr b="0" i="0" sz="1000" u="none" cap="none" strike="noStrike">
              <a:solidFill>
                <a:schemeClr val="dk1"/>
              </a:solidFill>
              <a:latin typeface="Calibri"/>
              <a:ea typeface="Calibri"/>
              <a:cs typeface="Calibri"/>
              <a:sym typeface="Calibri"/>
            </a:endParaRPr>
          </a:p>
        </p:txBody>
      </p:sp>
      <p:sp>
        <p:nvSpPr>
          <p:cNvPr id="240" name="Google Shape;240;p21"/>
          <p:cNvSpPr/>
          <p:nvPr/>
        </p:nvSpPr>
        <p:spPr>
          <a:xfrm>
            <a:off x="711101" y="3726359"/>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This means 10 different things to 10 different reviewers.</a:t>
            </a:r>
            <a:endParaRPr b="0" i="0" sz="850" u="none" cap="none" strike="noStrike">
              <a:solidFill>
                <a:schemeClr val="dk1"/>
              </a:solidFill>
              <a:latin typeface="Calibri"/>
              <a:ea typeface="Calibri"/>
              <a:cs typeface="Calibri"/>
              <a:sym typeface="Calibri"/>
            </a:endParaRPr>
          </a:p>
        </p:txBody>
      </p:sp>
      <p:sp>
        <p:nvSpPr>
          <p:cNvPr id="241" name="Google Shape;241;p21"/>
          <p:cNvSpPr/>
          <p:nvPr/>
        </p:nvSpPr>
        <p:spPr>
          <a:xfrm>
            <a:off x="4686300" y="1661964"/>
            <a:ext cx="3898999" cy="320576"/>
          </a:xfrm>
          <a:prstGeom prst="roundRect">
            <a:avLst>
              <a:gd fmla="val 15846"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42" name="Google Shape;242;p21"/>
          <p:cNvSpPr/>
          <p:nvPr/>
        </p:nvSpPr>
        <p:spPr>
          <a:xfrm>
            <a:off x="4838700" y="1750814"/>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CLEAR CRITERIA</a:t>
            </a:r>
            <a:endParaRPr b="0" i="0" sz="1000" u="none" cap="none" strike="noStrike">
              <a:solidFill>
                <a:schemeClr val="dk1"/>
              </a:solidFill>
              <a:latin typeface="Calibri"/>
              <a:ea typeface="Calibri"/>
              <a:cs typeface="Calibri"/>
              <a:sym typeface="Calibri"/>
            </a:endParaRPr>
          </a:p>
        </p:txBody>
      </p:sp>
      <p:sp>
        <p:nvSpPr>
          <p:cNvPr id="243" name="Google Shape;243;p21"/>
          <p:cNvSpPr/>
          <p:nvPr/>
        </p:nvSpPr>
        <p:spPr>
          <a:xfrm>
            <a:off x="4686300" y="1982539"/>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44" name="Google Shape;244;p21"/>
          <p:cNvCxnSpPr/>
          <p:nvPr/>
        </p:nvCxnSpPr>
        <p:spPr>
          <a:xfrm>
            <a:off x="4686300" y="2473375"/>
            <a:ext cx="3898999" cy="0"/>
          </a:xfrm>
          <a:prstGeom prst="straightConnector1">
            <a:avLst/>
          </a:prstGeom>
          <a:noFill/>
          <a:ln cap="flat" cmpd="sng" w="9525">
            <a:solidFill>
              <a:srgbClr val="444444"/>
            </a:solidFill>
            <a:prstDash val="solid"/>
            <a:round/>
            <a:headEnd len="sm" w="sm" type="none"/>
            <a:tailEnd len="sm" w="sm" type="none"/>
          </a:ln>
        </p:spPr>
      </p:cxnSp>
      <p:sp>
        <p:nvSpPr>
          <p:cNvPr id="245" name="Google Shape;245;p21"/>
          <p:cNvSpPr/>
          <p:nvPr/>
        </p:nvSpPr>
        <p:spPr>
          <a:xfrm>
            <a:off x="4838700" y="2071390"/>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 sz="1000" u="none" cap="none" strike="noStrike">
                <a:solidFill>
                  <a:srgbClr val="87A96B"/>
                </a:solidFill>
                <a:latin typeface="Arial"/>
                <a:ea typeface="Arial"/>
                <a:cs typeface="Arial"/>
                <a:sym typeface="Arial"/>
              </a:rPr>
              <a:t>"Opens with the CFO's top 3 concerns"</a:t>
            </a:r>
            <a:endParaRPr b="0" i="0" sz="1000" u="none" cap="none" strike="noStrike">
              <a:solidFill>
                <a:schemeClr val="dk1"/>
              </a:solidFill>
              <a:latin typeface="Calibri"/>
              <a:ea typeface="Calibri"/>
              <a:cs typeface="Calibri"/>
              <a:sym typeface="Calibri"/>
            </a:endParaRPr>
          </a:p>
        </p:txBody>
      </p:sp>
      <p:sp>
        <p:nvSpPr>
          <p:cNvPr id="246" name="Google Shape;246;p21"/>
          <p:cNvSpPr/>
          <p:nvPr/>
        </p:nvSpPr>
        <p:spPr>
          <a:xfrm>
            <a:off x="4838700" y="2239566"/>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Read page 1. Are the concerns there? Yes or no.</a:t>
            </a:r>
            <a:endParaRPr b="0" i="0" sz="850" u="none" cap="none" strike="noStrike">
              <a:solidFill>
                <a:schemeClr val="dk1"/>
              </a:solidFill>
              <a:latin typeface="Calibri"/>
              <a:ea typeface="Calibri"/>
              <a:cs typeface="Calibri"/>
              <a:sym typeface="Calibri"/>
            </a:endParaRPr>
          </a:p>
        </p:txBody>
      </p:sp>
      <p:sp>
        <p:nvSpPr>
          <p:cNvPr id="247" name="Google Shape;247;p21"/>
          <p:cNvSpPr/>
          <p:nvPr/>
        </p:nvSpPr>
        <p:spPr>
          <a:xfrm>
            <a:off x="4686300" y="2478137"/>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48" name="Google Shape;248;p21"/>
          <p:cNvCxnSpPr/>
          <p:nvPr/>
        </p:nvCxnSpPr>
        <p:spPr>
          <a:xfrm>
            <a:off x="4686300" y="2968972"/>
            <a:ext cx="3898999" cy="0"/>
          </a:xfrm>
          <a:prstGeom prst="straightConnector1">
            <a:avLst/>
          </a:prstGeom>
          <a:noFill/>
          <a:ln cap="flat" cmpd="sng" w="9525">
            <a:solidFill>
              <a:srgbClr val="444444"/>
            </a:solidFill>
            <a:prstDash val="solid"/>
            <a:round/>
            <a:headEnd len="sm" w="sm" type="none"/>
            <a:tailEnd len="sm" w="sm" type="none"/>
          </a:ln>
        </p:spPr>
      </p:cxnSp>
      <p:sp>
        <p:nvSpPr>
          <p:cNvPr id="249" name="Google Shape;249;p21"/>
          <p:cNvSpPr/>
          <p:nvPr/>
        </p:nvSpPr>
        <p:spPr>
          <a:xfrm>
            <a:off x="4838700" y="2566988"/>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 sz="1000" u="none" cap="none" strike="noStrike">
                <a:solidFill>
                  <a:srgbClr val="87A96B"/>
                </a:solidFill>
                <a:latin typeface="Arial"/>
                <a:ea typeface="Arial"/>
                <a:cs typeface="Arial"/>
                <a:sym typeface="Arial"/>
              </a:rPr>
              <a:t>"Under 10 pages, 12pt font"</a:t>
            </a:r>
            <a:endParaRPr b="0" i="0" sz="1000" u="none" cap="none" strike="noStrike">
              <a:solidFill>
                <a:schemeClr val="dk1"/>
              </a:solidFill>
              <a:latin typeface="Calibri"/>
              <a:ea typeface="Calibri"/>
              <a:cs typeface="Calibri"/>
              <a:sym typeface="Calibri"/>
            </a:endParaRPr>
          </a:p>
        </p:txBody>
      </p:sp>
      <p:sp>
        <p:nvSpPr>
          <p:cNvPr id="250" name="Google Shape;250;p21"/>
          <p:cNvSpPr/>
          <p:nvPr/>
        </p:nvSpPr>
        <p:spPr>
          <a:xfrm>
            <a:off x="4838700" y="2735163"/>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Check page count and font size. Pass or fail in 5 seconds.</a:t>
            </a:r>
            <a:endParaRPr b="0" i="0" sz="850" u="none" cap="none" strike="noStrike">
              <a:solidFill>
                <a:schemeClr val="dk1"/>
              </a:solidFill>
              <a:latin typeface="Calibri"/>
              <a:ea typeface="Calibri"/>
              <a:cs typeface="Calibri"/>
              <a:sym typeface="Calibri"/>
            </a:endParaRPr>
          </a:p>
        </p:txBody>
      </p:sp>
      <p:sp>
        <p:nvSpPr>
          <p:cNvPr id="251" name="Google Shape;251;p21"/>
          <p:cNvSpPr/>
          <p:nvPr/>
        </p:nvSpPr>
        <p:spPr>
          <a:xfrm>
            <a:off x="4686300" y="2973735"/>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52" name="Google Shape;252;p21"/>
          <p:cNvCxnSpPr/>
          <p:nvPr/>
        </p:nvCxnSpPr>
        <p:spPr>
          <a:xfrm>
            <a:off x="4686300" y="3464570"/>
            <a:ext cx="3898999" cy="0"/>
          </a:xfrm>
          <a:prstGeom prst="straightConnector1">
            <a:avLst/>
          </a:prstGeom>
          <a:noFill/>
          <a:ln cap="flat" cmpd="sng" w="9525">
            <a:solidFill>
              <a:srgbClr val="444444"/>
            </a:solidFill>
            <a:prstDash val="solid"/>
            <a:round/>
            <a:headEnd len="sm" w="sm" type="none"/>
            <a:tailEnd len="sm" w="sm" type="none"/>
          </a:ln>
        </p:spPr>
      </p:cxnSp>
      <p:sp>
        <p:nvSpPr>
          <p:cNvPr id="253" name="Google Shape;253;p21"/>
          <p:cNvSpPr/>
          <p:nvPr/>
        </p:nvSpPr>
        <p:spPr>
          <a:xfrm>
            <a:off x="4838700" y="3062585"/>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 sz="1000" u="none" cap="none" strike="noStrike">
                <a:solidFill>
                  <a:srgbClr val="87A96B"/>
                </a:solidFill>
                <a:latin typeface="Arial"/>
                <a:ea typeface="Arial"/>
                <a:cs typeface="Arial"/>
                <a:sym typeface="Arial"/>
              </a:rPr>
              <a:t>"Revenue figures match Q4 actuals"</a:t>
            </a:r>
            <a:endParaRPr b="0" i="0" sz="1000" u="none" cap="none" strike="noStrike">
              <a:solidFill>
                <a:schemeClr val="dk1"/>
              </a:solidFill>
              <a:latin typeface="Calibri"/>
              <a:ea typeface="Calibri"/>
              <a:cs typeface="Calibri"/>
              <a:sym typeface="Calibri"/>
            </a:endParaRPr>
          </a:p>
        </p:txBody>
      </p:sp>
      <p:sp>
        <p:nvSpPr>
          <p:cNvPr id="254" name="Google Shape;254;p21"/>
          <p:cNvSpPr/>
          <p:nvPr/>
        </p:nvSpPr>
        <p:spPr>
          <a:xfrm>
            <a:off x="4838700" y="3230761"/>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Compare to the source spreadsheet. Numbers match or they don't.</a:t>
            </a:r>
            <a:endParaRPr b="0" i="0" sz="850" u="none" cap="none" strike="noStrike">
              <a:solidFill>
                <a:schemeClr val="dk1"/>
              </a:solidFill>
              <a:latin typeface="Calibri"/>
              <a:ea typeface="Calibri"/>
              <a:cs typeface="Calibri"/>
              <a:sym typeface="Calibri"/>
            </a:endParaRPr>
          </a:p>
        </p:txBody>
      </p:sp>
      <p:sp>
        <p:nvSpPr>
          <p:cNvPr id="255" name="Google Shape;255;p21"/>
          <p:cNvSpPr/>
          <p:nvPr/>
        </p:nvSpPr>
        <p:spPr>
          <a:xfrm>
            <a:off x="4686300" y="3469332"/>
            <a:ext cx="3898999" cy="495598"/>
          </a:xfrm>
          <a:prstGeom prst="rect">
            <a:avLst/>
          </a:prstGeom>
          <a:solidFill>
            <a:srgbClr val="2C3A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56" name="Google Shape;256;p21"/>
          <p:cNvCxnSpPr/>
          <p:nvPr/>
        </p:nvCxnSpPr>
        <p:spPr>
          <a:xfrm>
            <a:off x="4686300" y="3960168"/>
            <a:ext cx="3898999" cy="0"/>
          </a:xfrm>
          <a:prstGeom prst="straightConnector1">
            <a:avLst/>
          </a:prstGeom>
          <a:noFill/>
          <a:ln cap="flat" cmpd="sng" w="9525">
            <a:solidFill>
              <a:srgbClr val="444444"/>
            </a:solidFill>
            <a:prstDash val="solid"/>
            <a:round/>
            <a:headEnd len="sm" w="sm" type="none"/>
            <a:tailEnd len="sm" w="sm" type="none"/>
          </a:ln>
        </p:spPr>
      </p:cxnSp>
      <p:sp>
        <p:nvSpPr>
          <p:cNvPr id="257" name="Google Shape;257;p21"/>
          <p:cNvSpPr/>
          <p:nvPr/>
        </p:nvSpPr>
        <p:spPr>
          <a:xfrm>
            <a:off x="4838700" y="3558183"/>
            <a:ext cx="366608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1000"/>
              <a:buFont typeface="Arial"/>
              <a:buNone/>
            </a:pPr>
            <a:r>
              <a:rPr b="1" i="0" lang="en" sz="1000" u="none" cap="none" strike="noStrike">
                <a:solidFill>
                  <a:srgbClr val="87A96B"/>
                </a:solidFill>
                <a:latin typeface="Arial"/>
                <a:ea typeface="Arial"/>
                <a:cs typeface="Arial"/>
                <a:sym typeface="Arial"/>
              </a:rPr>
              <a:t>"Exec summary is 3 bullet points"</a:t>
            </a:r>
            <a:endParaRPr b="0" i="0" sz="1000" u="none" cap="none" strike="noStrike">
              <a:solidFill>
                <a:schemeClr val="dk1"/>
              </a:solidFill>
              <a:latin typeface="Calibri"/>
              <a:ea typeface="Calibri"/>
              <a:cs typeface="Calibri"/>
              <a:sym typeface="Calibri"/>
            </a:endParaRPr>
          </a:p>
        </p:txBody>
      </p:sp>
      <p:sp>
        <p:nvSpPr>
          <p:cNvPr id="258" name="Google Shape;258;p21"/>
          <p:cNvSpPr/>
          <p:nvPr/>
        </p:nvSpPr>
        <p:spPr>
          <a:xfrm>
            <a:off x="4838700" y="3726359"/>
            <a:ext cx="366608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Count the bullets. Three? Done. More? Edit.</a:t>
            </a:r>
            <a:endParaRPr b="0" i="0" sz="850" u="none" cap="none" strike="noStrike">
              <a:solidFill>
                <a:schemeClr val="dk1"/>
              </a:solidFill>
              <a:latin typeface="Calibri"/>
              <a:ea typeface="Calibri"/>
              <a:cs typeface="Calibri"/>
              <a:sym typeface="Calibri"/>
            </a:endParaRPr>
          </a:p>
        </p:txBody>
      </p:sp>
      <p:sp>
        <p:nvSpPr>
          <p:cNvPr id="259" name="Google Shape;259;p21"/>
          <p:cNvSpPr/>
          <p:nvPr/>
        </p:nvSpPr>
        <p:spPr>
          <a:xfrm>
            <a:off x="558701" y="4091880"/>
            <a:ext cx="8026598" cy="764679"/>
          </a:xfrm>
          <a:prstGeom prst="roundRect">
            <a:avLst>
              <a:gd fmla="val 6643" name="adj"/>
            </a:avLst>
          </a:prstGeom>
          <a:solidFill>
            <a:srgbClr val="F4F1D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0" name="Google Shape;260;p21"/>
          <p:cNvSpPr/>
          <p:nvPr/>
        </p:nvSpPr>
        <p:spPr>
          <a:xfrm>
            <a:off x="761851" y="4218831"/>
            <a:ext cx="777270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The Stranger Test</a:t>
            </a:r>
            <a:endParaRPr b="0" i="0" sz="1000" u="none" cap="none" strike="noStrike">
              <a:solidFill>
                <a:schemeClr val="dk1"/>
              </a:solidFill>
              <a:latin typeface="Calibri"/>
              <a:ea typeface="Calibri"/>
              <a:cs typeface="Calibri"/>
              <a:sym typeface="Calibri"/>
            </a:endParaRPr>
          </a:p>
        </p:txBody>
      </p:sp>
      <p:sp>
        <p:nvSpPr>
          <p:cNvPr id="261" name="Google Shape;261;p21"/>
          <p:cNvSpPr/>
          <p:nvPr/>
        </p:nvSpPr>
        <p:spPr>
          <a:xfrm>
            <a:off x="761851" y="4399806"/>
            <a:ext cx="7772704" cy="32980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1000"/>
              <a:buFont typeface="Arial"/>
              <a:buNone/>
            </a:pPr>
            <a:r>
              <a:rPr b="0" i="0" lang="en" sz="1000" u="none" cap="none" strike="noStrike">
                <a:solidFill>
                  <a:srgbClr val="444444"/>
                </a:solidFill>
                <a:latin typeface="Arial"/>
                <a:ea typeface="Arial"/>
                <a:cs typeface="Arial"/>
                <a:sym typeface="Arial"/>
              </a:rPr>
              <a:t>Could someone who wasn't in the meeting check this criterion and say "yes" or "no" in 30 seconds? If yes, it's clear. If they'd need to ask what you meant, rewrite it.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266" name="Shape 266"/>
        <p:cNvGrpSpPr/>
        <p:nvPr/>
      </p:nvGrpSpPr>
      <p:grpSpPr>
        <a:xfrm>
          <a:off x="0" y="0"/>
          <a:ext cx="0" cy="0"/>
          <a:chOff x="0" y="0"/>
          <a:chExt cx="0" cy="0"/>
        </a:xfrm>
      </p:grpSpPr>
      <p:sp>
        <p:nvSpPr>
          <p:cNvPr id="267" name="Google Shape;267;p22"/>
          <p:cNvSpPr/>
          <p:nvPr/>
        </p:nvSpPr>
        <p:spPr>
          <a:xfrm>
            <a:off x="558701" y="381000"/>
            <a:ext cx="1549450"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8" name="Google Shape;268;p22"/>
          <p:cNvSpPr/>
          <p:nvPr/>
        </p:nvSpPr>
        <p:spPr>
          <a:xfrm>
            <a:off x="711101" y="546050"/>
            <a:ext cx="126954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THE CHECKLIST</a:t>
            </a:r>
            <a:endParaRPr b="0" i="0" sz="900" u="none" cap="none" strike="noStrike">
              <a:solidFill>
                <a:schemeClr val="dk1"/>
              </a:solidFill>
              <a:latin typeface="Calibri"/>
              <a:ea typeface="Calibri"/>
              <a:cs typeface="Calibri"/>
              <a:sym typeface="Calibri"/>
            </a:endParaRPr>
          </a:p>
        </p:txBody>
      </p:sp>
      <p:sp>
        <p:nvSpPr>
          <p:cNvPr id="269" name="Google Shape;269;p22"/>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 sz="2200" u="none" cap="none" strike="noStrike">
                <a:solidFill>
                  <a:srgbClr val="2C2C2C"/>
                </a:solidFill>
                <a:latin typeface="Georgia"/>
                <a:ea typeface="Georgia"/>
                <a:cs typeface="Georgia"/>
                <a:sym typeface="Georgia"/>
              </a:rPr>
              <a:t>Your Completion Checklist</a:t>
            </a:r>
            <a:endParaRPr b="0" i="0" sz="2200" u="none" cap="none" strike="noStrike">
              <a:solidFill>
                <a:schemeClr val="dk1"/>
              </a:solidFill>
              <a:latin typeface="Calibri"/>
              <a:ea typeface="Calibri"/>
              <a:cs typeface="Calibri"/>
              <a:sym typeface="Calibri"/>
            </a:endParaRPr>
          </a:p>
        </p:txBody>
      </p:sp>
      <p:sp>
        <p:nvSpPr>
          <p:cNvPr id="270" name="Google Shape;270;p22"/>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50"/>
              <a:buFont typeface="Arial"/>
              <a:buNone/>
            </a:pPr>
            <a:r>
              <a:rPr b="0" i="0" lang="en" sz="1050" u="none" cap="none" strike="noStrike">
                <a:solidFill>
                  <a:srgbClr val="666666"/>
                </a:solidFill>
                <a:latin typeface="Arial"/>
                <a:ea typeface="Arial"/>
                <a:cs typeface="Arial"/>
                <a:sym typeface="Arial"/>
              </a:rPr>
              <a:t>Every plan includes a table like this. Every goal is a row. Every row is checkable.</a:t>
            </a:r>
            <a:endParaRPr b="0" i="0" sz="1050" u="none" cap="none" strike="noStrike">
              <a:solidFill>
                <a:schemeClr val="dk1"/>
              </a:solidFill>
              <a:latin typeface="Calibri"/>
              <a:ea typeface="Calibri"/>
              <a:cs typeface="Calibri"/>
              <a:sym typeface="Calibri"/>
            </a:endParaRPr>
          </a:p>
        </p:txBody>
      </p:sp>
      <p:sp>
        <p:nvSpPr>
          <p:cNvPr id="271" name="Google Shape;271;p22"/>
          <p:cNvSpPr/>
          <p:nvPr/>
        </p:nvSpPr>
        <p:spPr>
          <a:xfrm>
            <a:off x="558701" y="1661964"/>
            <a:ext cx="8026598" cy="2202359"/>
          </a:xfrm>
          <a:prstGeom prst="roundRect">
            <a:avLst>
              <a:gd fmla="val 3460" name="adj"/>
            </a:avLst>
          </a:prstGeom>
          <a:solidFill>
            <a:srgbClr val="FFFFFF"/>
          </a:solidFill>
          <a:ln cap="flat" cmpd="sng" w="9525">
            <a:solidFill>
              <a:srgbClr val="CCCC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2" name="Google Shape;272;p22"/>
          <p:cNvSpPr/>
          <p:nvPr/>
        </p:nvSpPr>
        <p:spPr>
          <a:xfrm>
            <a:off x="568226" y="1671489"/>
            <a:ext cx="8007548" cy="336352"/>
          </a:xfrm>
          <a:prstGeom prst="rect">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3" name="Google Shape;273;p22"/>
          <p:cNvSpPr/>
          <p:nvPr/>
        </p:nvSpPr>
        <p:spPr>
          <a:xfrm>
            <a:off x="745927" y="1772989"/>
            <a:ext cx="116586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 sz="900" u="none" cap="none" strike="noStrike">
                <a:solidFill>
                  <a:srgbClr val="F4F1DE"/>
                </a:solidFill>
                <a:latin typeface="Arial"/>
                <a:ea typeface="Arial"/>
                <a:cs typeface="Arial"/>
                <a:sym typeface="Arial"/>
              </a:rPr>
              <a:t>GOAL</a:t>
            </a:r>
            <a:endParaRPr b="0" i="0" sz="900" u="none" cap="none" strike="noStrike">
              <a:solidFill>
                <a:schemeClr val="dk1"/>
              </a:solidFill>
              <a:latin typeface="Calibri"/>
              <a:ea typeface="Calibri"/>
              <a:cs typeface="Calibri"/>
              <a:sym typeface="Calibri"/>
            </a:endParaRPr>
          </a:p>
        </p:txBody>
      </p:sp>
      <p:sp>
        <p:nvSpPr>
          <p:cNvPr id="274" name="Google Shape;274;p22"/>
          <p:cNvSpPr/>
          <p:nvPr/>
        </p:nvSpPr>
        <p:spPr>
          <a:xfrm>
            <a:off x="1888927" y="1772989"/>
            <a:ext cx="233172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 sz="900" u="none" cap="none" strike="noStrike">
                <a:solidFill>
                  <a:srgbClr val="F4F1DE"/>
                </a:solidFill>
                <a:latin typeface="Arial"/>
                <a:ea typeface="Arial"/>
                <a:cs typeface="Arial"/>
                <a:sym typeface="Arial"/>
              </a:rPr>
              <a:t>WHAT DOES "DONE" LOOK LIKE?</a:t>
            </a:r>
            <a:endParaRPr b="0" i="0" sz="900" u="none" cap="none" strike="noStrike">
              <a:solidFill>
                <a:schemeClr val="dk1"/>
              </a:solidFill>
              <a:latin typeface="Calibri"/>
              <a:ea typeface="Calibri"/>
              <a:cs typeface="Calibri"/>
              <a:sym typeface="Calibri"/>
            </a:endParaRPr>
          </a:p>
        </p:txBody>
      </p:sp>
      <p:sp>
        <p:nvSpPr>
          <p:cNvPr id="275" name="Google Shape;275;p22"/>
          <p:cNvSpPr/>
          <p:nvPr/>
        </p:nvSpPr>
        <p:spPr>
          <a:xfrm>
            <a:off x="4174927" y="1772989"/>
            <a:ext cx="2202079"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 sz="900" u="none" cap="none" strike="noStrike">
                <a:solidFill>
                  <a:srgbClr val="F4F1DE"/>
                </a:solidFill>
                <a:latin typeface="Arial"/>
                <a:ea typeface="Arial"/>
                <a:cs typeface="Arial"/>
                <a:sym typeface="Arial"/>
              </a:rPr>
              <a:t>HOW DO YOU CHECK?</a:t>
            </a:r>
            <a:endParaRPr b="0" i="0" sz="900" u="none" cap="none" strike="noStrike">
              <a:solidFill>
                <a:schemeClr val="dk1"/>
              </a:solidFill>
              <a:latin typeface="Calibri"/>
              <a:ea typeface="Calibri"/>
              <a:cs typeface="Calibri"/>
              <a:sym typeface="Calibri"/>
            </a:endParaRPr>
          </a:p>
        </p:txBody>
      </p:sp>
      <p:sp>
        <p:nvSpPr>
          <p:cNvPr id="276" name="Google Shape;276;p22"/>
          <p:cNvSpPr/>
          <p:nvPr/>
        </p:nvSpPr>
        <p:spPr>
          <a:xfrm>
            <a:off x="6333827" y="1772989"/>
            <a:ext cx="1036219"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900"/>
              <a:buFont typeface="Arial"/>
              <a:buNone/>
            </a:pPr>
            <a:r>
              <a:rPr b="1" i="0" lang="en" sz="900" u="none" cap="none" strike="noStrike">
                <a:solidFill>
                  <a:srgbClr val="F4F1DE"/>
                </a:solidFill>
                <a:latin typeface="Arial"/>
                <a:ea typeface="Arial"/>
                <a:cs typeface="Arial"/>
                <a:sym typeface="Arial"/>
              </a:rPr>
              <a:t>FLEXIBILITY?</a:t>
            </a:r>
            <a:endParaRPr b="0" i="0" sz="900" u="none" cap="none" strike="noStrike">
              <a:solidFill>
                <a:schemeClr val="dk1"/>
              </a:solidFill>
              <a:latin typeface="Calibri"/>
              <a:ea typeface="Calibri"/>
              <a:cs typeface="Calibri"/>
              <a:sym typeface="Calibri"/>
            </a:endParaRPr>
          </a:p>
        </p:txBody>
      </p:sp>
      <p:cxnSp>
        <p:nvCxnSpPr>
          <p:cNvPr id="277" name="Google Shape;277;p22"/>
          <p:cNvCxnSpPr/>
          <p:nvPr/>
        </p:nvCxnSpPr>
        <p:spPr>
          <a:xfrm>
            <a:off x="568226" y="2372469"/>
            <a:ext cx="8007548" cy="0"/>
          </a:xfrm>
          <a:prstGeom prst="straightConnector1">
            <a:avLst/>
          </a:prstGeom>
          <a:noFill/>
          <a:ln cap="flat" cmpd="sng" w="9525">
            <a:solidFill>
              <a:srgbClr val="E8E4D8"/>
            </a:solidFill>
            <a:prstDash val="solid"/>
            <a:round/>
            <a:headEnd len="sm" w="sm" type="none"/>
            <a:tailEnd len="sm" w="sm" type="none"/>
          </a:ln>
        </p:spPr>
      </p:cxnSp>
      <p:sp>
        <p:nvSpPr>
          <p:cNvPr id="278" name="Google Shape;278;p22"/>
          <p:cNvSpPr/>
          <p:nvPr/>
        </p:nvSpPr>
        <p:spPr>
          <a:xfrm>
            <a:off x="745927" y="2109341"/>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 sz="950" u="none" cap="none" strike="noStrike">
                <a:solidFill>
                  <a:srgbClr val="2C2C2C"/>
                </a:solidFill>
                <a:latin typeface="Arial"/>
                <a:ea typeface="Arial"/>
                <a:cs typeface="Arial"/>
                <a:sym typeface="Arial"/>
              </a:rPr>
              <a:t>Accuracy</a:t>
            </a:r>
            <a:endParaRPr b="0" i="0" sz="950" u="none" cap="none" strike="noStrike">
              <a:solidFill>
                <a:schemeClr val="dk1"/>
              </a:solidFill>
              <a:latin typeface="Calibri"/>
              <a:ea typeface="Calibri"/>
              <a:cs typeface="Calibri"/>
              <a:sym typeface="Calibri"/>
            </a:endParaRPr>
          </a:p>
        </p:txBody>
      </p:sp>
      <p:sp>
        <p:nvSpPr>
          <p:cNvPr id="279" name="Google Shape;279;p22"/>
          <p:cNvSpPr/>
          <p:nvPr/>
        </p:nvSpPr>
        <p:spPr>
          <a:xfrm>
            <a:off x="1888927" y="2109341"/>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 sz="950" u="none" cap="none" strike="noStrike">
                <a:solidFill>
                  <a:srgbClr val="444444"/>
                </a:solidFill>
                <a:latin typeface="Arial"/>
                <a:ea typeface="Arial"/>
                <a:cs typeface="Arial"/>
                <a:sym typeface="Arial"/>
              </a:rPr>
              <a:t>All revenue figures match Q4 actuals</a:t>
            </a:r>
            <a:endParaRPr b="0" i="0" sz="950" u="none" cap="none" strike="noStrike">
              <a:solidFill>
                <a:schemeClr val="dk1"/>
              </a:solidFill>
              <a:latin typeface="Calibri"/>
              <a:ea typeface="Calibri"/>
              <a:cs typeface="Calibri"/>
              <a:sym typeface="Calibri"/>
            </a:endParaRPr>
          </a:p>
        </p:txBody>
      </p:sp>
      <p:sp>
        <p:nvSpPr>
          <p:cNvPr id="280" name="Google Shape;280;p22"/>
          <p:cNvSpPr/>
          <p:nvPr/>
        </p:nvSpPr>
        <p:spPr>
          <a:xfrm>
            <a:off x="4174927" y="2109341"/>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 sz="950" u="none" cap="none" strike="noStrike">
                <a:solidFill>
                  <a:srgbClr val="87A96B"/>
                </a:solidFill>
                <a:latin typeface="Arial"/>
                <a:ea typeface="Arial"/>
                <a:cs typeface="Arial"/>
                <a:sym typeface="Arial"/>
              </a:rPr>
              <a:t>Compare to source spreadsheet</a:t>
            </a:r>
            <a:endParaRPr b="0" i="0" sz="950" u="none" cap="none" strike="noStrike">
              <a:solidFill>
                <a:schemeClr val="dk1"/>
              </a:solidFill>
              <a:latin typeface="Calibri"/>
              <a:ea typeface="Calibri"/>
              <a:cs typeface="Calibri"/>
              <a:sym typeface="Calibri"/>
            </a:endParaRPr>
          </a:p>
        </p:txBody>
      </p:sp>
      <p:sp>
        <p:nvSpPr>
          <p:cNvPr id="281" name="Google Shape;281;p22"/>
          <p:cNvSpPr/>
          <p:nvPr/>
        </p:nvSpPr>
        <p:spPr>
          <a:xfrm>
            <a:off x="6333827" y="2109341"/>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 sz="950" u="none" cap="none" strike="noStrike">
                <a:solidFill>
                  <a:srgbClr val="666666"/>
                </a:solidFill>
                <a:latin typeface="Arial"/>
                <a:ea typeface="Arial"/>
                <a:cs typeface="Arial"/>
                <a:sym typeface="Arial"/>
              </a:rPr>
              <a:t>Zero tolerance</a:t>
            </a:r>
            <a:endParaRPr b="0" i="0" sz="950" u="none" cap="none" strike="noStrike">
              <a:solidFill>
                <a:schemeClr val="dk1"/>
              </a:solidFill>
              <a:latin typeface="Calibri"/>
              <a:ea typeface="Calibri"/>
              <a:cs typeface="Calibri"/>
              <a:sym typeface="Calibri"/>
            </a:endParaRPr>
          </a:p>
        </p:txBody>
      </p:sp>
      <p:sp>
        <p:nvSpPr>
          <p:cNvPr id="282" name="Google Shape;282;p22"/>
          <p:cNvSpPr/>
          <p:nvPr/>
        </p:nvSpPr>
        <p:spPr>
          <a:xfrm>
            <a:off x="568226" y="2377232"/>
            <a:ext cx="8007548" cy="369391"/>
          </a:xfrm>
          <a:prstGeom prst="rect">
            <a:avLst/>
          </a:prstGeom>
          <a:solidFill>
            <a:srgbClr val="FAF8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83" name="Google Shape;283;p22"/>
          <p:cNvCxnSpPr/>
          <p:nvPr/>
        </p:nvCxnSpPr>
        <p:spPr>
          <a:xfrm>
            <a:off x="568226" y="2741861"/>
            <a:ext cx="8007548" cy="0"/>
          </a:xfrm>
          <a:prstGeom prst="straightConnector1">
            <a:avLst/>
          </a:prstGeom>
          <a:noFill/>
          <a:ln cap="flat" cmpd="sng" w="9525">
            <a:solidFill>
              <a:srgbClr val="E8E4D8"/>
            </a:solidFill>
            <a:prstDash val="solid"/>
            <a:round/>
            <a:headEnd len="sm" w="sm" type="none"/>
            <a:tailEnd len="sm" w="sm" type="none"/>
          </a:ln>
        </p:spPr>
      </p:cxnSp>
      <p:sp>
        <p:nvSpPr>
          <p:cNvPr id="284" name="Google Shape;284;p22"/>
          <p:cNvSpPr/>
          <p:nvPr/>
        </p:nvSpPr>
        <p:spPr>
          <a:xfrm>
            <a:off x="745927" y="2478732"/>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 sz="950" u="none" cap="none" strike="noStrike">
                <a:solidFill>
                  <a:srgbClr val="2C2C2C"/>
                </a:solidFill>
                <a:latin typeface="Arial"/>
                <a:ea typeface="Arial"/>
                <a:cs typeface="Arial"/>
                <a:sym typeface="Arial"/>
              </a:rPr>
              <a:t>Length</a:t>
            </a:r>
            <a:endParaRPr b="0" i="0" sz="950" u="none" cap="none" strike="noStrike">
              <a:solidFill>
                <a:schemeClr val="dk1"/>
              </a:solidFill>
              <a:latin typeface="Calibri"/>
              <a:ea typeface="Calibri"/>
              <a:cs typeface="Calibri"/>
              <a:sym typeface="Calibri"/>
            </a:endParaRPr>
          </a:p>
        </p:txBody>
      </p:sp>
      <p:sp>
        <p:nvSpPr>
          <p:cNvPr id="285" name="Google Shape;285;p22"/>
          <p:cNvSpPr/>
          <p:nvPr/>
        </p:nvSpPr>
        <p:spPr>
          <a:xfrm>
            <a:off x="1888927" y="2478732"/>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 sz="950" u="none" cap="none" strike="noStrike">
                <a:solidFill>
                  <a:srgbClr val="444444"/>
                </a:solidFill>
                <a:latin typeface="Arial"/>
                <a:ea typeface="Arial"/>
                <a:cs typeface="Arial"/>
                <a:sym typeface="Arial"/>
              </a:rPr>
              <a:t>Executive summary under 2 pages</a:t>
            </a:r>
            <a:endParaRPr b="0" i="0" sz="950" u="none" cap="none" strike="noStrike">
              <a:solidFill>
                <a:schemeClr val="dk1"/>
              </a:solidFill>
              <a:latin typeface="Calibri"/>
              <a:ea typeface="Calibri"/>
              <a:cs typeface="Calibri"/>
              <a:sym typeface="Calibri"/>
            </a:endParaRPr>
          </a:p>
        </p:txBody>
      </p:sp>
      <p:sp>
        <p:nvSpPr>
          <p:cNvPr id="286" name="Google Shape;286;p22"/>
          <p:cNvSpPr/>
          <p:nvPr/>
        </p:nvSpPr>
        <p:spPr>
          <a:xfrm>
            <a:off x="4174927" y="2478732"/>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 sz="950" u="none" cap="none" strike="noStrike">
                <a:solidFill>
                  <a:srgbClr val="87A96B"/>
                </a:solidFill>
                <a:latin typeface="Arial"/>
                <a:ea typeface="Arial"/>
                <a:cs typeface="Arial"/>
                <a:sym typeface="Arial"/>
              </a:rPr>
              <a:t>Check page count</a:t>
            </a:r>
            <a:endParaRPr b="0" i="0" sz="950" u="none" cap="none" strike="noStrike">
              <a:solidFill>
                <a:schemeClr val="dk1"/>
              </a:solidFill>
              <a:latin typeface="Calibri"/>
              <a:ea typeface="Calibri"/>
              <a:cs typeface="Calibri"/>
              <a:sym typeface="Calibri"/>
            </a:endParaRPr>
          </a:p>
        </p:txBody>
      </p:sp>
      <p:sp>
        <p:nvSpPr>
          <p:cNvPr id="287" name="Google Shape;287;p22"/>
          <p:cNvSpPr/>
          <p:nvPr/>
        </p:nvSpPr>
        <p:spPr>
          <a:xfrm>
            <a:off x="6333827" y="2478732"/>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 sz="950" u="none" cap="none" strike="noStrike">
                <a:solidFill>
                  <a:srgbClr val="666666"/>
                </a:solidFill>
                <a:latin typeface="Arial"/>
                <a:ea typeface="Arial"/>
                <a:cs typeface="Arial"/>
                <a:sym typeface="Arial"/>
              </a:rPr>
              <a:t>Hard limit</a:t>
            </a:r>
            <a:endParaRPr b="0" i="0" sz="950" u="none" cap="none" strike="noStrike">
              <a:solidFill>
                <a:schemeClr val="dk1"/>
              </a:solidFill>
              <a:latin typeface="Calibri"/>
              <a:ea typeface="Calibri"/>
              <a:cs typeface="Calibri"/>
              <a:sym typeface="Calibri"/>
            </a:endParaRPr>
          </a:p>
        </p:txBody>
      </p:sp>
      <p:cxnSp>
        <p:nvCxnSpPr>
          <p:cNvPr id="288" name="Google Shape;288;p22"/>
          <p:cNvCxnSpPr/>
          <p:nvPr/>
        </p:nvCxnSpPr>
        <p:spPr>
          <a:xfrm>
            <a:off x="568226" y="3111252"/>
            <a:ext cx="8007548" cy="0"/>
          </a:xfrm>
          <a:prstGeom prst="straightConnector1">
            <a:avLst/>
          </a:prstGeom>
          <a:noFill/>
          <a:ln cap="flat" cmpd="sng" w="9525">
            <a:solidFill>
              <a:srgbClr val="E8E4D8"/>
            </a:solidFill>
            <a:prstDash val="solid"/>
            <a:round/>
            <a:headEnd len="sm" w="sm" type="none"/>
            <a:tailEnd len="sm" w="sm" type="none"/>
          </a:ln>
        </p:spPr>
      </p:cxnSp>
      <p:sp>
        <p:nvSpPr>
          <p:cNvPr id="289" name="Google Shape;289;p22"/>
          <p:cNvSpPr/>
          <p:nvPr/>
        </p:nvSpPr>
        <p:spPr>
          <a:xfrm>
            <a:off x="745927" y="2848124"/>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 sz="950" u="none" cap="none" strike="noStrike">
                <a:solidFill>
                  <a:srgbClr val="2C2C2C"/>
                </a:solidFill>
                <a:latin typeface="Arial"/>
                <a:ea typeface="Arial"/>
                <a:cs typeface="Arial"/>
                <a:sym typeface="Arial"/>
              </a:rPr>
              <a:t>Stakeholders</a:t>
            </a:r>
            <a:endParaRPr b="0" i="0" sz="950" u="none" cap="none" strike="noStrike">
              <a:solidFill>
                <a:schemeClr val="dk1"/>
              </a:solidFill>
              <a:latin typeface="Calibri"/>
              <a:ea typeface="Calibri"/>
              <a:cs typeface="Calibri"/>
              <a:sym typeface="Calibri"/>
            </a:endParaRPr>
          </a:p>
        </p:txBody>
      </p:sp>
      <p:sp>
        <p:nvSpPr>
          <p:cNvPr id="290" name="Google Shape;290;p22"/>
          <p:cNvSpPr/>
          <p:nvPr/>
        </p:nvSpPr>
        <p:spPr>
          <a:xfrm>
            <a:off x="1888927" y="2848124"/>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 sz="950" u="none" cap="none" strike="noStrike">
                <a:solidFill>
                  <a:srgbClr val="444444"/>
                </a:solidFill>
                <a:latin typeface="Arial"/>
                <a:ea typeface="Arial"/>
                <a:cs typeface="Arial"/>
                <a:sym typeface="Arial"/>
              </a:rPr>
              <a:t>Legal and Finance have signed off</a:t>
            </a:r>
            <a:endParaRPr b="0" i="0" sz="950" u="none" cap="none" strike="noStrike">
              <a:solidFill>
                <a:schemeClr val="dk1"/>
              </a:solidFill>
              <a:latin typeface="Calibri"/>
              <a:ea typeface="Calibri"/>
              <a:cs typeface="Calibri"/>
              <a:sym typeface="Calibri"/>
            </a:endParaRPr>
          </a:p>
        </p:txBody>
      </p:sp>
      <p:sp>
        <p:nvSpPr>
          <p:cNvPr id="291" name="Google Shape;291;p22"/>
          <p:cNvSpPr/>
          <p:nvPr/>
        </p:nvSpPr>
        <p:spPr>
          <a:xfrm>
            <a:off x="4174927" y="2848124"/>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 sz="950" u="none" cap="none" strike="noStrike">
                <a:solidFill>
                  <a:srgbClr val="87A96B"/>
                </a:solidFill>
                <a:latin typeface="Arial"/>
                <a:ea typeface="Arial"/>
                <a:cs typeface="Arial"/>
                <a:sym typeface="Arial"/>
              </a:rPr>
              <a:t>Confirmation emails on file</a:t>
            </a:r>
            <a:endParaRPr b="0" i="0" sz="950" u="none" cap="none" strike="noStrike">
              <a:solidFill>
                <a:schemeClr val="dk1"/>
              </a:solidFill>
              <a:latin typeface="Calibri"/>
              <a:ea typeface="Calibri"/>
              <a:cs typeface="Calibri"/>
              <a:sym typeface="Calibri"/>
            </a:endParaRPr>
          </a:p>
        </p:txBody>
      </p:sp>
      <p:sp>
        <p:nvSpPr>
          <p:cNvPr id="292" name="Google Shape;292;p22"/>
          <p:cNvSpPr/>
          <p:nvPr/>
        </p:nvSpPr>
        <p:spPr>
          <a:xfrm>
            <a:off x="6333827" y="2848124"/>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 sz="950" u="none" cap="none" strike="noStrike">
                <a:solidFill>
                  <a:srgbClr val="666666"/>
                </a:solidFill>
                <a:latin typeface="Arial"/>
                <a:ea typeface="Arial"/>
                <a:cs typeface="Arial"/>
                <a:sym typeface="Arial"/>
              </a:rPr>
              <a:t>Both required</a:t>
            </a:r>
            <a:endParaRPr b="0" i="0" sz="950" u="none" cap="none" strike="noStrike">
              <a:solidFill>
                <a:schemeClr val="dk1"/>
              </a:solidFill>
              <a:latin typeface="Calibri"/>
              <a:ea typeface="Calibri"/>
              <a:cs typeface="Calibri"/>
              <a:sym typeface="Calibri"/>
            </a:endParaRPr>
          </a:p>
        </p:txBody>
      </p:sp>
      <p:sp>
        <p:nvSpPr>
          <p:cNvPr id="293" name="Google Shape;293;p22"/>
          <p:cNvSpPr/>
          <p:nvPr/>
        </p:nvSpPr>
        <p:spPr>
          <a:xfrm>
            <a:off x="568226" y="3116014"/>
            <a:ext cx="8007548" cy="369391"/>
          </a:xfrm>
          <a:prstGeom prst="rect">
            <a:avLst/>
          </a:prstGeom>
          <a:solidFill>
            <a:srgbClr val="FAF8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294" name="Google Shape;294;p22"/>
          <p:cNvCxnSpPr/>
          <p:nvPr/>
        </p:nvCxnSpPr>
        <p:spPr>
          <a:xfrm>
            <a:off x="568226" y="3480643"/>
            <a:ext cx="8007548" cy="0"/>
          </a:xfrm>
          <a:prstGeom prst="straightConnector1">
            <a:avLst/>
          </a:prstGeom>
          <a:noFill/>
          <a:ln cap="flat" cmpd="sng" w="9525">
            <a:solidFill>
              <a:srgbClr val="E8E4D8"/>
            </a:solidFill>
            <a:prstDash val="solid"/>
            <a:round/>
            <a:headEnd len="sm" w="sm" type="none"/>
            <a:tailEnd len="sm" w="sm" type="none"/>
          </a:ln>
        </p:spPr>
      </p:cxnSp>
      <p:sp>
        <p:nvSpPr>
          <p:cNvPr id="295" name="Google Shape;295;p22"/>
          <p:cNvSpPr/>
          <p:nvPr/>
        </p:nvSpPr>
        <p:spPr>
          <a:xfrm>
            <a:off x="745927" y="3217515"/>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 sz="950" u="none" cap="none" strike="noStrike">
                <a:solidFill>
                  <a:srgbClr val="2C2C2C"/>
                </a:solidFill>
                <a:latin typeface="Arial"/>
                <a:ea typeface="Arial"/>
                <a:cs typeface="Arial"/>
                <a:sym typeface="Arial"/>
              </a:rPr>
              <a:t>Deadline</a:t>
            </a:r>
            <a:endParaRPr b="0" i="0" sz="950" u="none" cap="none" strike="noStrike">
              <a:solidFill>
                <a:schemeClr val="dk1"/>
              </a:solidFill>
              <a:latin typeface="Calibri"/>
              <a:ea typeface="Calibri"/>
              <a:cs typeface="Calibri"/>
              <a:sym typeface="Calibri"/>
            </a:endParaRPr>
          </a:p>
        </p:txBody>
      </p:sp>
      <p:sp>
        <p:nvSpPr>
          <p:cNvPr id="296" name="Google Shape;296;p22"/>
          <p:cNvSpPr/>
          <p:nvPr/>
        </p:nvSpPr>
        <p:spPr>
          <a:xfrm>
            <a:off x="1888927" y="3217515"/>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 sz="950" u="none" cap="none" strike="noStrike">
                <a:solidFill>
                  <a:srgbClr val="444444"/>
                </a:solidFill>
                <a:latin typeface="Arial"/>
                <a:ea typeface="Arial"/>
                <a:cs typeface="Arial"/>
                <a:sym typeface="Arial"/>
              </a:rPr>
              <a:t>Final version to VP by Friday 5pm</a:t>
            </a:r>
            <a:endParaRPr b="0" i="0" sz="950" u="none" cap="none" strike="noStrike">
              <a:solidFill>
                <a:schemeClr val="dk1"/>
              </a:solidFill>
              <a:latin typeface="Calibri"/>
              <a:ea typeface="Calibri"/>
              <a:cs typeface="Calibri"/>
              <a:sym typeface="Calibri"/>
            </a:endParaRPr>
          </a:p>
        </p:txBody>
      </p:sp>
      <p:sp>
        <p:nvSpPr>
          <p:cNvPr id="297" name="Google Shape;297;p22"/>
          <p:cNvSpPr/>
          <p:nvPr/>
        </p:nvSpPr>
        <p:spPr>
          <a:xfrm>
            <a:off x="4174927" y="3217515"/>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 sz="950" u="none" cap="none" strike="noStrike">
                <a:solidFill>
                  <a:srgbClr val="87A96B"/>
                </a:solidFill>
                <a:latin typeface="Arial"/>
                <a:ea typeface="Arial"/>
                <a:cs typeface="Arial"/>
                <a:sym typeface="Arial"/>
              </a:rPr>
              <a:t>Sent timestamp in email</a:t>
            </a:r>
            <a:endParaRPr b="0" i="0" sz="950" u="none" cap="none" strike="noStrike">
              <a:solidFill>
                <a:schemeClr val="dk1"/>
              </a:solidFill>
              <a:latin typeface="Calibri"/>
              <a:ea typeface="Calibri"/>
              <a:cs typeface="Calibri"/>
              <a:sym typeface="Calibri"/>
            </a:endParaRPr>
          </a:p>
        </p:txBody>
      </p:sp>
      <p:sp>
        <p:nvSpPr>
          <p:cNvPr id="298" name="Google Shape;298;p22"/>
          <p:cNvSpPr/>
          <p:nvPr/>
        </p:nvSpPr>
        <p:spPr>
          <a:xfrm>
            <a:off x="6333827" y="3217515"/>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 sz="950" u="none" cap="none" strike="noStrike">
                <a:solidFill>
                  <a:srgbClr val="666666"/>
                </a:solidFill>
                <a:latin typeface="Arial"/>
                <a:ea typeface="Arial"/>
                <a:cs typeface="Arial"/>
                <a:sym typeface="Arial"/>
              </a:rPr>
              <a:t>No extensions</a:t>
            </a:r>
            <a:endParaRPr b="0" i="0" sz="950" u="none" cap="none" strike="noStrike">
              <a:solidFill>
                <a:schemeClr val="dk1"/>
              </a:solidFill>
              <a:latin typeface="Calibri"/>
              <a:ea typeface="Calibri"/>
              <a:cs typeface="Calibri"/>
              <a:sym typeface="Calibri"/>
            </a:endParaRPr>
          </a:p>
        </p:txBody>
      </p:sp>
      <p:cxnSp>
        <p:nvCxnSpPr>
          <p:cNvPr id="299" name="Google Shape;299;p22"/>
          <p:cNvCxnSpPr/>
          <p:nvPr/>
        </p:nvCxnSpPr>
        <p:spPr>
          <a:xfrm>
            <a:off x="568226" y="3850035"/>
            <a:ext cx="8007548" cy="0"/>
          </a:xfrm>
          <a:prstGeom prst="straightConnector1">
            <a:avLst/>
          </a:prstGeom>
          <a:noFill/>
          <a:ln cap="flat" cmpd="sng" w="9525">
            <a:solidFill>
              <a:srgbClr val="E8E4D8"/>
            </a:solidFill>
            <a:prstDash val="solid"/>
            <a:round/>
            <a:headEnd len="sm" w="sm" type="none"/>
            <a:tailEnd len="sm" w="sm" type="none"/>
          </a:ln>
        </p:spPr>
      </p:cxnSp>
      <p:sp>
        <p:nvSpPr>
          <p:cNvPr id="300" name="Google Shape;300;p22"/>
          <p:cNvSpPr/>
          <p:nvPr/>
        </p:nvSpPr>
        <p:spPr>
          <a:xfrm>
            <a:off x="745927" y="3586907"/>
            <a:ext cx="116586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C2C2C"/>
              </a:buClr>
              <a:buSzPts val="950"/>
              <a:buFont typeface="Arial"/>
              <a:buNone/>
            </a:pPr>
            <a:r>
              <a:rPr b="1" i="0" lang="en" sz="950" u="none" cap="none" strike="noStrike">
                <a:solidFill>
                  <a:srgbClr val="2C2C2C"/>
                </a:solidFill>
                <a:latin typeface="Arial"/>
                <a:ea typeface="Arial"/>
                <a:cs typeface="Arial"/>
                <a:sym typeface="Arial"/>
              </a:rPr>
              <a:t>Branding</a:t>
            </a:r>
            <a:endParaRPr b="0" i="0" sz="950" u="none" cap="none" strike="noStrike">
              <a:solidFill>
                <a:schemeClr val="dk1"/>
              </a:solidFill>
              <a:latin typeface="Calibri"/>
              <a:ea typeface="Calibri"/>
              <a:cs typeface="Calibri"/>
              <a:sym typeface="Calibri"/>
            </a:endParaRPr>
          </a:p>
        </p:txBody>
      </p:sp>
      <p:sp>
        <p:nvSpPr>
          <p:cNvPr id="301" name="Google Shape;301;p22"/>
          <p:cNvSpPr/>
          <p:nvPr/>
        </p:nvSpPr>
        <p:spPr>
          <a:xfrm>
            <a:off x="1888927" y="3586907"/>
            <a:ext cx="2331720"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44444"/>
              </a:buClr>
              <a:buSzPts val="950"/>
              <a:buFont typeface="Arial"/>
              <a:buNone/>
            </a:pPr>
            <a:r>
              <a:rPr b="0" i="0" lang="en" sz="950" u="none" cap="none" strike="noStrike">
                <a:solidFill>
                  <a:srgbClr val="444444"/>
                </a:solidFill>
                <a:latin typeface="Arial"/>
                <a:ea typeface="Arial"/>
                <a:cs typeface="Arial"/>
                <a:sym typeface="Arial"/>
              </a:rPr>
              <a:t>Uses current template and logo</a:t>
            </a:r>
            <a:endParaRPr b="0" i="0" sz="950" u="none" cap="none" strike="noStrike">
              <a:solidFill>
                <a:schemeClr val="dk1"/>
              </a:solidFill>
              <a:latin typeface="Calibri"/>
              <a:ea typeface="Calibri"/>
              <a:cs typeface="Calibri"/>
              <a:sym typeface="Calibri"/>
            </a:endParaRPr>
          </a:p>
        </p:txBody>
      </p:sp>
      <p:sp>
        <p:nvSpPr>
          <p:cNvPr id="302" name="Google Shape;302;p22"/>
          <p:cNvSpPr/>
          <p:nvPr/>
        </p:nvSpPr>
        <p:spPr>
          <a:xfrm>
            <a:off x="4174927" y="3586907"/>
            <a:ext cx="220207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7A96B"/>
              </a:buClr>
              <a:buSzPts val="950"/>
              <a:buFont typeface="Arial"/>
              <a:buNone/>
            </a:pPr>
            <a:r>
              <a:rPr b="0" i="1" lang="en" sz="950" u="none" cap="none" strike="noStrike">
                <a:solidFill>
                  <a:srgbClr val="87A96B"/>
                </a:solidFill>
                <a:latin typeface="Arial"/>
                <a:ea typeface="Arial"/>
                <a:cs typeface="Arial"/>
                <a:sym typeface="Arial"/>
              </a:rPr>
              <a:t>Visual comparison to brand guide</a:t>
            </a:r>
            <a:endParaRPr b="0" i="0" sz="950" u="none" cap="none" strike="noStrike">
              <a:solidFill>
                <a:schemeClr val="dk1"/>
              </a:solidFill>
              <a:latin typeface="Calibri"/>
              <a:ea typeface="Calibri"/>
              <a:cs typeface="Calibri"/>
              <a:sym typeface="Calibri"/>
            </a:endParaRPr>
          </a:p>
        </p:txBody>
      </p:sp>
      <p:sp>
        <p:nvSpPr>
          <p:cNvPr id="303" name="Google Shape;303;p22"/>
          <p:cNvSpPr/>
          <p:nvPr/>
        </p:nvSpPr>
        <p:spPr>
          <a:xfrm>
            <a:off x="6333827" y="3586907"/>
            <a:ext cx="1036219" cy="15686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50"/>
              <a:buFont typeface="Arial"/>
              <a:buNone/>
            </a:pPr>
            <a:r>
              <a:rPr b="0" i="0" lang="en" sz="950" u="none" cap="none" strike="noStrike">
                <a:solidFill>
                  <a:srgbClr val="666666"/>
                </a:solidFill>
                <a:latin typeface="Arial"/>
                <a:ea typeface="Arial"/>
                <a:cs typeface="Arial"/>
                <a:sym typeface="Arial"/>
              </a:rPr>
              <a:t>Exact match</a:t>
            </a:r>
            <a:endParaRPr b="0" i="0" sz="950" u="none" cap="none" strike="noStrike">
              <a:solidFill>
                <a:schemeClr val="dk1"/>
              </a:solidFill>
              <a:latin typeface="Calibri"/>
              <a:ea typeface="Calibri"/>
              <a:cs typeface="Calibri"/>
              <a:sym typeface="Calibri"/>
            </a:endParaRPr>
          </a:p>
        </p:txBody>
      </p:sp>
      <p:sp>
        <p:nvSpPr>
          <p:cNvPr id="304" name="Google Shape;304;p22"/>
          <p:cNvSpPr/>
          <p:nvPr/>
        </p:nvSpPr>
        <p:spPr>
          <a:xfrm>
            <a:off x="558701" y="4016722"/>
            <a:ext cx="8026598" cy="431602"/>
          </a:xfrm>
          <a:prstGeom prst="roundRect">
            <a:avLst>
              <a:gd fmla="val 11770"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5" name="Google Shape;305;p22"/>
          <p:cNvSpPr/>
          <p:nvPr/>
        </p:nvSpPr>
        <p:spPr>
          <a:xfrm>
            <a:off x="761851" y="4143673"/>
            <a:ext cx="7772704" cy="17770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000"/>
              <a:buFont typeface="Arial"/>
              <a:buNone/>
            </a:pPr>
            <a:r>
              <a:rPr b="0" i="0" lang="en" sz="1000" u="none" cap="none" strike="noStrike">
                <a:solidFill>
                  <a:srgbClr val="FFFFFF"/>
                </a:solidFill>
                <a:latin typeface="Arial"/>
                <a:ea typeface="Arial"/>
                <a:cs typeface="Arial"/>
                <a:sym typeface="Arial"/>
              </a:rPr>
              <a:t>If you can't fill in all four columns for a goal, it's not clear enough yet. Keep refining until you can.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310" name="Shape 310"/>
        <p:cNvGrpSpPr/>
        <p:nvPr/>
      </p:nvGrpSpPr>
      <p:grpSpPr>
        <a:xfrm>
          <a:off x="0" y="0"/>
          <a:ext cx="0" cy="0"/>
          <a:chOff x="0" y="0"/>
          <a:chExt cx="0" cy="0"/>
        </a:xfrm>
      </p:grpSpPr>
      <p:sp>
        <p:nvSpPr>
          <p:cNvPr id="311" name="Google Shape;311;p23"/>
          <p:cNvSpPr/>
          <p:nvPr/>
        </p:nvSpPr>
        <p:spPr>
          <a:xfrm>
            <a:off x="558701" y="381000"/>
            <a:ext cx="849064"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2" name="Google Shape;312;p23"/>
          <p:cNvSpPr/>
          <p:nvPr/>
        </p:nvSpPr>
        <p:spPr>
          <a:xfrm>
            <a:off x="711101" y="546050"/>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STEP 3</a:t>
            </a:r>
            <a:endParaRPr b="0" i="0" sz="900" u="none" cap="none" strike="noStrike">
              <a:solidFill>
                <a:schemeClr val="dk1"/>
              </a:solidFill>
              <a:latin typeface="Calibri"/>
              <a:ea typeface="Calibri"/>
              <a:cs typeface="Calibri"/>
              <a:sym typeface="Calibri"/>
            </a:endParaRPr>
          </a:p>
        </p:txBody>
      </p:sp>
      <p:sp>
        <p:nvSpPr>
          <p:cNvPr id="313" name="Google Shape;313;p23"/>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 sz="2200" u="none" cap="none" strike="noStrike">
                <a:solidFill>
                  <a:srgbClr val="F4F1DE"/>
                </a:solidFill>
                <a:latin typeface="Georgia"/>
                <a:ea typeface="Georgia"/>
                <a:cs typeface="Georgia"/>
                <a:sym typeface="Georgia"/>
              </a:rPr>
              <a:t>Divide the Work Clearly</a:t>
            </a:r>
            <a:endParaRPr b="0" i="0" sz="2200" u="none" cap="none" strike="noStrike">
              <a:solidFill>
                <a:schemeClr val="dk1"/>
              </a:solidFill>
              <a:latin typeface="Calibri"/>
              <a:ea typeface="Calibri"/>
              <a:cs typeface="Calibri"/>
              <a:sym typeface="Calibri"/>
            </a:endParaRPr>
          </a:p>
        </p:txBody>
      </p:sp>
      <p:sp>
        <p:nvSpPr>
          <p:cNvPr id="314" name="Google Shape;314;p23"/>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 sz="1050" u="none" cap="none" strike="noStrike">
                <a:solidFill>
                  <a:srgbClr val="AAAAAA"/>
                </a:solidFill>
                <a:latin typeface="Arial"/>
                <a:ea typeface="Arial"/>
                <a:cs typeface="Arial"/>
                <a:sym typeface="Arial"/>
              </a:rPr>
              <a:t>Every section needs one owner and a clear definition of done. Shared ownership means nobody owns it.</a:t>
            </a:r>
            <a:endParaRPr b="0" i="0" sz="1050" u="none" cap="none" strike="noStrike">
              <a:solidFill>
                <a:schemeClr val="dk1"/>
              </a:solidFill>
              <a:latin typeface="Calibri"/>
              <a:ea typeface="Calibri"/>
              <a:cs typeface="Calibri"/>
              <a:sym typeface="Calibri"/>
            </a:endParaRPr>
          </a:p>
        </p:txBody>
      </p:sp>
      <p:sp>
        <p:nvSpPr>
          <p:cNvPr id="315" name="Google Shape;315;p23"/>
          <p:cNvSpPr/>
          <p:nvPr/>
        </p:nvSpPr>
        <p:spPr>
          <a:xfrm>
            <a:off x="558701" y="1661964"/>
            <a:ext cx="284937"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000"/>
              <a:buFont typeface="Georgia"/>
              <a:buNone/>
            </a:pPr>
            <a:r>
              <a:rPr b="1" i="0" lang="en" sz="2000" u="none" cap="none" strike="noStrike">
                <a:solidFill>
                  <a:srgbClr val="E07A5F"/>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16" name="Google Shape;316;p23"/>
          <p:cNvSpPr/>
          <p:nvPr/>
        </p:nvSpPr>
        <p:spPr>
          <a:xfrm>
            <a:off x="965002" y="1661964"/>
            <a:ext cx="258068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 sz="1100" u="none" cap="none" strike="noStrike">
                <a:solidFill>
                  <a:srgbClr val="F4F1DE"/>
                </a:solidFill>
                <a:latin typeface="Arial"/>
                <a:ea typeface="Arial"/>
                <a:cs typeface="Arial"/>
                <a:sym typeface="Arial"/>
              </a:rPr>
              <a:t>One Owner Per Section</a:t>
            </a:r>
            <a:endParaRPr b="0" i="0" sz="1100" u="none" cap="none" strike="noStrike">
              <a:solidFill>
                <a:schemeClr val="dk1"/>
              </a:solidFill>
              <a:latin typeface="Calibri"/>
              <a:ea typeface="Calibri"/>
              <a:cs typeface="Calibri"/>
              <a:sym typeface="Calibri"/>
            </a:endParaRPr>
          </a:p>
        </p:txBody>
      </p:sp>
      <p:sp>
        <p:nvSpPr>
          <p:cNvPr id="317" name="Google Shape;317;p23"/>
          <p:cNvSpPr/>
          <p:nvPr/>
        </p:nvSpPr>
        <p:spPr>
          <a:xfrm>
            <a:off x="965002" y="1852464"/>
            <a:ext cx="2580680"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No "we'll both work on it." One name, one section. No confusion about who writes what.</a:t>
            </a:r>
            <a:endParaRPr b="0" i="0" sz="900" u="none" cap="none" strike="noStrike">
              <a:solidFill>
                <a:schemeClr val="dk1"/>
              </a:solidFill>
              <a:latin typeface="Calibri"/>
              <a:ea typeface="Calibri"/>
              <a:cs typeface="Calibri"/>
              <a:sym typeface="Calibri"/>
            </a:endParaRPr>
          </a:p>
        </p:txBody>
      </p:sp>
      <p:sp>
        <p:nvSpPr>
          <p:cNvPr id="318" name="Google Shape;318;p23"/>
          <p:cNvSpPr/>
          <p:nvPr/>
        </p:nvSpPr>
        <p:spPr>
          <a:xfrm>
            <a:off x="558701" y="2273945"/>
            <a:ext cx="284937"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000"/>
              <a:buFont typeface="Georgia"/>
              <a:buNone/>
            </a:pPr>
            <a:r>
              <a:rPr b="1" i="0" lang="en" sz="2000" u="none" cap="none" strike="noStrike">
                <a:solidFill>
                  <a:srgbClr val="E07A5F"/>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19" name="Google Shape;319;p23"/>
          <p:cNvSpPr/>
          <p:nvPr/>
        </p:nvSpPr>
        <p:spPr>
          <a:xfrm>
            <a:off x="965002" y="2273945"/>
            <a:ext cx="258068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 sz="1100" u="none" cap="none" strike="noStrike">
                <a:solidFill>
                  <a:srgbClr val="F4F1DE"/>
                </a:solidFill>
                <a:latin typeface="Arial"/>
                <a:ea typeface="Arial"/>
                <a:cs typeface="Arial"/>
                <a:sym typeface="Arial"/>
              </a:rPr>
              <a:t>Clear "Done" Per Section</a:t>
            </a:r>
            <a:endParaRPr b="0" i="0" sz="1100" u="none" cap="none" strike="noStrike">
              <a:solidFill>
                <a:schemeClr val="dk1"/>
              </a:solidFill>
              <a:latin typeface="Calibri"/>
              <a:ea typeface="Calibri"/>
              <a:cs typeface="Calibri"/>
              <a:sym typeface="Calibri"/>
            </a:endParaRPr>
          </a:p>
        </p:txBody>
      </p:sp>
      <p:sp>
        <p:nvSpPr>
          <p:cNvPr id="320" name="Google Shape;320;p23"/>
          <p:cNvSpPr/>
          <p:nvPr/>
        </p:nvSpPr>
        <p:spPr>
          <a:xfrm>
            <a:off x="965002" y="2464445"/>
            <a:ext cx="2580680"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Each person knows exactly what their finished section looks like. Length, format, sources cited.</a:t>
            </a:r>
            <a:endParaRPr b="0" i="0" sz="900" u="none" cap="none" strike="noStrike">
              <a:solidFill>
                <a:schemeClr val="dk1"/>
              </a:solidFill>
              <a:latin typeface="Calibri"/>
              <a:ea typeface="Calibri"/>
              <a:cs typeface="Calibri"/>
              <a:sym typeface="Calibri"/>
            </a:endParaRPr>
          </a:p>
        </p:txBody>
      </p:sp>
      <p:sp>
        <p:nvSpPr>
          <p:cNvPr id="321" name="Google Shape;321;p23"/>
          <p:cNvSpPr/>
          <p:nvPr/>
        </p:nvSpPr>
        <p:spPr>
          <a:xfrm>
            <a:off x="558701" y="2885926"/>
            <a:ext cx="284937"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000"/>
              <a:buFont typeface="Georgia"/>
              <a:buNone/>
            </a:pPr>
            <a:r>
              <a:rPr b="1" i="0" lang="en" sz="2000" u="none" cap="none" strike="noStrike">
                <a:solidFill>
                  <a:srgbClr val="E07A5F"/>
                </a:solidFill>
                <a:latin typeface="Georgia"/>
                <a:ea typeface="Georgia"/>
                <a:cs typeface="Georgia"/>
                <a:sym typeface="Georgia"/>
              </a:rPr>
              <a:t>3</a:t>
            </a:r>
            <a:endParaRPr b="0" i="0" sz="2000" u="none" cap="none" strike="noStrike">
              <a:solidFill>
                <a:schemeClr val="dk1"/>
              </a:solidFill>
              <a:latin typeface="Calibri"/>
              <a:ea typeface="Calibri"/>
              <a:cs typeface="Calibri"/>
              <a:sym typeface="Calibri"/>
            </a:endParaRPr>
          </a:p>
        </p:txBody>
      </p:sp>
      <p:sp>
        <p:nvSpPr>
          <p:cNvPr id="322" name="Google Shape;322;p23"/>
          <p:cNvSpPr/>
          <p:nvPr/>
        </p:nvSpPr>
        <p:spPr>
          <a:xfrm>
            <a:off x="965002" y="2885926"/>
            <a:ext cx="2580680"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100"/>
              <a:buFont typeface="Arial"/>
              <a:buNone/>
            </a:pPr>
            <a:r>
              <a:rPr b="1" i="0" lang="en" sz="1100" u="none" cap="none" strike="noStrike">
                <a:solidFill>
                  <a:srgbClr val="F4F1DE"/>
                </a:solidFill>
                <a:latin typeface="Arial"/>
                <a:ea typeface="Arial"/>
                <a:cs typeface="Arial"/>
                <a:sym typeface="Arial"/>
              </a:rPr>
              <a:t>Parallel When Possible</a:t>
            </a:r>
            <a:endParaRPr b="0" i="0" sz="1100" u="none" cap="none" strike="noStrike">
              <a:solidFill>
                <a:schemeClr val="dk1"/>
              </a:solidFill>
              <a:latin typeface="Calibri"/>
              <a:ea typeface="Calibri"/>
              <a:cs typeface="Calibri"/>
              <a:sym typeface="Calibri"/>
            </a:endParaRPr>
          </a:p>
        </p:txBody>
      </p:sp>
      <p:sp>
        <p:nvSpPr>
          <p:cNvPr id="323" name="Google Shape;323;p23"/>
          <p:cNvSpPr/>
          <p:nvPr/>
        </p:nvSpPr>
        <p:spPr>
          <a:xfrm>
            <a:off x="965002" y="3076426"/>
            <a:ext cx="2580680"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Who can work at the same time? Who needs someone else's piece first? Map the dependencies.</a:t>
            </a:r>
            <a:endParaRPr b="0" i="0" sz="900" u="none" cap="none" strike="noStrike">
              <a:solidFill>
                <a:schemeClr val="dk1"/>
              </a:solidFill>
              <a:latin typeface="Calibri"/>
              <a:ea typeface="Calibri"/>
              <a:cs typeface="Calibri"/>
              <a:sym typeface="Calibri"/>
            </a:endParaRPr>
          </a:p>
        </p:txBody>
      </p:sp>
      <p:sp>
        <p:nvSpPr>
          <p:cNvPr id="324" name="Google Shape;324;p23"/>
          <p:cNvSpPr/>
          <p:nvPr/>
        </p:nvSpPr>
        <p:spPr>
          <a:xfrm>
            <a:off x="3723680" y="1661964"/>
            <a:ext cx="4861620" cy="3100536"/>
          </a:xfrm>
          <a:prstGeom prst="roundRect">
            <a:avLst>
              <a:gd fmla="val 2458"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5" name="Google Shape;325;p23"/>
          <p:cNvSpPr/>
          <p:nvPr/>
        </p:nvSpPr>
        <p:spPr>
          <a:xfrm>
            <a:off x="3952280" y="2235696"/>
            <a:ext cx="4492508"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Example: Annual Report</a:t>
            </a:r>
            <a:endParaRPr b="0" i="0" sz="1200" u="none" cap="none" strike="noStrike">
              <a:solidFill>
                <a:schemeClr val="dk1"/>
              </a:solidFill>
              <a:latin typeface="Calibri"/>
              <a:ea typeface="Calibri"/>
              <a:cs typeface="Calibri"/>
              <a:sym typeface="Calibri"/>
            </a:endParaRPr>
          </a:p>
        </p:txBody>
      </p:sp>
      <p:sp>
        <p:nvSpPr>
          <p:cNvPr id="326" name="Google Shape;326;p23"/>
          <p:cNvSpPr/>
          <p:nvPr/>
        </p:nvSpPr>
        <p:spPr>
          <a:xfrm>
            <a:off x="3952280" y="2534096"/>
            <a:ext cx="4492508" cy="337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50"/>
              <a:buFont typeface="Arial"/>
              <a:buNone/>
            </a:pPr>
            <a:r>
              <a:rPr b="1" i="0" lang="en" sz="950" u="none" cap="none" strike="noStrike">
                <a:solidFill>
                  <a:srgbClr val="FFFFFF"/>
                </a:solidFill>
                <a:latin typeface="Arial"/>
                <a:ea typeface="Arial"/>
                <a:cs typeface="Arial"/>
                <a:sym typeface="Arial"/>
              </a:rPr>
              <a:t>Dana — Financial Summary:</a:t>
            </a:r>
            <a:r>
              <a:rPr b="0" i="0" lang="en" sz="950" u="none" cap="none" strike="noStrike">
                <a:solidFill>
                  <a:srgbClr val="F4F1DE"/>
                </a:solidFill>
                <a:latin typeface="Arial"/>
                <a:ea typeface="Arial"/>
                <a:cs typeface="Arial"/>
                <a:sym typeface="Arial"/>
              </a:rPr>
              <a:t> 3 pages, uses audited Q4 data. Done when: figures match the audit report exactly.</a:t>
            </a:r>
            <a:endParaRPr b="0" i="0" sz="950" u="none" cap="none" strike="noStrike">
              <a:solidFill>
                <a:schemeClr val="dk1"/>
              </a:solidFill>
              <a:latin typeface="Calibri"/>
              <a:ea typeface="Calibri"/>
              <a:cs typeface="Calibri"/>
              <a:sym typeface="Calibri"/>
            </a:endParaRPr>
          </a:p>
        </p:txBody>
      </p:sp>
      <p:sp>
        <p:nvSpPr>
          <p:cNvPr id="327" name="Google Shape;327;p23"/>
          <p:cNvSpPr/>
          <p:nvPr/>
        </p:nvSpPr>
        <p:spPr>
          <a:xfrm>
            <a:off x="3952280" y="2973437"/>
            <a:ext cx="4492508" cy="337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50"/>
              <a:buFont typeface="Arial"/>
              <a:buNone/>
            </a:pPr>
            <a:r>
              <a:rPr b="1" i="0" lang="en" sz="950" u="none" cap="none" strike="noStrike">
                <a:solidFill>
                  <a:srgbClr val="FFFFFF"/>
                </a:solidFill>
                <a:latin typeface="Arial"/>
                <a:ea typeface="Arial"/>
                <a:cs typeface="Arial"/>
                <a:sym typeface="Arial"/>
              </a:rPr>
              <a:t>Raj — Market Analysis:</a:t>
            </a:r>
            <a:r>
              <a:rPr b="0" i="0" lang="en" sz="950" u="none" cap="none" strike="noStrike">
                <a:solidFill>
                  <a:srgbClr val="F4F1DE"/>
                </a:solidFill>
                <a:latin typeface="Arial"/>
                <a:ea typeface="Arial"/>
                <a:cs typeface="Arial"/>
                <a:sym typeface="Arial"/>
              </a:rPr>
              <a:t> 2 pages, cites 4 industry sources. Done when: all claims have a footnote.</a:t>
            </a:r>
            <a:endParaRPr b="0" i="0" sz="950" u="none" cap="none" strike="noStrike">
              <a:solidFill>
                <a:schemeClr val="dk1"/>
              </a:solidFill>
              <a:latin typeface="Calibri"/>
              <a:ea typeface="Calibri"/>
              <a:cs typeface="Calibri"/>
              <a:sym typeface="Calibri"/>
            </a:endParaRPr>
          </a:p>
        </p:txBody>
      </p:sp>
      <p:sp>
        <p:nvSpPr>
          <p:cNvPr id="328" name="Google Shape;328;p23"/>
          <p:cNvSpPr/>
          <p:nvPr/>
        </p:nvSpPr>
        <p:spPr>
          <a:xfrm>
            <a:off x="3952280" y="3412778"/>
            <a:ext cx="4492508" cy="337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950"/>
              <a:buFont typeface="Arial"/>
              <a:buNone/>
            </a:pPr>
            <a:r>
              <a:rPr b="1" i="0" lang="en" sz="950" u="none" cap="none" strike="noStrike">
                <a:solidFill>
                  <a:srgbClr val="FFFFFF"/>
                </a:solidFill>
                <a:latin typeface="Arial"/>
                <a:ea typeface="Arial"/>
                <a:cs typeface="Arial"/>
                <a:sym typeface="Arial"/>
              </a:rPr>
              <a:t>Priya — Design and Layout:</a:t>
            </a:r>
            <a:r>
              <a:rPr b="0" i="0" lang="en" sz="950" u="none" cap="none" strike="noStrike">
                <a:solidFill>
                  <a:srgbClr val="F4F1DE"/>
                </a:solidFill>
                <a:latin typeface="Arial"/>
                <a:ea typeface="Arial"/>
                <a:cs typeface="Arial"/>
                <a:sym typeface="Arial"/>
              </a:rPr>
              <a:t> On-brand template, charts formatted. Done when: passes the brand checklist.</a:t>
            </a:r>
            <a:endParaRPr b="0" i="0" sz="950" u="none" cap="none" strike="noStrike">
              <a:solidFill>
                <a:schemeClr val="dk1"/>
              </a:solidFill>
              <a:latin typeface="Calibri"/>
              <a:ea typeface="Calibri"/>
              <a:cs typeface="Calibri"/>
              <a:sym typeface="Calibri"/>
            </a:endParaRPr>
          </a:p>
        </p:txBody>
      </p:sp>
      <p:sp>
        <p:nvSpPr>
          <p:cNvPr id="329" name="Google Shape;329;p23"/>
          <p:cNvSpPr/>
          <p:nvPr/>
        </p:nvSpPr>
        <p:spPr>
          <a:xfrm>
            <a:off x="3952280" y="3902869"/>
            <a:ext cx="4404420" cy="285750"/>
          </a:xfrm>
          <a:prstGeom prst="roundRect">
            <a:avLst>
              <a:gd fmla="val 13333"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0" name="Google Shape;330;p23"/>
          <p:cNvSpPr/>
          <p:nvPr/>
        </p:nvSpPr>
        <p:spPr>
          <a:xfrm>
            <a:off x="4079230" y="3979069"/>
            <a:ext cx="4233529"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900"/>
              <a:buFont typeface="Arial"/>
              <a:buNone/>
            </a:pPr>
            <a:r>
              <a:rPr b="1" i="0" lang="en" sz="900" u="none" cap="none" strike="noStrike">
                <a:solidFill>
                  <a:srgbClr val="2C2C2C"/>
                </a:solidFill>
                <a:latin typeface="Arial"/>
                <a:ea typeface="Arial"/>
                <a:cs typeface="Arial"/>
                <a:sym typeface="Arial"/>
              </a:rPr>
              <a:t>Dana and Raj write in parallel. Priya starts layout once both sections are in.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335" name="Shape 335"/>
        <p:cNvGrpSpPr/>
        <p:nvPr/>
      </p:nvGrpSpPr>
      <p:grpSpPr>
        <a:xfrm>
          <a:off x="0" y="0"/>
          <a:ext cx="0" cy="0"/>
          <a:chOff x="0" y="0"/>
          <a:chExt cx="0" cy="0"/>
        </a:xfrm>
      </p:grpSpPr>
      <p:sp>
        <p:nvSpPr>
          <p:cNvPr id="336" name="Google Shape;336;p24"/>
          <p:cNvSpPr/>
          <p:nvPr/>
        </p:nvSpPr>
        <p:spPr>
          <a:xfrm>
            <a:off x="558701" y="381000"/>
            <a:ext cx="849064" cy="463451"/>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7" name="Google Shape;337;p24"/>
          <p:cNvSpPr/>
          <p:nvPr/>
        </p:nvSpPr>
        <p:spPr>
          <a:xfrm>
            <a:off x="711101" y="546050"/>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STEP 4</a:t>
            </a:r>
            <a:endParaRPr b="0" i="0" sz="900" u="none" cap="none" strike="noStrike">
              <a:solidFill>
                <a:schemeClr val="dk1"/>
              </a:solidFill>
              <a:latin typeface="Calibri"/>
              <a:ea typeface="Calibri"/>
              <a:cs typeface="Calibri"/>
              <a:sym typeface="Calibri"/>
            </a:endParaRPr>
          </a:p>
        </p:txBody>
      </p:sp>
      <p:sp>
        <p:nvSpPr>
          <p:cNvPr id="338" name="Google Shape;338;p24"/>
          <p:cNvSpPr/>
          <p:nvPr/>
        </p:nvSpPr>
        <p:spPr>
          <a:xfrm>
            <a:off x="558701" y="94595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200"/>
              <a:buFont typeface="Georgia"/>
              <a:buNone/>
            </a:pPr>
            <a:r>
              <a:rPr b="1" i="0" lang="en" sz="2200" u="none" cap="none" strike="noStrike">
                <a:solidFill>
                  <a:srgbClr val="2C2C2C"/>
                </a:solidFill>
                <a:latin typeface="Georgia"/>
                <a:ea typeface="Georgia"/>
                <a:cs typeface="Georgia"/>
                <a:sym typeface="Georgia"/>
              </a:rPr>
              <a:t>Get a Fresh Set of Eyes</a:t>
            </a:r>
            <a:endParaRPr b="0" i="0" sz="2200" u="none" cap="none" strike="noStrike">
              <a:solidFill>
                <a:schemeClr val="dk1"/>
              </a:solidFill>
              <a:latin typeface="Calibri"/>
              <a:ea typeface="Calibri"/>
              <a:cs typeface="Calibri"/>
              <a:sym typeface="Calibri"/>
            </a:endParaRPr>
          </a:p>
        </p:txBody>
      </p:sp>
      <p:sp>
        <p:nvSpPr>
          <p:cNvPr id="339" name="Google Shape;339;p24"/>
          <p:cNvSpPr/>
          <p:nvPr/>
        </p:nvSpPr>
        <p:spPr>
          <a:xfrm>
            <a:off x="558701" y="1311027"/>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50"/>
              <a:buFont typeface="Arial"/>
              <a:buNone/>
            </a:pPr>
            <a:r>
              <a:rPr b="0" i="0" lang="en" sz="1050" u="none" cap="none" strike="noStrike">
                <a:solidFill>
                  <a:srgbClr val="666666"/>
                </a:solidFill>
                <a:latin typeface="Arial"/>
                <a:ea typeface="Arial"/>
                <a:cs typeface="Arial"/>
                <a:sym typeface="Arial"/>
              </a:rPr>
              <a:t>Before you start writing, have someone else read the outline. It's the cheapest quality check you'll ever do.</a:t>
            </a:r>
            <a:endParaRPr b="0" i="0" sz="1050" u="none" cap="none" strike="noStrike">
              <a:solidFill>
                <a:schemeClr val="dk1"/>
              </a:solidFill>
              <a:latin typeface="Calibri"/>
              <a:ea typeface="Calibri"/>
              <a:cs typeface="Calibri"/>
              <a:sym typeface="Calibri"/>
            </a:endParaRPr>
          </a:p>
        </p:txBody>
      </p:sp>
      <p:sp>
        <p:nvSpPr>
          <p:cNvPr id="340" name="Google Shape;340;p24"/>
          <p:cNvSpPr/>
          <p:nvPr/>
        </p:nvSpPr>
        <p:spPr>
          <a:xfrm>
            <a:off x="558701" y="1661964"/>
            <a:ext cx="3898999" cy="731937"/>
          </a:xfrm>
          <a:prstGeom prst="roundRect">
            <a:avLst>
              <a:gd fmla="val 694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41" name="Google Shape;341;p24"/>
          <p:cNvCxnSpPr/>
          <p:nvPr/>
        </p:nvCxnSpPr>
        <p:spPr>
          <a:xfrm>
            <a:off x="582513" y="1661964"/>
            <a:ext cx="0" cy="731937"/>
          </a:xfrm>
          <a:prstGeom prst="straightConnector1">
            <a:avLst/>
          </a:prstGeom>
          <a:noFill/>
          <a:ln cap="flat" cmpd="sng" w="47625">
            <a:solidFill>
              <a:srgbClr val="E07A5F"/>
            </a:solidFill>
            <a:prstDash val="solid"/>
            <a:round/>
            <a:headEnd len="sm" w="sm" type="none"/>
            <a:tailEnd len="sm" w="sm" type="none"/>
          </a:ln>
        </p:spPr>
      </p:cxnSp>
      <p:sp>
        <p:nvSpPr>
          <p:cNvPr id="342" name="Google Shape;342;p24"/>
          <p:cNvSpPr/>
          <p:nvPr/>
        </p:nvSpPr>
        <p:spPr>
          <a:xfrm>
            <a:off x="784027" y="1788914"/>
            <a:ext cx="356589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You Can't Edit Your Own Blind Spots</a:t>
            </a:r>
            <a:endParaRPr b="0" i="0" sz="1000" u="none" cap="none" strike="noStrike">
              <a:solidFill>
                <a:schemeClr val="dk1"/>
              </a:solidFill>
              <a:latin typeface="Calibri"/>
              <a:ea typeface="Calibri"/>
              <a:cs typeface="Calibri"/>
              <a:sym typeface="Calibri"/>
            </a:endParaRPr>
          </a:p>
        </p:txBody>
      </p:sp>
      <p:sp>
        <p:nvSpPr>
          <p:cNvPr id="343" name="Google Shape;343;p24"/>
          <p:cNvSpPr/>
          <p:nvPr/>
        </p:nvSpPr>
        <p:spPr>
          <a:xfrm>
            <a:off x="784027" y="1969889"/>
            <a:ext cx="3565892"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00"/>
              <a:buFont typeface="Arial"/>
              <a:buNone/>
            </a:pPr>
            <a:r>
              <a:rPr b="0" i="0" lang="en" sz="900" u="none" cap="none" strike="noStrike">
                <a:solidFill>
                  <a:srgbClr val="666666"/>
                </a:solidFill>
                <a:latin typeface="Arial"/>
                <a:ea typeface="Arial"/>
                <a:cs typeface="Arial"/>
                <a:sym typeface="Arial"/>
              </a:rPr>
              <a:t>The person who wrote the outline has the same assumptions baked in. Someone else will see what you can't.</a:t>
            </a:r>
            <a:endParaRPr b="0" i="0" sz="900" u="none" cap="none" strike="noStrike">
              <a:solidFill>
                <a:schemeClr val="dk1"/>
              </a:solidFill>
              <a:latin typeface="Calibri"/>
              <a:ea typeface="Calibri"/>
              <a:cs typeface="Calibri"/>
              <a:sym typeface="Calibri"/>
            </a:endParaRPr>
          </a:p>
        </p:txBody>
      </p:sp>
      <p:sp>
        <p:nvSpPr>
          <p:cNvPr id="344" name="Google Shape;344;p24"/>
          <p:cNvSpPr/>
          <p:nvPr/>
        </p:nvSpPr>
        <p:spPr>
          <a:xfrm>
            <a:off x="558701" y="2495401"/>
            <a:ext cx="3898999" cy="731937"/>
          </a:xfrm>
          <a:prstGeom prst="roundRect">
            <a:avLst>
              <a:gd fmla="val 694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45" name="Google Shape;345;p24"/>
          <p:cNvCxnSpPr/>
          <p:nvPr/>
        </p:nvCxnSpPr>
        <p:spPr>
          <a:xfrm>
            <a:off x="582513" y="2495401"/>
            <a:ext cx="0" cy="731937"/>
          </a:xfrm>
          <a:prstGeom prst="straightConnector1">
            <a:avLst/>
          </a:prstGeom>
          <a:noFill/>
          <a:ln cap="flat" cmpd="sng" w="47625">
            <a:solidFill>
              <a:srgbClr val="E07A5F"/>
            </a:solidFill>
            <a:prstDash val="solid"/>
            <a:round/>
            <a:headEnd len="sm" w="sm" type="none"/>
            <a:tailEnd len="sm" w="sm" type="none"/>
          </a:ln>
        </p:spPr>
      </p:cxnSp>
      <p:sp>
        <p:nvSpPr>
          <p:cNvPr id="346" name="Google Shape;346;p24"/>
          <p:cNvSpPr/>
          <p:nvPr/>
        </p:nvSpPr>
        <p:spPr>
          <a:xfrm>
            <a:off x="784027" y="2622352"/>
            <a:ext cx="356589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Cheap Now, Expensive Later</a:t>
            </a:r>
            <a:endParaRPr b="0" i="0" sz="1000" u="none" cap="none" strike="noStrike">
              <a:solidFill>
                <a:schemeClr val="dk1"/>
              </a:solidFill>
              <a:latin typeface="Calibri"/>
              <a:ea typeface="Calibri"/>
              <a:cs typeface="Calibri"/>
              <a:sym typeface="Calibri"/>
            </a:endParaRPr>
          </a:p>
        </p:txBody>
      </p:sp>
      <p:sp>
        <p:nvSpPr>
          <p:cNvPr id="347" name="Google Shape;347;p24"/>
          <p:cNvSpPr/>
          <p:nvPr/>
        </p:nvSpPr>
        <p:spPr>
          <a:xfrm>
            <a:off x="784027" y="2803327"/>
            <a:ext cx="3565892"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00"/>
              <a:buFont typeface="Arial"/>
              <a:buNone/>
            </a:pPr>
            <a:r>
              <a:rPr b="0" i="0" lang="en" sz="900" u="none" cap="none" strike="noStrike">
                <a:solidFill>
                  <a:srgbClr val="666666"/>
                </a:solidFill>
                <a:latin typeface="Arial"/>
                <a:ea typeface="Arial"/>
                <a:cs typeface="Arial"/>
                <a:sym typeface="Arial"/>
              </a:rPr>
              <a:t>Catching a wrong angle in the outline is a 5-minute fix. Catching it in a finished 15-page report means starting over.</a:t>
            </a:r>
            <a:endParaRPr b="0" i="0" sz="900" u="none" cap="none" strike="noStrike">
              <a:solidFill>
                <a:schemeClr val="dk1"/>
              </a:solidFill>
              <a:latin typeface="Calibri"/>
              <a:ea typeface="Calibri"/>
              <a:cs typeface="Calibri"/>
              <a:sym typeface="Calibri"/>
            </a:endParaRPr>
          </a:p>
        </p:txBody>
      </p:sp>
      <p:sp>
        <p:nvSpPr>
          <p:cNvPr id="348" name="Google Shape;348;p24"/>
          <p:cNvSpPr/>
          <p:nvPr/>
        </p:nvSpPr>
        <p:spPr>
          <a:xfrm>
            <a:off x="558701" y="3328839"/>
            <a:ext cx="3898999" cy="731937"/>
          </a:xfrm>
          <a:prstGeom prst="roundRect">
            <a:avLst>
              <a:gd fmla="val 694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49" name="Google Shape;349;p24"/>
          <p:cNvCxnSpPr/>
          <p:nvPr/>
        </p:nvCxnSpPr>
        <p:spPr>
          <a:xfrm>
            <a:off x="582513" y="3328839"/>
            <a:ext cx="0" cy="731937"/>
          </a:xfrm>
          <a:prstGeom prst="straightConnector1">
            <a:avLst/>
          </a:prstGeom>
          <a:noFill/>
          <a:ln cap="flat" cmpd="sng" w="47625">
            <a:solidFill>
              <a:srgbClr val="E07A5F"/>
            </a:solidFill>
            <a:prstDash val="solid"/>
            <a:round/>
            <a:headEnd len="sm" w="sm" type="none"/>
            <a:tailEnd len="sm" w="sm" type="none"/>
          </a:ln>
        </p:spPr>
      </p:cxnSp>
      <p:sp>
        <p:nvSpPr>
          <p:cNvPr id="350" name="Google Shape;350;p24"/>
          <p:cNvSpPr/>
          <p:nvPr/>
        </p:nvSpPr>
        <p:spPr>
          <a:xfrm>
            <a:off x="784027" y="3455789"/>
            <a:ext cx="356589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000"/>
              <a:buFont typeface="Arial"/>
              <a:buNone/>
            </a:pPr>
            <a:r>
              <a:rPr b="1" i="0" lang="en" sz="1000" u="none" cap="none" strike="noStrike">
                <a:solidFill>
                  <a:srgbClr val="2C2C2C"/>
                </a:solidFill>
                <a:latin typeface="Arial"/>
                <a:ea typeface="Arial"/>
                <a:cs typeface="Arial"/>
                <a:sym typeface="Arial"/>
              </a:rPr>
              <a:t>Match Effort to Stakes</a:t>
            </a:r>
            <a:endParaRPr b="0" i="0" sz="1000" u="none" cap="none" strike="noStrike">
              <a:solidFill>
                <a:schemeClr val="dk1"/>
              </a:solidFill>
              <a:latin typeface="Calibri"/>
              <a:ea typeface="Calibri"/>
              <a:cs typeface="Calibri"/>
              <a:sym typeface="Calibri"/>
            </a:endParaRPr>
          </a:p>
        </p:txBody>
      </p:sp>
      <p:sp>
        <p:nvSpPr>
          <p:cNvPr id="351" name="Google Shape;351;p24"/>
          <p:cNvSpPr/>
          <p:nvPr/>
        </p:nvSpPr>
        <p:spPr>
          <a:xfrm>
            <a:off x="784027" y="3636764"/>
            <a:ext cx="3565892"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900"/>
              <a:buFont typeface="Arial"/>
              <a:buNone/>
            </a:pPr>
            <a:r>
              <a:rPr b="0" i="0" lang="en" sz="900" u="none" cap="none" strike="noStrike">
                <a:solidFill>
                  <a:srgbClr val="666666"/>
                </a:solidFill>
                <a:latin typeface="Arial"/>
                <a:ea typeface="Arial"/>
                <a:cs typeface="Arial"/>
                <a:sym typeface="Arial"/>
              </a:rPr>
              <a:t>Internal memo? Quick read from a colleague. Board presentation? Multiple reviewers, multiple rounds.</a:t>
            </a:r>
            <a:endParaRPr b="0" i="0" sz="900" u="none" cap="none" strike="noStrike">
              <a:solidFill>
                <a:schemeClr val="dk1"/>
              </a:solidFill>
              <a:latin typeface="Calibri"/>
              <a:ea typeface="Calibri"/>
              <a:cs typeface="Calibri"/>
              <a:sym typeface="Calibri"/>
            </a:endParaRPr>
          </a:p>
        </p:txBody>
      </p:sp>
      <p:sp>
        <p:nvSpPr>
          <p:cNvPr id="352" name="Google Shape;352;p24"/>
          <p:cNvSpPr/>
          <p:nvPr/>
        </p:nvSpPr>
        <p:spPr>
          <a:xfrm>
            <a:off x="4686300" y="1661964"/>
            <a:ext cx="3898999" cy="791170"/>
          </a:xfrm>
          <a:prstGeom prst="roundRect">
            <a:avLst>
              <a:gd fmla="val 6421"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3" name="Google Shape;353;p24"/>
          <p:cNvSpPr/>
          <p:nvPr/>
        </p:nvSpPr>
        <p:spPr>
          <a:xfrm>
            <a:off x="4838700" y="1816894"/>
            <a:ext cx="366608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900"/>
              <a:buFont typeface="Arial"/>
              <a:buNone/>
            </a:pPr>
            <a:r>
              <a:rPr b="1" i="0" lang="en" sz="900" u="none" cap="none" strike="noStrike">
                <a:solidFill>
                  <a:srgbClr val="87A96B"/>
                </a:solidFill>
                <a:latin typeface="Arial"/>
                <a:ea typeface="Arial"/>
                <a:cs typeface="Arial"/>
                <a:sym typeface="Arial"/>
              </a:rPr>
              <a:t>REVIEW THE OUTLINE</a:t>
            </a:r>
            <a:endParaRPr b="0" i="0" sz="900" u="none" cap="none" strike="noStrike">
              <a:solidFill>
                <a:schemeClr val="dk1"/>
              </a:solidFill>
              <a:latin typeface="Calibri"/>
              <a:ea typeface="Calibri"/>
              <a:cs typeface="Calibri"/>
              <a:sym typeface="Calibri"/>
            </a:endParaRPr>
          </a:p>
        </p:txBody>
      </p:sp>
      <p:sp>
        <p:nvSpPr>
          <p:cNvPr id="354" name="Google Shape;354;p24"/>
          <p:cNvSpPr/>
          <p:nvPr/>
        </p:nvSpPr>
        <p:spPr>
          <a:xfrm>
            <a:off x="4838700" y="2000994"/>
            <a:ext cx="3666083"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CCCCC"/>
              </a:buClr>
              <a:buSzPts val="900"/>
              <a:buFont typeface="Arial"/>
              <a:buNone/>
            </a:pPr>
            <a:r>
              <a:rPr b="0" i="0" lang="en" sz="900" u="none" cap="none" strike="noStrike">
                <a:solidFill>
                  <a:srgbClr val="CCCCCC"/>
                </a:solidFill>
                <a:latin typeface="Arial"/>
                <a:ea typeface="Arial"/>
                <a:cs typeface="Arial"/>
                <a:sym typeface="Arial"/>
              </a:rPr>
              <a:t>Before writing. Are we covering the right topics? Is the framing right? Did we miss anyone's concerns?</a:t>
            </a:r>
            <a:endParaRPr b="0" i="0" sz="900" u="none" cap="none" strike="noStrike">
              <a:solidFill>
                <a:schemeClr val="dk1"/>
              </a:solidFill>
              <a:latin typeface="Calibri"/>
              <a:ea typeface="Calibri"/>
              <a:cs typeface="Calibri"/>
              <a:sym typeface="Calibri"/>
            </a:endParaRPr>
          </a:p>
        </p:txBody>
      </p:sp>
      <p:sp>
        <p:nvSpPr>
          <p:cNvPr id="355" name="Google Shape;355;p24"/>
          <p:cNvSpPr/>
          <p:nvPr/>
        </p:nvSpPr>
        <p:spPr>
          <a:xfrm>
            <a:off x="4686300" y="2554635"/>
            <a:ext cx="3898999" cy="791319"/>
          </a:xfrm>
          <a:prstGeom prst="roundRect">
            <a:avLst>
              <a:gd fmla="val 6420"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6" name="Google Shape;356;p24"/>
          <p:cNvSpPr/>
          <p:nvPr/>
        </p:nvSpPr>
        <p:spPr>
          <a:xfrm>
            <a:off x="4838700" y="2709714"/>
            <a:ext cx="366608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900"/>
              <a:buFont typeface="Arial"/>
              <a:buNone/>
            </a:pPr>
            <a:r>
              <a:rPr b="1" i="0" lang="en" sz="900" u="none" cap="none" strike="noStrike">
                <a:solidFill>
                  <a:srgbClr val="87A96B"/>
                </a:solidFill>
                <a:latin typeface="Arial"/>
                <a:ea typeface="Arial"/>
                <a:cs typeface="Arial"/>
                <a:sym typeface="Arial"/>
              </a:rPr>
              <a:t>REVIEW THE DRAFT</a:t>
            </a:r>
            <a:endParaRPr b="0" i="0" sz="900" u="none" cap="none" strike="noStrike">
              <a:solidFill>
                <a:schemeClr val="dk1"/>
              </a:solidFill>
              <a:latin typeface="Calibri"/>
              <a:ea typeface="Calibri"/>
              <a:cs typeface="Calibri"/>
              <a:sym typeface="Calibri"/>
            </a:endParaRPr>
          </a:p>
        </p:txBody>
      </p:sp>
      <p:sp>
        <p:nvSpPr>
          <p:cNvPr id="357" name="Google Shape;357;p24"/>
          <p:cNvSpPr/>
          <p:nvPr/>
        </p:nvSpPr>
        <p:spPr>
          <a:xfrm>
            <a:off x="4838700" y="2893814"/>
            <a:ext cx="3666083"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CCCCC"/>
              </a:buClr>
              <a:buSzPts val="900"/>
              <a:buFont typeface="Arial"/>
              <a:buNone/>
            </a:pPr>
            <a:r>
              <a:rPr b="0" i="0" lang="en" sz="900" u="none" cap="none" strike="noStrike">
                <a:solidFill>
                  <a:srgbClr val="CCCCCC"/>
                </a:solidFill>
                <a:latin typeface="Arial"/>
                <a:ea typeface="Arial"/>
                <a:cs typeface="Arial"/>
                <a:sym typeface="Arial"/>
              </a:rPr>
              <a:t>After writing. Does it say what we intended? Are the facts right? Does it flow?</a:t>
            </a:r>
            <a:endParaRPr b="0" i="0" sz="900" u="none" cap="none" strike="noStrike">
              <a:solidFill>
                <a:schemeClr val="dk1"/>
              </a:solidFill>
              <a:latin typeface="Calibri"/>
              <a:ea typeface="Calibri"/>
              <a:cs typeface="Calibri"/>
              <a:sym typeface="Calibri"/>
            </a:endParaRPr>
          </a:p>
        </p:txBody>
      </p:sp>
      <p:sp>
        <p:nvSpPr>
          <p:cNvPr id="358" name="Google Shape;358;p24"/>
          <p:cNvSpPr/>
          <p:nvPr/>
        </p:nvSpPr>
        <p:spPr>
          <a:xfrm>
            <a:off x="4686300" y="3447455"/>
            <a:ext cx="3898999" cy="791319"/>
          </a:xfrm>
          <a:prstGeom prst="roundRect">
            <a:avLst>
              <a:gd fmla="val 6420"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9" name="Google Shape;359;p24"/>
          <p:cNvSpPr/>
          <p:nvPr/>
        </p:nvSpPr>
        <p:spPr>
          <a:xfrm>
            <a:off x="4838700" y="3602534"/>
            <a:ext cx="3666083"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7A96B"/>
              </a:buClr>
              <a:buSzPts val="900"/>
              <a:buFont typeface="Arial"/>
              <a:buNone/>
            </a:pPr>
            <a:r>
              <a:rPr b="1" i="0" lang="en" sz="900" u="none" cap="none" strike="noStrike">
                <a:solidFill>
                  <a:srgbClr val="87A96B"/>
                </a:solidFill>
                <a:latin typeface="Arial"/>
                <a:ea typeface="Arial"/>
                <a:cs typeface="Arial"/>
                <a:sym typeface="Arial"/>
              </a:rPr>
              <a:t>FINAL READ-THROUGH</a:t>
            </a:r>
            <a:endParaRPr b="0" i="0" sz="900" u="none" cap="none" strike="noStrike">
              <a:solidFill>
                <a:schemeClr val="dk1"/>
              </a:solidFill>
              <a:latin typeface="Calibri"/>
              <a:ea typeface="Calibri"/>
              <a:cs typeface="Calibri"/>
              <a:sym typeface="Calibri"/>
            </a:endParaRPr>
          </a:p>
        </p:txBody>
      </p:sp>
      <p:sp>
        <p:nvSpPr>
          <p:cNvPr id="360" name="Google Shape;360;p24"/>
          <p:cNvSpPr/>
          <p:nvPr/>
        </p:nvSpPr>
        <p:spPr>
          <a:xfrm>
            <a:off x="4838700" y="3786634"/>
            <a:ext cx="3666083" cy="29706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CCCCC"/>
              </a:buClr>
              <a:buSzPts val="900"/>
              <a:buFont typeface="Arial"/>
              <a:buNone/>
            </a:pPr>
            <a:r>
              <a:rPr b="0" i="0" lang="en" sz="900" u="none" cap="none" strike="noStrike">
                <a:solidFill>
                  <a:srgbClr val="CCCCCC"/>
                </a:solidFill>
                <a:latin typeface="Arial"/>
                <a:ea typeface="Arial"/>
                <a:cs typeface="Arial"/>
                <a:sym typeface="Arial"/>
              </a:rPr>
              <a:t>Before sending. Typos, formatting, tone. Last chance to catch something embarrassing.</a:t>
            </a:r>
            <a:endParaRPr b="0" i="0" sz="900" u="none" cap="none" strike="noStrike">
              <a:solidFill>
                <a:schemeClr val="dk1"/>
              </a:solidFill>
              <a:latin typeface="Calibri"/>
              <a:ea typeface="Calibri"/>
              <a:cs typeface="Calibri"/>
              <a:sym typeface="Calibri"/>
            </a:endParaRPr>
          </a:p>
        </p:txBody>
      </p:sp>
      <p:sp>
        <p:nvSpPr>
          <p:cNvPr id="361" name="Google Shape;361;p24"/>
          <p:cNvSpPr/>
          <p:nvPr/>
        </p:nvSpPr>
        <p:spPr>
          <a:xfrm>
            <a:off x="558701" y="4365724"/>
            <a:ext cx="8026598" cy="396776"/>
          </a:xfrm>
          <a:prstGeom prst="roundRect">
            <a:avLst>
              <a:gd fmla="val 12803"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2" name="Google Shape;362;p24"/>
          <p:cNvSpPr/>
          <p:nvPr/>
        </p:nvSpPr>
        <p:spPr>
          <a:xfrm>
            <a:off x="761851" y="4492675"/>
            <a:ext cx="7772704"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1" lang="en" sz="1000" u="none" cap="none" strike="noStrike">
                <a:solidFill>
                  <a:srgbClr val="FFFFFF"/>
                </a:solidFill>
                <a:latin typeface="Arial"/>
                <a:ea typeface="Arial"/>
                <a:cs typeface="Arial"/>
                <a:sym typeface="Arial"/>
              </a:rPr>
              <a:t>Getting feedback on an outline is collaboration. Getting feedback after delivery is damage control.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367" name="Shape 367"/>
        <p:cNvGrpSpPr/>
        <p:nvPr/>
      </p:nvGrpSpPr>
      <p:grpSpPr>
        <a:xfrm>
          <a:off x="0" y="0"/>
          <a:ext cx="0" cy="0"/>
          <a:chOff x="0" y="0"/>
          <a:chExt cx="0" cy="0"/>
        </a:xfrm>
      </p:grpSpPr>
      <p:sp>
        <p:nvSpPr>
          <p:cNvPr id="368" name="Google Shape;368;p25"/>
          <p:cNvSpPr/>
          <p:nvPr/>
        </p:nvSpPr>
        <p:spPr>
          <a:xfrm>
            <a:off x="558701" y="355550"/>
            <a:ext cx="849064" cy="463451"/>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9" name="Google Shape;369;p25"/>
          <p:cNvSpPr/>
          <p:nvPr/>
        </p:nvSpPr>
        <p:spPr>
          <a:xfrm>
            <a:off x="711101" y="520601"/>
            <a:ext cx="555150"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STEP 5</a:t>
            </a:r>
            <a:endParaRPr b="0" i="0" sz="900" u="none" cap="none" strike="noStrike">
              <a:solidFill>
                <a:schemeClr val="dk1"/>
              </a:solidFill>
              <a:latin typeface="Calibri"/>
              <a:ea typeface="Calibri"/>
              <a:cs typeface="Calibri"/>
              <a:sym typeface="Calibri"/>
            </a:endParaRPr>
          </a:p>
        </p:txBody>
      </p:sp>
      <p:sp>
        <p:nvSpPr>
          <p:cNvPr id="370" name="Google Shape;370;p25"/>
          <p:cNvSpPr/>
          <p:nvPr/>
        </p:nvSpPr>
        <p:spPr>
          <a:xfrm>
            <a:off x="558701" y="920502"/>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 sz="2200" u="none" cap="none" strike="noStrike">
                <a:solidFill>
                  <a:srgbClr val="F4F1DE"/>
                </a:solidFill>
                <a:latin typeface="Georgia"/>
                <a:ea typeface="Georgia"/>
                <a:cs typeface="Georgia"/>
                <a:sym typeface="Georgia"/>
              </a:rPr>
              <a:t>Draft, Review, Revise, Finalize</a:t>
            </a:r>
            <a:endParaRPr b="0" i="0" sz="2200" u="none" cap="none" strike="noStrike">
              <a:solidFill>
                <a:schemeClr val="dk1"/>
              </a:solidFill>
              <a:latin typeface="Calibri"/>
              <a:ea typeface="Calibri"/>
              <a:cs typeface="Calibri"/>
              <a:sym typeface="Calibri"/>
            </a:endParaRPr>
          </a:p>
        </p:txBody>
      </p:sp>
      <p:sp>
        <p:nvSpPr>
          <p:cNvPr id="371" name="Google Shape;371;p25"/>
          <p:cNvSpPr/>
          <p:nvPr/>
        </p:nvSpPr>
        <p:spPr>
          <a:xfrm>
            <a:off x="558701" y="1285577"/>
            <a:ext cx="8187130" cy="1649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00"/>
              <a:buFont typeface="Arial"/>
              <a:buNone/>
            </a:pPr>
            <a:r>
              <a:rPr b="0" i="0" lang="en" sz="1000" u="none" cap="none" strike="noStrike">
                <a:solidFill>
                  <a:srgbClr val="AAAAAA"/>
                </a:solidFill>
                <a:latin typeface="Arial"/>
                <a:ea typeface="Arial"/>
                <a:cs typeface="Arial"/>
                <a:sym typeface="Arial"/>
              </a:rPr>
              <a:t>Write the draft, check it against your criteria, fix what's off. Two revision rounds max — then it's done.</a:t>
            </a:r>
            <a:endParaRPr b="0" i="0" sz="1000" u="none" cap="none" strike="noStrike">
              <a:solidFill>
                <a:schemeClr val="dk1"/>
              </a:solidFill>
              <a:latin typeface="Calibri"/>
              <a:ea typeface="Calibri"/>
              <a:cs typeface="Calibri"/>
              <a:sym typeface="Calibri"/>
            </a:endParaRPr>
          </a:p>
        </p:txBody>
      </p:sp>
      <p:sp>
        <p:nvSpPr>
          <p:cNvPr id="372" name="Google Shape;372;p25"/>
          <p:cNvSpPr/>
          <p:nvPr/>
        </p:nvSpPr>
        <p:spPr>
          <a:xfrm>
            <a:off x="558701" y="1602879"/>
            <a:ext cx="355550" cy="355550"/>
          </a:xfrm>
          <a:prstGeom prst="roundRect">
            <a:avLst>
              <a:gd fmla="val 257179"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3" name="Google Shape;373;p25"/>
          <p:cNvSpPr/>
          <p:nvPr/>
        </p:nvSpPr>
        <p:spPr>
          <a:xfrm>
            <a:off x="693137" y="1694855"/>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374" name="Google Shape;374;p25"/>
          <p:cNvSpPr/>
          <p:nvPr/>
        </p:nvSpPr>
        <p:spPr>
          <a:xfrm>
            <a:off x="1041202" y="1639044"/>
            <a:ext cx="2551533"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 sz="1000" u="none" cap="none" strike="noStrike">
                <a:solidFill>
                  <a:srgbClr val="F4F1DE"/>
                </a:solidFill>
                <a:latin typeface="Arial"/>
                <a:ea typeface="Arial"/>
                <a:cs typeface="Arial"/>
                <a:sym typeface="Arial"/>
              </a:rPr>
              <a:t>Write</a:t>
            </a:r>
            <a:endParaRPr b="0" i="0" sz="1000" u="none" cap="none" strike="noStrike">
              <a:solidFill>
                <a:schemeClr val="dk1"/>
              </a:solidFill>
              <a:latin typeface="Calibri"/>
              <a:ea typeface="Calibri"/>
              <a:cs typeface="Calibri"/>
              <a:sym typeface="Calibri"/>
            </a:endParaRPr>
          </a:p>
        </p:txBody>
      </p:sp>
      <p:sp>
        <p:nvSpPr>
          <p:cNvPr id="375" name="Google Shape;375;p25"/>
          <p:cNvSpPr/>
          <p:nvPr/>
        </p:nvSpPr>
        <p:spPr>
          <a:xfrm>
            <a:off x="1041202" y="1781919"/>
            <a:ext cx="2551533"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Each person drafts their section. Follows the outline.</a:t>
            </a:r>
            <a:endParaRPr b="0" i="0" sz="850" u="none" cap="none" strike="noStrike">
              <a:solidFill>
                <a:schemeClr val="dk1"/>
              </a:solidFill>
              <a:latin typeface="Calibri"/>
              <a:ea typeface="Calibri"/>
              <a:cs typeface="Calibri"/>
              <a:sym typeface="Calibri"/>
            </a:endParaRPr>
          </a:p>
        </p:txBody>
      </p:sp>
      <p:sp>
        <p:nvSpPr>
          <p:cNvPr id="376" name="Google Shape;376;p25"/>
          <p:cNvSpPr/>
          <p:nvPr/>
        </p:nvSpPr>
        <p:spPr>
          <a:xfrm>
            <a:off x="558701" y="2068413"/>
            <a:ext cx="355550" cy="355550"/>
          </a:xfrm>
          <a:prstGeom prst="roundRect">
            <a:avLst>
              <a:gd fmla="val 257179"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7" name="Google Shape;377;p25"/>
          <p:cNvSpPr/>
          <p:nvPr/>
        </p:nvSpPr>
        <p:spPr>
          <a:xfrm>
            <a:off x="693137" y="2160389"/>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378" name="Google Shape;378;p25"/>
          <p:cNvSpPr/>
          <p:nvPr/>
        </p:nvSpPr>
        <p:spPr>
          <a:xfrm>
            <a:off x="1041202" y="2034629"/>
            <a:ext cx="3484828"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 sz="1000" u="none" cap="none" strike="noStrike">
                <a:solidFill>
                  <a:srgbClr val="F4F1DE"/>
                </a:solidFill>
                <a:latin typeface="Arial"/>
                <a:ea typeface="Arial"/>
                <a:cs typeface="Arial"/>
                <a:sym typeface="Arial"/>
              </a:rPr>
              <a:t>Quick Read</a:t>
            </a:r>
            <a:endParaRPr b="0" i="0" sz="1000" u="none" cap="none" strike="noStrike">
              <a:solidFill>
                <a:schemeClr val="dk1"/>
              </a:solidFill>
              <a:latin typeface="Calibri"/>
              <a:ea typeface="Calibri"/>
              <a:cs typeface="Calibri"/>
              <a:sym typeface="Calibri"/>
            </a:endParaRPr>
          </a:p>
        </p:txBody>
      </p:sp>
      <p:sp>
        <p:nvSpPr>
          <p:cNvPr id="379" name="Google Shape;379;p25"/>
          <p:cNvSpPr/>
          <p:nvPr/>
        </p:nvSpPr>
        <p:spPr>
          <a:xfrm>
            <a:off x="1041202" y="2177504"/>
            <a:ext cx="3484828" cy="28039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Does it hang together? Does the opening make sense? Quick gut check before deep review.</a:t>
            </a:r>
            <a:endParaRPr b="0" i="0" sz="850" u="none" cap="none" strike="noStrike">
              <a:solidFill>
                <a:schemeClr val="dk1"/>
              </a:solidFill>
              <a:latin typeface="Calibri"/>
              <a:ea typeface="Calibri"/>
              <a:cs typeface="Calibri"/>
              <a:sym typeface="Calibri"/>
            </a:endParaRPr>
          </a:p>
        </p:txBody>
      </p:sp>
      <p:sp>
        <p:nvSpPr>
          <p:cNvPr id="380" name="Google Shape;380;p25"/>
          <p:cNvSpPr/>
          <p:nvPr/>
        </p:nvSpPr>
        <p:spPr>
          <a:xfrm>
            <a:off x="558701" y="2567880"/>
            <a:ext cx="355550" cy="355550"/>
          </a:xfrm>
          <a:prstGeom prst="roundRect">
            <a:avLst>
              <a:gd fmla="val 257179"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1" name="Google Shape;381;p25"/>
          <p:cNvSpPr/>
          <p:nvPr/>
        </p:nvSpPr>
        <p:spPr>
          <a:xfrm>
            <a:off x="693137" y="2659856"/>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382" name="Google Shape;382;p25"/>
          <p:cNvSpPr/>
          <p:nvPr/>
        </p:nvSpPr>
        <p:spPr>
          <a:xfrm>
            <a:off x="1041202" y="2534096"/>
            <a:ext cx="3484828"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 sz="1000" u="none" cap="none" strike="noStrike">
                <a:solidFill>
                  <a:srgbClr val="F4F1DE"/>
                </a:solidFill>
                <a:latin typeface="Arial"/>
                <a:ea typeface="Arial"/>
                <a:cs typeface="Arial"/>
                <a:sym typeface="Arial"/>
              </a:rPr>
              <a:t>Check the Checklist</a:t>
            </a:r>
            <a:endParaRPr b="0" i="0" sz="1000" u="none" cap="none" strike="noStrike">
              <a:solidFill>
                <a:schemeClr val="dk1"/>
              </a:solidFill>
              <a:latin typeface="Calibri"/>
              <a:ea typeface="Calibri"/>
              <a:cs typeface="Calibri"/>
              <a:sym typeface="Calibri"/>
            </a:endParaRPr>
          </a:p>
        </p:txBody>
      </p:sp>
      <p:sp>
        <p:nvSpPr>
          <p:cNvPr id="383" name="Google Shape;383;p25"/>
          <p:cNvSpPr/>
          <p:nvPr/>
        </p:nvSpPr>
        <p:spPr>
          <a:xfrm>
            <a:off x="1041202" y="2676971"/>
            <a:ext cx="3484828" cy="28039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Go row by row through your completion checklist. Every criterion: met or not met.</a:t>
            </a:r>
            <a:endParaRPr b="0" i="0" sz="850" u="none" cap="none" strike="noStrike">
              <a:solidFill>
                <a:schemeClr val="dk1"/>
              </a:solidFill>
              <a:latin typeface="Calibri"/>
              <a:ea typeface="Calibri"/>
              <a:cs typeface="Calibri"/>
              <a:sym typeface="Calibri"/>
            </a:endParaRPr>
          </a:p>
        </p:txBody>
      </p:sp>
      <p:sp>
        <p:nvSpPr>
          <p:cNvPr id="384" name="Google Shape;384;p25"/>
          <p:cNvSpPr/>
          <p:nvPr/>
        </p:nvSpPr>
        <p:spPr>
          <a:xfrm>
            <a:off x="558701" y="3033564"/>
            <a:ext cx="355550" cy="355550"/>
          </a:xfrm>
          <a:prstGeom prst="roundRect">
            <a:avLst>
              <a:gd fmla="val 257179"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5" name="Google Shape;385;p25"/>
          <p:cNvSpPr/>
          <p:nvPr/>
        </p:nvSpPr>
        <p:spPr>
          <a:xfrm>
            <a:off x="693137" y="3125539"/>
            <a:ext cx="86529" cy="1714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386" name="Google Shape;386;p25"/>
          <p:cNvSpPr/>
          <p:nvPr/>
        </p:nvSpPr>
        <p:spPr>
          <a:xfrm>
            <a:off x="1041202" y="3069729"/>
            <a:ext cx="3099245"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1" i="0" lang="en" sz="1000" u="none" cap="none" strike="noStrike">
                <a:solidFill>
                  <a:srgbClr val="F4F1DE"/>
                </a:solidFill>
                <a:latin typeface="Arial"/>
                <a:ea typeface="Arial"/>
                <a:cs typeface="Arial"/>
                <a:sym typeface="Arial"/>
              </a:rPr>
              <a:t>Decide</a:t>
            </a:r>
            <a:endParaRPr b="0" i="0" sz="1000" u="none" cap="none" strike="noStrike">
              <a:solidFill>
                <a:schemeClr val="dk1"/>
              </a:solidFill>
              <a:latin typeface="Calibri"/>
              <a:ea typeface="Calibri"/>
              <a:cs typeface="Calibri"/>
              <a:sym typeface="Calibri"/>
            </a:endParaRPr>
          </a:p>
        </p:txBody>
      </p:sp>
      <p:sp>
        <p:nvSpPr>
          <p:cNvPr id="387" name="Google Shape;387;p25"/>
          <p:cNvSpPr/>
          <p:nvPr/>
        </p:nvSpPr>
        <p:spPr>
          <a:xfrm>
            <a:off x="1041202" y="3212604"/>
            <a:ext cx="3099245"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What needs fixing? What's a known tradeoff? What's fine as-is?</a:t>
            </a:r>
            <a:endParaRPr b="0" i="0" sz="850" u="none" cap="none" strike="noStrike">
              <a:solidFill>
                <a:schemeClr val="dk1"/>
              </a:solidFill>
              <a:latin typeface="Calibri"/>
              <a:ea typeface="Calibri"/>
              <a:cs typeface="Calibri"/>
              <a:sym typeface="Calibri"/>
            </a:endParaRPr>
          </a:p>
        </p:txBody>
      </p:sp>
      <p:sp>
        <p:nvSpPr>
          <p:cNvPr id="388" name="Google Shape;388;p25"/>
          <p:cNvSpPr/>
          <p:nvPr/>
        </p:nvSpPr>
        <p:spPr>
          <a:xfrm>
            <a:off x="4686300" y="1602879"/>
            <a:ext cx="3898999" cy="520898"/>
          </a:xfrm>
          <a:prstGeom prst="roundRect">
            <a:avLst>
              <a:gd fmla="val 9752"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9" name="Google Shape;389;p25"/>
          <p:cNvSpPr/>
          <p:nvPr/>
        </p:nvSpPr>
        <p:spPr>
          <a:xfrm>
            <a:off x="4848225" y="1713905"/>
            <a:ext cx="364665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50"/>
              <a:buFont typeface="Arial"/>
              <a:buNone/>
            </a:pPr>
            <a:r>
              <a:rPr b="1" i="0" lang="en" sz="950" u="none" cap="none" strike="noStrike">
                <a:solidFill>
                  <a:srgbClr val="E07A5F"/>
                </a:solidFill>
                <a:latin typeface="Arial"/>
                <a:ea typeface="Arial"/>
                <a:cs typeface="Arial"/>
                <a:sym typeface="Arial"/>
              </a:rPr>
              <a:t>Major gaps found?</a:t>
            </a:r>
            <a:endParaRPr b="0" i="0" sz="950" u="none" cap="none" strike="noStrike">
              <a:solidFill>
                <a:schemeClr val="dk1"/>
              </a:solidFill>
              <a:latin typeface="Calibri"/>
              <a:ea typeface="Calibri"/>
              <a:cs typeface="Calibri"/>
              <a:sym typeface="Calibri"/>
            </a:endParaRPr>
          </a:p>
        </p:txBody>
      </p:sp>
      <p:sp>
        <p:nvSpPr>
          <p:cNvPr id="390" name="Google Shape;390;p25"/>
          <p:cNvSpPr/>
          <p:nvPr/>
        </p:nvSpPr>
        <p:spPr>
          <a:xfrm>
            <a:off x="4848225" y="1872555"/>
            <a:ext cx="3646652"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Revise the specific sections. This is round 2.</a:t>
            </a:r>
            <a:endParaRPr b="0" i="0" sz="850" u="none" cap="none" strike="noStrike">
              <a:solidFill>
                <a:schemeClr val="dk1"/>
              </a:solidFill>
              <a:latin typeface="Calibri"/>
              <a:ea typeface="Calibri"/>
              <a:cs typeface="Calibri"/>
              <a:sym typeface="Calibri"/>
            </a:endParaRPr>
          </a:p>
        </p:txBody>
      </p:sp>
      <p:sp>
        <p:nvSpPr>
          <p:cNvPr id="391" name="Google Shape;391;p25"/>
          <p:cNvSpPr/>
          <p:nvPr/>
        </p:nvSpPr>
        <p:spPr>
          <a:xfrm>
            <a:off x="4686300" y="2199977"/>
            <a:ext cx="3898999" cy="520898"/>
          </a:xfrm>
          <a:prstGeom prst="roundRect">
            <a:avLst>
              <a:gd fmla="val 9752"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2" name="Google Shape;392;p25"/>
          <p:cNvSpPr/>
          <p:nvPr/>
        </p:nvSpPr>
        <p:spPr>
          <a:xfrm>
            <a:off x="4848225" y="2311003"/>
            <a:ext cx="364665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50"/>
              <a:buFont typeface="Arial"/>
              <a:buNone/>
            </a:pPr>
            <a:r>
              <a:rPr b="1" i="0" lang="en" sz="950" u="none" cap="none" strike="noStrike">
                <a:solidFill>
                  <a:srgbClr val="E07A5F"/>
                </a:solidFill>
                <a:latin typeface="Arial"/>
                <a:ea typeface="Arial"/>
                <a:cs typeface="Arial"/>
                <a:sym typeface="Arial"/>
              </a:rPr>
              <a:t>Only small issues?</a:t>
            </a:r>
            <a:endParaRPr b="0" i="0" sz="950" u="none" cap="none" strike="noStrike">
              <a:solidFill>
                <a:schemeClr val="dk1"/>
              </a:solidFill>
              <a:latin typeface="Calibri"/>
              <a:ea typeface="Calibri"/>
              <a:cs typeface="Calibri"/>
              <a:sym typeface="Calibri"/>
            </a:endParaRPr>
          </a:p>
        </p:txBody>
      </p:sp>
      <p:sp>
        <p:nvSpPr>
          <p:cNvPr id="393" name="Google Shape;393;p25"/>
          <p:cNvSpPr/>
          <p:nvPr/>
        </p:nvSpPr>
        <p:spPr>
          <a:xfrm>
            <a:off x="4848225" y="2469654"/>
            <a:ext cx="3646652"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Note them. Ask the reviewer if they're acceptable.</a:t>
            </a:r>
            <a:endParaRPr b="0" i="0" sz="850" u="none" cap="none" strike="noStrike">
              <a:solidFill>
                <a:schemeClr val="dk1"/>
              </a:solidFill>
              <a:latin typeface="Calibri"/>
              <a:ea typeface="Calibri"/>
              <a:cs typeface="Calibri"/>
              <a:sym typeface="Calibri"/>
            </a:endParaRPr>
          </a:p>
        </p:txBody>
      </p:sp>
      <p:sp>
        <p:nvSpPr>
          <p:cNvPr id="394" name="Google Shape;394;p25"/>
          <p:cNvSpPr/>
          <p:nvPr/>
        </p:nvSpPr>
        <p:spPr>
          <a:xfrm>
            <a:off x="4686300" y="2797076"/>
            <a:ext cx="3898999" cy="520898"/>
          </a:xfrm>
          <a:prstGeom prst="roundRect">
            <a:avLst>
              <a:gd fmla="val 9752" name="adj"/>
            </a:avLst>
          </a:prstGeom>
          <a:noFill/>
          <a:ln cap="flat" cmpd="sng" w="9525">
            <a:solidFill>
              <a:srgbClr val="5555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5" name="Google Shape;395;p25"/>
          <p:cNvSpPr/>
          <p:nvPr/>
        </p:nvSpPr>
        <p:spPr>
          <a:xfrm>
            <a:off x="4848225" y="2908102"/>
            <a:ext cx="3646652"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950"/>
              <a:buFont typeface="Arial"/>
              <a:buNone/>
            </a:pPr>
            <a:r>
              <a:rPr b="1" i="0" lang="en" sz="950" u="none" cap="none" strike="noStrike">
                <a:solidFill>
                  <a:srgbClr val="E07A5F"/>
                </a:solidFill>
                <a:latin typeface="Arial"/>
                <a:ea typeface="Arial"/>
                <a:cs typeface="Arial"/>
                <a:sym typeface="Arial"/>
              </a:rPr>
              <a:t>Checklist all green?</a:t>
            </a:r>
            <a:endParaRPr b="0" i="0" sz="950" u="none" cap="none" strike="noStrike">
              <a:solidFill>
                <a:schemeClr val="dk1"/>
              </a:solidFill>
              <a:latin typeface="Calibri"/>
              <a:ea typeface="Calibri"/>
              <a:cs typeface="Calibri"/>
              <a:sym typeface="Calibri"/>
            </a:endParaRPr>
          </a:p>
        </p:txBody>
      </p:sp>
      <p:sp>
        <p:nvSpPr>
          <p:cNvPr id="396" name="Google Shape;396;p25"/>
          <p:cNvSpPr/>
          <p:nvPr/>
        </p:nvSpPr>
        <p:spPr>
          <a:xfrm>
            <a:off x="4848225" y="3066752"/>
            <a:ext cx="3646652" cy="14019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850"/>
              <a:buFont typeface="Arial"/>
              <a:buNone/>
            </a:pPr>
            <a:r>
              <a:rPr b="0" i="0" lang="en" sz="850" u="none" cap="none" strike="noStrike">
                <a:solidFill>
                  <a:srgbClr val="AAAAAA"/>
                </a:solidFill>
                <a:latin typeface="Arial"/>
                <a:ea typeface="Arial"/>
                <a:cs typeface="Arial"/>
                <a:sym typeface="Arial"/>
              </a:rPr>
              <a:t>It's ready. Send it for final approval.</a:t>
            </a:r>
            <a:endParaRPr b="0" i="0" sz="850" u="none" cap="none" strike="noStrike">
              <a:solidFill>
                <a:schemeClr val="dk1"/>
              </a:solidFill>
              <a:latin typeface="Calibri"/>
              <a:ea typeface="Calibri"/>
              <a:cs typeface="Calibri"/>
              <a:sym typeface="Calibri"/>
            </a:endParaRPr>
          </a:p>
        </p:txBody>
      </p:sp>
      <p:sp>
        <p:nvSpPr>
          <p:cNvPr id="397" name="Google Shape;397;p25"/>
          <p:cNvSpPr/>
          <p:nvPr/>
        </p:nvSpPr>
        <p:spPr>
          <a:xfrm>
            <a:off x="4686300" y="3394174"/>
            <a:ext cx="3898999" cy="469702"/>
          </a:xfrm>
          <a:prstGeom prst="roundRect">
            <a:avLst>
              <a:gd fmla="val 10815" name="adj"/>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8" name="Google Shape;398;p25"/>
          <p:cNvSpPr/>
          <p:nvPr/>
        </p:nvSpPr>
        <p:spPr>
          <a:xfrm>
            <a:off x="4838700" y="3495675"/>
            <a:ext cx="3666083"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Two revision rounds max. After that, finalize with known tradeoffs or escalate for direction.</a:t>
            </a:r>
            <a:endParaRPr b="0" i="0" sz="900" u="none" cap="none" strike="noStrike">
              <a:solidFill>
                <a:schemeClr val="dk1"/>
              </a:solidFill>
              <a:latin typeface="Calibri"/>
              <a:ea typeface="Calibri"/>
              <a:cs typeface="Calibri"/>
              <a:sym typeface="Calibri"/>
            </a:endParaRPr>
          </a:p>
        </p:txBody>
      </p:sp>
      <p:sp>
        <p:nvSpPr>
          <p:cNvPr id="399" name="Google Shape;399;p25"/>
          <p:cNvSpPr/>
          <p:nvPr/>
        </p:nvSpPr>
        <p:spPr>
          <a:xfrm>
            <a:off x="558701" y="4400699"/>
            <a:ext cx="8026598" cy="387251"/>
          </a:xfrm>
          <a:prstGeom prst="roundRect">
            <a:avLst>
              <a:gd fmla="val 13118" name="adj"/>
            </a:avLst>
          </a:prstGeom>
          <a:solidFill>
            <a:srgbClr val="F4F1D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0" name="Google Shape;400;p25"/>
          <p:cNvSpPr/>
          <p:nvPr/>
        </p:nvSpPr>
        <p:spPr>
          <a:xfrm>
            <a:off x="761851" y="4527649"/>
            <a:ext cx="7772704" cy="133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950"/>
              <a:buFont typeface="Arial"/>
              <a:buNone/>
            </a:pPr>
            <a:r>
              <a:rPr b="1" i="0" lang="en" sz="950" u="none" cap="none" strike="noStrike">
                <a:solidFill>
                  <a:srgbClr val="2C2C2C"/>
                </a:solidFill>
                <a:latin typeface="Arial"/>
                <a:ea typeface="Arial"/>
                <a:cs typeface="Arial"/>
                <a:sym typeface="Arial"/>
              </a:rPr>
              <a:t>Every piece of feedback gets addressed or explicitly accepted as-is. No "I'll get to it later" — that's how things slip through.</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DE"/>
        </a:solidFill>
      </p:bgPr>
    </p:bg>
    <p:spTree>
      <p:nvGrpSpPr>
        <p:cNvPr id="405" name="Shape 405"/>
        <p:cNvGrpSpPr/>
        <p:nvPr/>
      </p:nvGrpSpPr>
      <p:grpSpPr>
        <a:xfrm>
          <a:off x="0" y="0"/>
          <a:ext cx="0" cy="0"/>
          <a:chOff x="0" y="0"/>
          <a:chExt cx="0" cy="0"/>
        </a:xfrm>
      </p:grpSpPr>
      <p:sp>
        <p:nvSpPr>
          <p:cNvPr id="406" name="Google Shape;406;p26"/>
          <p:cNvSpPr/>
          <p:nvPr/>
        </p:nvSpPr>
        <p:spPr>
          <a:xfrm>
            <a:off x="558701" y="355550"/>
            <a:ext cx="634901" cy="111026"/>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7" name="Google Shape;407;p26"/>
          <p:cNvSpPr/>
          <p:nvPr/>
        </p:nvSpPr>
        <p:spPr>
          <a:xfrm>
            <a:off x="558701" y="406301"/>
            <a:ext cx="647599"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408" name="Google Shape;408;p26"/>
          <p:cNvSpPr/>
          <p:nvPr/>
        </p:nvSpPr>
        <p:spPr>
          <a:xfrm>
            <a:off x="558701" y="568077"/>
            <a:ext cx="818713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000"/>
              <a:buFont typeface="Georgia"/>
              <a:buNone/>
            </a:pPr>
            <a:r>
              <a:rPr b="1" i="0" lang="en" sz="2000" u="none" cap="none" strike="noStrike">
                <a:solidFill>
                  <a:srgbClr val="2C2C2C"/>
                </a:solidFill>
                <a:latin typeface="Georgia"/>
                <a:ea typeface="Georgia"/>
                <a:cs typeface="Georgia"/>
                <a:sym typeface="Georgia"/>
              </a:rPr>
              <a:t>Two Moments Where You Pause and Align</a:t>
            </a:r>
            <a:endParaRPr b="0" i="0" sz="2000" u="none" cap="none" strike="noStrike">
              <a:solidFill>
                <a:schemeClr val="dk1"/>
              </a:solidFill>
              <a:latin typeface="Calibri"/>
              <a:ea typeface="Calibri"/>
              <a:cs typeface="Calibri"/>
              <a:sym typeface="Calibri"/>
            </a:endParaRPr>
          </a:p>
        </p:txBody>
      </p:sp>
      <p:sp>
        <p:nvSpPr>
          <p:cNvPr id="409" name="Google Shape;409;p26"/>
          <p:cNvSpPr/>
          <p:nvPr/>
        </p:nvSpPr>
        <p:spPr>
          <a:xfrm>
            <a:off x="558701" y="904577"/>
            <a:ext cx="8187130" cy="16490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66666"/>
              </a:buClr>
              <a:buSzPts val="1000"/>
              <a:buFont typeface="Arial"/>
              <a:buNone/>
            </a:pPr>
            <a:r>
              <a:rPr b="0" i="0" lang="en" sz="1000" u="none" cap="none" strike="noStrike">
                <a:solidFill>
                  <a:srgbClr val="666666"/>
                </a:solidFill>
                <a:latin typeface="Arial"/>
                <a:ea typeface="Arial"/>
                <a:cs typeface="Arial"/>
                <a:sym typeface="Arial"/>
              </a:rPr>
              <a:t>Everything between these two checkpoints flows naturally. You align on the plan and align on the result.</a:t>
            </a:r>
            <a:endParaRPr b="0" i="0" sz="1000" u="none" cap="none" strike="noStrike">
              <a:solidFill>
                <a:schemeClr val="dk1"/>
              </a:solidFill>
              <a:latin typeface="Calibri"/>
              <a:ea typeface="Calibri"/>
              <a:cs typeface="Calibri"/>
              <a:sym typeface="Calibri"/>
            </a:endParaRPr>
          </a:p>
        </p:txBody>
      </p:sp>
      <p:sp>
        <p:nvSpPr>
          <p:cNvPr id="410" name="Google Shape;410;p26"/>
          <p:cNvSpPr/>
          <p:nvPr/>
        </p:nvSpPr>
        <p:spPr>
          <a:xfrm>
            <a:off x="558701" y="1221879"/>
            <a:ext cx="3898999" cy="3042345"/>
          </a:xfrm>
          <a:prstGeom prst="roundRect">
            <a:avLst>
              <a:gd fmla="val 2505"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1" name="Google Shape;411;p26"/>
          <p:cNvSpPr/>
          <p:nvPr/>
        </p:nvSpPr>
        <p:spPr>
          <a:xfrm>
            <a:off x="787301" y="1450479"/>
            <a:ext cx="3510635"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800"/>
              <a:buFont typeface="Georgia"/>
              <a:buNone/>
            </a:pPr>
            <a:r>
              <a:rPr b="1" i="0" lang="en" sz="2800" u="none" cap="none" strike="noStrike">
                <a:solidFill>
                  <a:srgbClr val="E07A5F"/>
                </a:solidFill>
                <a:latin typeface="Georgia"/>
                <a:ea typeface="Georgia"/>
                <a:cs typeface="Georgia"/>
                <a:sym typeface="Georgia"/>
              </a:rPr>
              <a:t>1</a:t>
            </a:r>
            <a:endParaRPr b="0" i="0" sz="2800" u="none" cap="none" strike="noStrike">
              <a:solidFill>
                <a:schemeClr val="dk1"/>
              </a:solidFill>
              <a:latin typeface="Calibri"/>
              <a:ea typeface="Calibri"/>
              <a:cs typeface="Calibri"/>
              <a:sym typeface="Calibri"/>
            </a:endParaRPr>
          </a:p>
        </p:txBody>
      </p:sp>
      <p:sp>
        <p:nvSpPr>
          <p:cNvPr id="412" name="Google Shape;412;p26"/>
          <p:cNvSpPr/>
          <p:nvPr/>
        </p:nvSpPr>
        <p:spPr>
          <a:xfrm>
            <a:off x="787301" y="1901279"/>
            <a:ext cx="351063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300"/>
              <a:buFont typeface="Georgia"/>
              <a:buNone/>
            </a:pPr>
            <a:r>
              <a:rPr b="1" i="0" lang="en" sz="1300" u="none" cap="none" strike="noStrike">
                <a:solidFill>
                  <a:srgbClr val="F4F1DE"/>
                </a:solidFill>
                <a:latin typeface="Georgia"/>
                <a:ea typeface="Georgia"/>
                <a:cs typeface="Georgia"/>
                <a:sym typeface="Georgia"/>
              </a:rPr>
              <a:t>Approve the Outline</a:t>
            </a:r>
            <a:endParaRPr b="0" i="0" sz="1300" u="none" cap="none" strike="noStrike">
              <a:solidFill>
                <a:schemeClr val="dk1"/>
              </a:solidFill>
              <a:latin typeface="Calibri"/>
              <a:ea typeface="Calibri"/>
              <a:cs typeface="Calibri"/>
              <a:sym typeface="Calibri"/>
            </a:endParaRPr>
          </a:p>
        </p:txBody>
      </p:sp>
      <p:sp>
        <p:nvSpPr>
          <p:cNvPr id="413" name="Google Shape;413;p26"/>
          <p:cNvSpPr/>
          <p:nvPr/>
        </p:nvSpPr>
        <p:spPr>
          <a:xfrm>
            <a:off x="965002" y="2193280"/>
            <a:ext cx="3264098" cy="797123"/>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CCCCCC"/>
              </a:buClr>
              <a:buSzPts val="900"/>
              <a:buFont typeface="Arial"/>
              <a:buChar char="•"/>
            </a:pPr>
            <a:r>
              <a:rPr b="0" i="0" lang="en" sz="900" u="none" cap="none" strike="noStrike">
                <a:solidFill>
                  <a:srgbClr val="CCCCCC"/>
                </a:solidFill>
                <a:latin typeface="Arial"/>
                <a:ea typeface="Arial"/>
                <a:cs typeface="Arial"/>
                <a:sym typeface="Arial"/>
              </a:rPr>
              <a:t>Stakeholders see the approach and structure</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CCCCCC"/>
              </a:buClr>
              <a:buSzPts val="900"/>
              <a:buFont typeface="Arial"/>
              <a:buChar char="•"/>
            </a:pPr>
            <a:r>
              <a:rPr b="0" i="0" lang="en" sz="900" u="none" cap="none" strike="noStrike">
                <a:solidFill>
                  <a:srgbClr val="CCCCCC"/>
                </a:solidFill>
                <a:latin typeface="Arial"/>
                <a:ea typeface="Arial"/>
                <a:cs typeface="Arial"/>
                <a:sym typeface="Arial"/>
              </a:rPr>
              <a:t>Key decisions and their reasoning are visible</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CCCCCC"/>
              </a:buClr>
              <a:buSzPts val="900"/>
              <a:buFont typeface="Arial"/>
              <a:buChar char="•"/>
            </a:pPr>
            <a:r>
              <a:rPr b="0" i="0" lang="en" sz="900" u="none" cap="none" strike="noStrike">
                <a:solidFill>
                  <a:srgbClr val="CCCCCC"/>
                </a:solidFill>
                <a:latin typeface="Arial"/>
                <a:ea typeface="Arial"/>
                <a:cs typeface="Arial"/>
                <a:sym typeface="Arial"/>
              </a:rPr>
              <a:t>Feedback is incorporated before anyone starts writing</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CCCCCC"/>
              </a:buClr>
              <a:buSzPts val="900"/>
              <a:buFont typeface="Arial"/>
              <a:buChar char="•"/>
            </a:pPr>
            <a:r>
              <a:rPr b="0" i="0" lang="en" sz="900" u="none" cap="none" strike="noStrike">
                <a:solidFill>
                  <a:srgbClr val="CCCCCC"/>
                </a:solidFill>
                <a:latin typeface="Arial"/>
                <a:ea typeface="Arial"/>
                <a:cs typeface="Arial"/>
                <a:sym typeface="Arial"/>
              </a:rPr>
              <a:t>Everyone agrees on what "done" looks like</a:t>
            </a:r>
            <a:endParaRPr b="0" i="0" sz="900" u="none" cap="none" strike="noStrike">
              <a:solidFill>
                <a:schemeClr val="dk1"/>
              </a:solidFill>
              <a:latin typeface="Calibri"/>
              <a:ea typeface="Calibri"/>
              <a:cs typeface="Calibri"/>
              <a:sym typeface="Calibri"/>
            </a:endParaRPr>
          </a:p>
        </p:txBody>
      </p:sp>
      <p:sp>
        <p:nvSpPr>
          <p:cNvPr id="414" name="Google Shape;414;p26"/>
          <p:cNvSpPr/>
          <p:nvPr/>
        </p:nvSpPr>
        <p:spPr>
          <a:xfrm>
            <a:off x="787301" y="3091904"/>
            <a:ext cx="3510635"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1000"/>
              <a:buFont typeface="Arial"/>
              <a:buNone/>
            </a:pPr>
            <a:r>
              <a:rPr b="1" i="0" lang="en" sz="1000" u="none" cap="none" strike="noStrike">
                <a:solidFill>
                  <a:srgbClr val="E07A5F"/>
                </a:solidFill>
                <a:latin typeface="Arial"/>
                <a:ea typeface="Arial"/>
                <a:cs typeface="Arial"/>
                <a:sym typeface="Arial"/>
              </a:rPr>
              <a:t>Nobody starts drafting until the outline is approved.</a:t>
            </a:r>
            <a:endParaRPr b="0" i="0" sz="1000" u="none" cap="none" strike="noStrike">
              <a:solidFill>
                <a:schemeClr val="dk1"/>
              </a:solidFill>
              <a:latin typeface="Calibri"/>
              <a:ea typeface="Calibri"/>
              <a:cs typeface="Calibri"/>
              <a:sym typeface="Calibri"/>
            </a:endParaRPr>
          </a:p>
        </p:txBody>
      </p:sp>
      <p:sp>
        <p:nvSpPr>
          <p:cNvPr id="415" name="Google Shape;415;p26"/>
          <p:cNvSpPr/>
          <p:nvPr/>
        </p:nvSpPr>
        <p:spPr>
          <a:xfrm>
            <a:off x="4686300" y="1221879"/>
            <a:ext cx="3898999" cy="3042345"/>
          </a:xfrm>
          <a:prstGeom prst="roundRect">
            <a:avLst>
              <a:gd fmla="val 2505" name="adj"/>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6" name="Google Shape;416;p26"/>
          <p:cNvSpPr/>
          <p:nvPr/>
        </p:nvSpPr>
        <p:spPr>
          <a:xfrm>
            <a:off x="4914900" y="1450479"/>
            <a:ext cx="3510635"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2800"/>
              <a:buFont typeface="Georgia"/>
              <a:buNone/>
            </a:pPr>
            <a:r>
              <a:rPr b="1" i="0" lang="en" sz="2800" u="none" cap="none" strike="noStrike">
                <a:solidFill>
                  <a:srgbClr val="2C2C2C"/>
                </a:solidFill>
                <a:latin typeface="Georgia"/>
                <a:ea typeface="Georgia"/>
                <a:cs typeface="Georgia"/>
                <a:sym typeface="Georgia"/>
              </a:rPr>
              <a:t>2</a:t>
            </a:r>
            <a:endParaRPr b="0" i="0" sz="2800" u="none" cap="none" strike="noStrike">
              <a:solidFill>
                <a:schemeClr val="dk1"/>
              </a:solidFill>
              <a:latin typeface="Calibri"/>
              <a:ea typeface="Calibri"/>
              <a:cs typeface="Calibri"/>
              <a:sym typeface="Calibri"/>
            </a:endParaRPr>
          </a:p>
        </p:txBody>
      </p:sp>
      <p:sp>
        <p:nvSpPr>
          <p:cNvPr id="417" name="Google Shape;417;p26"/>
          <p:cNvSpPr/>
          <p:nvPr/>
        </p:nvSpPr>
        <p:spPr>
          <a:xfrm>
            <a:off x="4914900" y="1901279"/>
            <a:ext cx="351063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1300"/>
              <a:buFont typeface="Georgia"/>
              <a:buNone/>
            </a:pPr>
            <a:r>
              <a:rPr b="1" i="0" lang="en" sz="1300" u="none" cap="none" strike="noStrike">
                <a:solidFill>
                  <a:srgbClr val="2C2C2C"/>
                </a:solidFill>
                <a:latin typeface="Georgia"/>
                <a:ea typeface="Georgia"/>
                <a:cs typeface="Georgia"/>
                <a:sym typeface="Georgia"/>
              </a:rPr>
              <a:t>Approve the Deliverable</a:t>
            </a:r>
            <a:endParaRPr b="0" i="0" sz="1300" u="none" cap="none" strike="noStrike">
              <a:solidFill>
                <a:schemeClr val="dk1"/>
              </a:solidFill>
              <a:latin typeface="Calibri"/>
              <a:ea typeface="Calibri"/>
              <a:cs typeface="Calibri"/>
              <a:sym typeface="Calibri"/>
            </a:endParaRPr>
          </a:p>
        </p:txBody>
      </p:sp>
      <p:sp>
        <p:nvSpPr>
          <p:cNvPr id="418" name="Google Shape;418;p26"/>
          <p:cNvSpPr/>
          <p:nvPr/>
        </p:nvSpPr>
        <p:spPr>
          <a:xfrm>
            <a:off x="5092601" y="2193280"/>
            <a:ext cx="3264098" cy="797123"/>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2C2C2C"/>
              </a:buClr>
              <a:buSzPts val="900"/>
              <a:buFont typeface="Arial"/>
              <a:buChar char="•"/>
            </a:pPr>
            <a:r>
              <a:rPr b="0" i="0" lang="en" sz="900" u="none" cap="none" strike="noStrike">
                <a:solidFill>
                  <a:srgbClr val="2C2C2C"/>
                </a:solidFill>
                <a:latin typeface="Arial"/>
                <a:ea typeface="Arial"/>
                <a:cs typeface="Arial"/>
                <a:sym typeface="Arial"/>
              </a:rPr>
              <a:t>The finished work is checked against the criteria</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2C2C2C"/>
              </a:buClr>
              <a:buSzPts val="900"/>
              <a:buFont typeface="Arial"/>
              <a:buChar char="•"/>
            </a:pPr>
            <a:r>
              <a:rPr b="0" i="0" lang="en" sz="900" u="none" cap="none" strike="noStrike">
                <a:solidFill>
                  <a:srgbClr val="2C2C2C"/>
                </a:solidFill>
                <a:latin typeface="Arial"/>
                <a:ea typeface="Arial"/>
                <a:cs typeface="Arial"/>
                <a:sym typeface="Arial"/>
              </a:rPr>
              <a:t>Review feedback has been addressed or accepted</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2C2C2C"/>
              </a:buClr>
              <a:buSzPts val="900"/>
              <a:buFont typeface="Arial"/>
              <a:buChar char="•"/>
            </a:pPr>
            <a:r>
              <a:rPr b="0" i="0" lang="en" sz="900" u="none" cap="none" strike="noStrike">
                <a:solidFill>
                  <a:srgbClr val="2C2C2C"/>
                </a:solidFill>
                <a:latin typeface="Arial"/>
                <a:ea typeface="Arial"/>
                <a:cs typeface="Arial"/>
                <a:sym typeface="Arial"/>
              </a:rPr>
              <a:t>All sections are complete, consistent, and accurate</a:t>
            </a:r>
            <a:endParaRPr b="0" i="0" sz="900" u="none" cap="none" strike="noStrike">
              <a:solidFill>
                <a:schemeClr val="dk1"/>
              </a:solidFill>
              <a:latin typeface="Calibri"/>
              <a:ea typeface="Calibri"/>
              <a:cs typeface="Calibri"/>
              <a:sym typeface="Calibri"/>
            </a:endParaRPr>
          </a:p>
          <a:p>
            <a:pPr indent="-342900" lvl="0" marL="342900" marR="0" rtl="0" algn="l">
              <a:lnSpc>
                <a:spcPct val="130000"/>
              </a:lnSpc>
              <a:spcBef>
                <a:spcPts val="400"/>
              </a:spcBef>
              <a:spcAft>
                <a:spcPts val="0"/>
              </a:spcAft>
              <a:buClr>
                <a:srgbClr val="2C2C2C"/>
              </a:buClr>
              <a:buSzPts val="900"/>
              <a:buFont typeface="Arial"/>
              <a:buChar char="•"/>
            </a:pPr>
            <a:r>
              <a:rPr b="0" i="0" lang="en" sz="900" u="none" cap="none" strike="noStrike">
                <a:solidFill>
                  <a:srgbClr val="2C2C2C"/>
                </a:solidFill>
                <a:latin typeface="Arial"/>
                <a:ea typeface="Arial"/>
                <a:cs typeface="Arial"/>
                <a:sym typeface="Arial"/>
              </a:rPr>
              <a:t>Final reviewer gives the green light</a:t>
            </a:r>
            <a:endParaRPr b="0" i="0" sz="900" u="none" cap="none" strike="noStrike">
              <a:solidFill>
                <a:schemeClr val="dk1"/>
              </a:solidFill>
              <a:latin typeface="Calibri"/>
              <a:ea typeface="Calibri"/>
              <a:cs typeface="Calibri"/>
              <a:sym typeface="Calibri"/>
            </a:endParaRPr>
          </a:p>
        </p:txBody>
      </p:sp>
      <p:sp>
        <p:nvSpPr>
          <p:cNvPr id="419" name="Google Shape;419;p26"/>
          <p:cNvSpPr/>
          <p:nvPr/>
        </p:nvSpPr>
        <p:spPr>
          <a:xfrm>
            <a:off x="4914900" y="3091904"/>
            <a:ext cx="3510635"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Arial"/>
              <a:buNone/>
            </a:pPr>
            <a:r>
              <a:rPr b="1" i="0" lang="en" sz="1000" u="none" cap="none" strike="noStrike">
                <a:solidFill>
                  <a:srgbClr val="FFFFFF"/>
                </a:solidFill>
                <a:latin typeface="Arial"/>
                <a:ea typeface="Arial"/>
                <a:cs typeface="Arial"/>
                <a:sym typeface="Arial"/>
              </a:rPr>
              <a:t>Nothing goes out until the final reviewer says go.</a:t>
            </a:r>
            <a:endParaRPr b="0" i="0" sz="1000" u="none" cap="none" strike="noStrike">
              <a:solidFill>
                <a:schemeClr val="dk1"/>
              </a:solidFill>
              <a:latin typeface="Calibri"/>
              <a:ea typeface="Calibri"/>
              <a:cs typeface="Calibri"/>
              <a:sym typeface="Calibri"/>
            </a:endParaRPr>
          </a:p>
        </p:txBody>
      </p:sp>
      <p:sp>
        <p:nvSpPr>
          <p:cNvPr id="420" name="Google Shape;420;p26"/>
          <p:cNvSpPr/>
          <p:nvPr/>
        </p:nvSpPr>
        <p:spPr>
          <a:xfrm>
            <a:off x="558701" y="4391174"/>
            <a:ext cx="8026598" cy="396776"/>
          </a:xfrm>
          <a:prstGeom prst="roundRect">
            <a:avLst>
              <a:gd fmla="val 12803" name="adj"/>
            </a:avLst>
          </a:prstGeom>
          <a:solidFill>
            <a:srgbClr val="2C2C2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1" name="Google Shape;421;p26"/>
          <p:cNvSpPr/>
          <p:nvPr/>
        </p:nvSpPr>
        <p:spPr>
          <a:xfrm>
            <a:off x="685648" y="4518124"/>
            <a:ext cx="7772704" cy="142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4F1DE"/>
              </a:buClr>
              <a:buSzPts val="1000"/>
              <a:buFont typeface="Georgia"/>
              <a:buNone/>
            </a:pPr>
            <a:r>
              <a:rPr b="0" i="0" lang="en" sz="1000" u="none" cap="none" strike="noStrike">
                <a:solidFill>
                  <a:srgbClr val="F4F1DE"/>
                </a:solidFill>
                <a:latin typeface="Georgia"/>
                <a:ea typeface="Georgia"/>
                <a:cs typeface="Georgia"/>
                <a:sym typeface="Georgia"/>
              </a:rPr>
              <a:t>Two brief alignment moments save weeks of rework and revision cycles.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426" name="Shape 426"/>
        <p:cNvGrpSpPr/>
        <p:nvPr/>
      </p:nvGrpSpPr>
      <p:grpSpPr>
        <a:xfrm>
          <a:off x="0" y="0"/>
          <a:ext cx="0" cy="0"/>
          <a:chOff x="0" y="0"/>
          <a:chExt cx="0" cy="0"/>
        </a:xfrm>
      </p:grpSpPr>
      <p:sp>
        <p:nvSpPr>
          <p:cNvPr id="427" name="Google Shape;427;p27"/>
          <p:cNvSpPr/>
          <p:nvPr/>
        </p:nvSpPr>
        <p:spPr>
          <a:xfrm>
            <a:off x="558701" y="406301"/>
            <a:ext cx="762000" cy="111026"/>
          </a:xfrm>
          <a:prstGeom prst="rect">
            <a:avLst/>
          </a:prstGeom>
          <a:solidFill>
            <a:srgbClr val="87A96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8" name="Google Shape;428;p27"/>
          <p:cNvSpPr/>
          <p:nvPr/>
        </p:nvSpPr>
        <p:spPr>
          <a:xfrm>
            <a:off x="558701" y="457051"/>
            <a:ext cx="777240"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429" name="Google Shape;429;p27"/>
          <p:cNvSpPr/>
          <p:nvPr/>
        </p:nvSpPr>
        <p:spPr>
          <a:xfrm>
            <a:off x="558701" y="618827"/>
            <a:ext cx="8187130"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2200"/>
              <a:buFont typeface="Georgia"/>
              <a:buNone/>
            </a:pPr>
            <a:r>
              <a:rPr b="1" i="0" lang="en" sz="2200" u="none" cap="none" strike="noStrike">
                <a:solidFill>
                  <a:srgbClr val="F4F1DE"/>
                </a:solidFill>
                <a:latin typeface="Georgia"/>
                <a:ea typeface="Georgia"/>
                <a:cs typeface="Georgia"/>
                <a:sym typeface="Georgia"/>
              </a:rPr>
              <a:t>Six Principles That Work Everywhere</a:t>
            </a:r>
            <a:endParaRPr b="0" i="0" sz="2200" u="none" cap="none" strike="noStrike">
              <a:solidFill>
                <a:schemeClr val="dk1"/>
              </a:solidFill>
              <a:latin typeface="Calibri"/>
              <a:ea typeface="Calibri"/>
              <a:cs typeface="Calibri"/>
              <a:sym typeface="Calibri"/>
            </a:endParaRPr>
          </a:p>
        </p:txBody>
      </p:sp>
      <p:sp>
        <p:nvSpPr>
          <p:cNvPr id="430" name="Google Shape;430;p27"/>
          <p:cNvSpPr/>
          <p:nvPr/>
        </p:nvSpPr>
        <p:spPr>
          <a:xfrm>
            <a:off x="558701" y="983903"/>
            <a:ext cx="8187130" cy="17323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AAAAA"/>
              </a:buClr>
              <a:buSzPts val="1050"/>
              <a:buFont typeface="Arial"/>
              <a:buNone/>
            </a:pPr>
            <a:r>
              <a:rPr b="0" i="0" lang="en" sz="1050" u="none" cap="none" strike="noStrike">
                <a:solidFill>
                  <a:srgbClr val="AAAAAA"/>
                </a:solidFill>
                <a:latin typeface="Arial"/>
                <a:ea typeface="Arial"/>
                <a:cs typeface="Arial"/>
                <a:sym typeface="Arial"/>
              </a:rPr>
              <a:t>These apply to any deliverable: a quarterly report, a client proposal, an event plan, or a strategy deck.</a:t>
            </a:r>
            <a:endParaRPr b="0" i="0" sz="1050" u="none" cap="none" strike="noStrike">
              <a:solidFill>
                <a:schemeClr val="dk1"/>
              </a:solidFill>
              <a:latin typeface="Calibri"/>
              <a:ea typeface="Calibri"/>
              <a:cs typeface="Calibri"/>
              <a:sym typeface="Calibri"/>
            </a:endParaRPr>
          </a:p>
        </p:txBody>
      </p:sp>
      <p:sp>
        <p:nvSpPr>
          <p:cNvPr id="431" name="Google Shape;431;p27"/>
          <p:cNvSpPr/>
          <p:nvPr/>
        </p:nvSpPr>
        <p:spPr>
          <a:xfrm>
            <a:off x="558701" y="1360289"/>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 sz="2200" u="none" cap="none" strike="noStrike">
                <a:solidFill>
                  <a:srgbClr val="E07A5F"/>
                </a:solidFill>
                <a:latin typeface="Georgia"/>
                <a:ea typeface="Georgia"/>
                <a:cs typeface="Georgia"/>
                <a:sym typeface="Georgia"/>
              </a:rPr>
              <a:t>01</a:t>
            </a:r>
            <a:endParaRPr b="0" i="0" sz="2200" u="none" cap="none" strike="noStrike">
              <a:solidFill>
                <a:schemeClr val="dk1"/>
              </a:solidFill>
              <a:latin typeface="Calibri"/>
              <a:ea typeface="Calibri"/>
              <a:cs typeface="Calibri"/>
              <a:sym typeface="Calibri"/>
            </a:endParaRPr>
          </a:p>
        </p:txBody>
      </p:sp>
      <p:sp>
        <p:nvSpPr>
          <p:cNvPr id="432" name="Google Shape;432;p27"/>
          <p:cNvSpPr/>
          <p:nvPr/>
        </p:nvSpPr>
        <p:spPr>
          <a:xfrm>
            <a:off x="1041202" y="1360289"/>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 sz="1050" u="none" cap="none" strike="noStrike">
                <a:solidFill>
                  <a:srgbClr val="F4F1DE"/>
                </a:solidFill>
                <a:latin typeface="Arial"/>
                <a:ea typeface="Arial"/>
                <a:cs typeface="Arial"/>
                <a:sym typeface="Arial"/>
              </a:rPr>
              <a:t>Gather Before You Write</a:t>
            </a:r>
            <a:endParaRPr b="0" i="0" sz="1050" u="none" cap="none" strike="noStrike">
              <a:solidFill>
                <a:schemeClr val="dk1"/>
              </a:solidFill>
              <a:latin typeface="Calibri"/>
              <a:ea typeface="Calibri"/>
              <a:cs typeface="Calibri"/>
              <a:sym typeface="Calibri"/>
            </a:endParaRPr>
          </a:p>
        </p:txBody>
      </p:sp>
      <p:sp>
        <p:nvSpPr>
          <p:cNvPr id="433" name="Google Shape;433;p27"/>
          <p:cNvSpPr/>
          <p:nvPr/>
        </p:nvSpPr>
        <p:spPr>
          <a:xfrm>
            <a:off x="1041202" y="1550789"/>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Drafts built on assumptions get rewritten. 20 minutes of research saves a day of rework.</a:t>
            </a:r>
            <a:endParaRPr b="0" i="0" sz="900" u="none" cap="none" strike="noStrike">
              <a:solidFill>
                <a:schemeClr val="dk1"/>
              </a:solidFill>
              <a:latin typeface="Calibri"/>
              <a:ea typeface="Calibri"/>
              <a:cs typeface="Calibri"/>
              <a:sym typeface="Calibri"/>
            </a:endParaRPr>
          </a:p>
        </p:txBody>
      </p:sp>
      <p:sp>
        <p:nvSpPr>
          <p:cNvPr id="434" name="Google Shape;434;p27"/>
          <p:cNvSpPr/>
          <p:nvPr/>
        </p:nvSpPr>
        <p:spPr>
          <a:xfrm>
            <a:off x="3293418" y="1360289"/>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 sz="2200" u="none" cap="none" strike="noStrike">
                <a:solidFill>
                  <a:srgbClr val="E07A5F"/>
                </a:solidFill>
                <a:latin typeface="Georgia"/>
                <a:ea typeface="Georgia"/>
                <a:cs typeface="Georgia"/>
                <a:sym typeface="Georgia"/>
              </a:rPr>
              <a:t>02</a:t>
            </a:r>
            <a:endParaRPr b="0" i="0" sz="2200" u="none" cap="none" strike="noStrike">
              <a:solidFill>
                <a:schemeClr val="dk1"/>
              </a:solidFill>
              <a:latin typeface="Calibri"/>
              <a:ea typeface="Calibri"/>
              <a:cs typeface="Calibri"/>
              <a:sym typeface="Calibri"/>
            </a:endParaRPr>
          </a:p>
        </p:txBody>
      </p:sp>
      <p:sp>
        <p:nvSpPr>
          <p:cNvPr id="435" name="Google Shape;435;p27"/>
          <p:cNvSpPr/>
          <p:nvPr/>
        </p:nvSpPr>
        <p:spPr>
          <a:xfrm>
            <a:off x="3775918" y="1360289"/>
            <a:ext cx="2116157"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 sz="1050" u="none" cap="none" strike="noStrike">
                <a:solidFill>
                  <a:srgbClr val="F4F1DE"/>
                </a:solidFill>
                <a:latin typeface="Arial"/>
                <a:ea typeface="Arial"/>
                <a:cs typeface="Arial"/>
                <a:sym typeface="Arial"/>
              </a:rPr>
              <a:t>Clear Over Vague</a:t>
            </a:r>
            <a:endParaRPr b="0" i="0" sz="1050" u="none" cap="none" strike="noStrike">
              <a:solidFill>
                <a:schemeClr val="dk1"/>
              </a:solidFill>
              <a:latin typeface="Calibri"/>
              <a:ea typeface="Calibri"/>
              <a:cs typeface="Calibri"/>
              <a:sym typeface="Calibri"/>
            </a:endParaRPr>
          </a:p>
        </p:txBody>
      </p:sp>
      <p:sp>
        <p:nvSpPr>
          <p:cNvPr id="436" name="Google Shape;436;p27"/>
          <p:cNvSpPr/>
          <p:nvPr/>
        </p:nvSpPr>
        <p:spPr>
          <a:xfrm>
            <a:off x="3775918" y="1550789"/>
            <a:ext cx="2116157"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If you can't describe how to check it, it's not a real goal. "Looks good" is not a standard.</a:t>
            </a:r>
            <a:endParaRPr b="0" i="0" sz="900" u="none" cap="none" strike="noStrike">
              <a:solidFill>
                <a:schemeClr val="dk1"/>
              </a:solidFill>
              <a:latin typeface="Calibri"/>
              <a:ea typeface="Calibri"/>
              <a:cs typeface="Calibri"/>
              <a:sym typeface="Calibri"/>
            </a:endParaRPr>
          </a:p>
        </p:txBody>
      </p:sp>
      <p:sp>
        <p:nvSpPr>
          <p:cNvPr id="437" name="Google Shape;437;p27"/>
          <p:cNvSpPr/>
          <p:nvPr/>
        </p:nvSpPr>
        <p:spPr>
          <a:xfrm>
            <a:off x="6028283" y="1360289"/>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 sz="2200" u="none" cap="none" strike="noStrike">
                <a:solidFill>
                  <a:srgbClr val="E07A5F"/>
                </a:solidFill>
                <a:latin typeface="Georgia"/>
                <a:ea typeface="Georgia"/>
                <a:cs typeface="Georgia"/>
                <a:sym typeface="Georgia"/>
              </a:rPr>
              <a:t>03</a:t>
            </a:r>
            <a:endParaRPr b="0" i="0" sz="2200" u="none" cap="none" strike="noStrike">
              <a:solidFill>
                <a:schemeClr val="dk1"/>
              </a:solidFill>
              <a:latin typeface="Calibri"/>
              <a:ea typeface="Calibri"/>
              <a:cs typeface="Calibri"/>
              <a:sym typeface="Calibri"/>
            </a:endParaRPr>
          </a:p>
        </p:txBody>
      </p:sp>
      <p:sp>
        <p:nvSpPr>
          <p:cNvPr id="438" name="Google Shape;438;p27"/>
          <p:cNvSpPr/>
          <p:nvPr/>
        </p:nvSpPr>
        <p:spPr>
          <a:xfrm>
            <a:off x="6510784" y="1360289"/>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 sz="1050" u="none" cap="none" strike="noStrike">
                <a:solidFill>
                  <a:srgbClr val="F4F1DE"/>
                </a:solidFill>
                <a:latin typeface="Arial"/>
                <a:ea typeface="Arial"/>
                <a:cs typeface="Arial"/>
                <a:sym typeface="Arial"/>
              </a:rPr>
              <a:t>Align on the Outline First</a:t>
            </a:r>
            <a:endParaRPr b="0" i="0" sz="1050" u="none" cap="none" strike="noStrike">
              <a:solidFill>
                <a:schemeClr val="dk1"/>
              </a:solidFill>
              <a:latin typeface="Calibri"/>
              <a:ea typeface="Calibri"/>
              <a:cs typeface="Calibri"/>
              <a:sym typeface="Calibri"/>
            </a:endParaRPr>
          </a:p>
        </p:txBody>
      </p:sp>
      <p:sp>
        <p:nvSpPr>
          <p:cNvPr id="439" name="Google Shape;439;p27"/>
          <p:cNvSpPr/>
          <p:nvPr/>
        </p:nvSpPr>
        <p:spPr>
          <a:xfrm>
            <a:off x="6510784" y="1550789"/>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Getting feedback on an outline costs minutes. On a finished draft, it costs days.</a:t>
            </a:r>
            <a:endParaRPr b="0" i="0" sz="900" u="none" cap="none" strike="noStrike">
              <a:solidFill>
                <a:schemeClr val="dk1"/>
              </a:solidFill>
              <a:latin typeface="Calibri"/>
              <a:ea typeface="Calibri"/>
              <a:cs typeface="Calibri"/>
              <a:sym typeface="Calibri"/>
            </a:endParaRPr>
          </a:p>
        </p:txBody>
      </p:sp>
      <p:sp>
        <p:nvSpPr>
          <p:cNvPr id="440" name="Google Shape;440;p27"/>
          <p:cNvSpPr/>
          <p:nvPr/>
        </p:nvSpPr>
        <p:spPr>
          <a:xfrm>
            <a:off x="558701" y="2208461"/>
            <a:ext cx="8026598" cy="12650"/>
          </a:xfrm>
          <a:prstGeom prst="rect">
            <a:avLst/>
          </a:prstGeom>
          <a:solidFill>
            <a:srgbClr val="444444"/>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41" name="Google Shape;441;p27"/>
          <p:cNvSpPr/>
          <p:nvPr/>
        </p:nvSpPr>
        <p:spPr>
          <a:xfrm>
            <a:off x="558701" y="2297311"/>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 sz="2200" u="none" cap="none" strike="noStrike">
                <a:solidFill>
                  <a:srgbClr val="E07A5F"/>
                </a:solidFill>
                <a:latin typeface="Georgia"/>
                <a:ea typeface="Georgia"/>
                <a:cs typeface="Georgia"/>
                <a:sym typeface="Georgia"/>
              </a:rPr>
              <a:t>04</a:t>
            </a:r>
            <a:endParaRPr b="0" i="0" sz="2200" u="none" cap="none" strike="noStrike">
              <a:solidFill>
                <a:schemeClr val="dk1"/>
              </a:solidFill>
              <a:latin typeface="Calibri"/>
              <a:ea typeface="Calibri"/>
              <a:cs typeface="Calibri"/>
              <a:sym typeface="Calibri"/>
            </a:endParaRPr>
          </a:p>
        </p:txBody>
      </p:sp>
      <p:sp>
        <p:nvSpPr>
          <p:cNvPr id="442" name="Google Shape;442;p27"/>
          <p:cNvSpPr/>
          <p:nvPr/>
        </p:nvSpPr>
        <p:spPr>
          <a:xfrm>
            <a:off x="1041202" y="2297311"/>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 sz="1050" u="none" cap="none" strike="noStrike">
                <a:solidFill>
                  <a:srgbClr val="F4F1DE"/>
                </a:solidFill>
                <a:latin typeface="Arial"/>
                <a:ea typeface="Arial"/>
                <a:cs typeface="Arial"/>
                <a:sym typeface="Arial"/>
              </a:rPr>
              <a:t>One Owner Per Section</a:t>
            </a:r>
            <a:endParaRPr b="0" i="0" sz="1050" u="none" cap="none" strike="noStrike">
              <a:solidFill>
                <a:schemeClr val="dk1"/>
              </a:solidFill>
              <a:latin typeface="Calibri"/>
              <a:ea typeface="Calibri"/>
              <a:cs typeface="Calibri"/>
              <a:sym typeface="Calibri"/>
            </a:endParaRPr>
          </a:p>
        </p:txBody>
      </p:sp>
      <p:sp>
        <p:nvSpPr>
          <p:cNvPr id="443" name="Google Shape;443;p27"/>
          <p:cNvSpPr/>
          <p:nvPr/>
        </p:nvSpPr>
        <p:spPr>
          <a:xfrm>
            <a:off x="1041202" y="2487811"/>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Every piece has one person responsible. Every section has clear criteria. Shared ownership means no ownership.</a:t>
            </a:r>
            <a:endParaRPr b="0" i="0" sz="900" u="none" cap="none" strike="noStrike">
              <a:solidFill>
                <a:schemeClr val="dk1"/>
              </a:solidFill>
              <a:latin typeface="Calibri"/>
              <a:ea typeface="Calibri"/>
              <a:cs typeface="Calibri"/>
              <a:sym typeface="Calibri"/>
            </a:endParaRPr>
          </a:p>
        </p:txBody>
      </p:sp>
      <p:sp>
        <p:nvSpPr>
          <p:cNvPr id="444" name="Google Shape;444;p27"/>
          <p:cNvSpPr/>
          <p:nvPr/>
        </p:nvSpPr>
        <p:spPr>
          <a:xfrm>
            <a:off x="3293418" y="2297311"/>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 sz="2200" u="none" cap="none" strike="noStrike">
                <a:solidFill>
                  <a:srgbClr val="E07A5F"/>
                </a:solidFill>
                <a:latin typeface="Georgia"/>
                <a:ea typeface="Georgia"/>
                <a:cs typeface="Georgia"/>
                <a:sym typeface="Georgia"/>
              </a:rPr>
              <a:t>05</a:t>
            </a:r>
            <a:endParaRPr b="0" i="0" sz="2200" u="none" cap="none" strike="noStrike">
              <a:solidFill>
                <a:schemeClr val="dk1"/>
              </a:solidFill>
              <a:latin typeface="Calibri"/>
              <a:ea typeface="Calibri"/>
              <a:cs typeface="Calibri"/>
              <a:sym typeface="Calibri"/>
            </a:endParaRPr>
          </a:p>
        </p:txBody>
      </p:sp>
      <p:sp>
        <p:nvSpPr>
          <p:cNvPr id="445" name="Google Shape;445;p27"/>
          <p:cNvSpPr/>
          <p:nvPr/>
        </p:nvSpPr>
        <p:spPr>
          <a:xfrm>
            <a:off x="3775918" y="2297311"/>
            <a:ext cx="2116157"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 sz="1050" u="none" cap="none" strike="noStrike">
                <a:solidFill>
                  <a:srgbClr val="F4F1DE"/>
                </a:solidFill>
                <a:latin typeface="Arial"/>
                <a:ea typeface="Arial"/>
                <a:cs typeface="Arial"/>
                <a:sym typeface="Arial"/>
              </a:rPr>
              <a:t>Address It or Accept It</a:t>
            </a:r>
            <a:endParaRPr b="0" i="0" sz="1050" u="none" cap="none" strike="noStrike">
              <a:solidFill>
                <a:schemeClr val="dk1"/>
              </a:solidFill>
              <a:latin typeface="Calibri"/>
              <a:ea typeface="Calibri"/>
              <a:cs typeface="Calibri"/>
              <a:sym typeface="Calibri"/>
            </a:endParaRPr>
          </a:p>
        </p:txBody>
      </p:sp>
      <p:sp>
        <p:nvSpPr>
          <p:cNvPr id="446" name="Google Shape;446;p27"/>
          <p:cNvSpPr/>
          <p:nvPr/>
        </p:nvSpPr>
        <p:spPr>
          <a:xfrm>
            <a:off x="3775918" y="2487811"/>
            <a:ext cx="2116157"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Every piece of feedback gets resolved: fixed, explicitly accepted, or escalated. Nothing left dangling.</a:t>
            </a:r>
            <a:endParaRPr b="0" i="0" sz="900" u="none" cap="none" strike="noStrike">
              <a:solidFill>
                <a:schemeClr val="dk1"/>
              </a:solidFill>
              <a:latin typeface="Calibri"/>
              <a:ea typeface="Calibri"/>
              <a:cs typeface="Calibri"/>
              <a:sym typeface="Calibri"/>
            </a:endParaRPr>
          </a:p>
        </p:txBody>
      </p:sp>
      <p:sp>
        <p:nvSpPr>
          <p:cNvPr id="447" name="Google Shape;447;p27"/>
          <p:cNvSpPr/>
          <p:nvPr/>
        </p:nvSpPr>
        <p:spPr>
          <a:xfrm>
            <a:off x="6028283" y="2297311"/>
            <a:ext cx="362661" cy="3143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A5F"/>
              </a:buClr>
              <a:buSzPts val="2200"/>
              <a:buFont typeface="Georgia"/>
              <a:buNone/>
            </a:pPr>
            <a:r>
              <a:rPr b="1" i="0" lang="en" sz="2200" u="none" cap="none" strike="noStrike">
                <a:solidFill>
                  <a:srgbClr val="E07A5F"/>
                </a:solidFill>
                <a:latin typeface="Georgia"/>
                <a:ea typeface="Georgia"/>
                <a:cs typeface="Georgia"/>
                <a:sym typeface="Georgia"/>
              </a:rPr>
              <a:t>06</a:t>
            </a:r>
            <a:endParaRPr b="0" i="0" sz="2200" u="none" cap="none" strike="noStrike">
              <a:solidFill>
                <a:schemeClr val="dk1"/>
              </a:solidFill>
              <a:latin typeface="Calibri"/>
              <a:ea typeface="Calibri"/>
              <a:cs typeface="Calibri"/>
              <a:sym typeface="Calibri"/>
            </a:endParaRPr>
          </a:p>
        </p:txBody>
      </p:sp>
      <p:sp>
        <p:nvSpPr>
          <p:cNvPr id="448" name="Google Shape;448;p27"/>
          <p:cNvSpPr/>
          <p:nvPr/>
        </p:nvSpPr>
        <p:spPr>
          <a:xfrm>
            <a:off x="6510784" y="2297311"/>
            <a:ext cx="2116006" cy="15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50"/>
              <a:buFont typeface="Arial"/>
              <a:buNone/>
            </a:pPr>
            <a:r>
              <a:rPr b="1" i="0" lang="en" sz="1050" u="none" cap="none" strike="noStrike">
                <a:solidFill>
                  <a:srgbClr val="F4F1DE"/>
                </a:solidFill>
                <a:latin typeface="Arial"/>
                <a:ea typeface="Arial"/>
                <a:cs typeface="Arial"/>
                <a:sym typeface="Arial"/>
              </a:rPr>
              <a:t>Two Alignment Moments</a:t>
            </a:r>
            <a:endParaRPr b="0" i="0" sz="1050" u="none" cap="none" strike="noStrike">
              <a:solidFill>
                <a:schemeClr val="dk1"/>
              </a:solidFill>
              <a:latin typeface="Calibri"/>
              <a:ea typeface="Calibri"/>
              <a:cs typeface="Calibri"/>
              <a:sym typeface="Calibri"/>
            </a:endParaRPr>
          </a:p>
        </p:txBody>
      </p:sp>
      <p:sp>
        <p:nvSpPr>
          <p:cNvPr id="449" name="Google Shape;449;p27"/>
          <p:cNvSpPr/>
          <p:nvPr/>
        </p:nvSpPr>
        <p:spPr>
          <a:xfrm>
            <a:off x="6510784" y="2487811"/>
            <a:ext cx="2116006" cy="4799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AAAAA"/>
              </a:buClr>
              <a:buSzPts val="900"/>
              <a:buFont typeface="Arial"/>
              <a:buNone/>
            </a:pPr>
            <a:r>
              <a:rPr b="0" i="0" lang="en" sz="900" u="none" cap="none" strike="noStrike">
                <a:solidFill>
                  <a:srgbClr val="AAAAAA"/>
                </a:solidFill>
                <a:latin typeface="Arial"/>
                <a:ea typeface="Arial"/>
                <a:cs typeface="Arial"/>
                <a:sym typeface="Arial"/>
              </a:rPr>
              <a:t>Approve the outline. Approve the deliverable. Everything in between flows on its own.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2C2C"/>
        </a:solidFill>
      </p:bgPr>
    </p:bg>
    <p:spTree>
      <p:nvGrpSpPr>
        <p:cNvPr id="454" name="Shape 454"/>
        <p:cNvGrpSpPr/>
        <p:nvPr/>
      </p:nvGrpSpPr>
      <p:grpSpPr>
        <a:xfrm>
          <a:off x="0" y="0"/>
          <a:ext cx="0" cy="0"/>
          <a:chOff x="0" y="0"/>
          <a:chExt cx="0" cy="0"/>
        </a:xfrm>
      </p:grpSpPr>
      <p:sp>
        <p:nvSpPr>
          <p:cNvPr id="455" name="Google Shape;455;p28"/>
          <p:cNvSpPr/>
          <p:nvPr/>
        </p:nvSpPr>
        <p:spPr>
          <a:xfrm>
            <a:off x="634901" y="1748879"/>
            <a:ext cx="4145482" cy="8533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DE"/>
              </a:buClr>
              <a:buSzPts val="2400"/>
              <a:buFont typeface="Georgia"/>
              <a:buNone/>
            </a:pPr>
            <a:r>
              <a:rPr b="0" i="1" lang="en" sz="2400" u="none" cap="none" strike="noStrike">
                <a:solidFill>
                  <a:srgbClr val="F4F1DE"/>
                </a:solidFill>
                <a:latin typeface="Georgia"/>
                <a:ea typeface="Georgia"/>
                <a:cs typeface="Georgia"/>
                <a:sym typeface="Georgia"/>
              </a:rPr>
              <a:t>The outline is the real work. The draft is just filling it in.</a:t>
            </a:r>
            <a:endParaRPr b="0" i="0" sz="2400" u="none" cap="none" strike="noStrike">
              <a:solidFill>
                <a:schemeClr val="dk1"/>
              </a:solidFill>
              <a:latin typeface="Calibri"/>
              <a:ea typeface="Calibri"/>
              <a:cs typeface="Calibri"/>
              <a:sym typeface="Calibri"/>
            </a:endParaRPr>
          </a:p>
        </p:txBody>
      </p:sp>
      <p:sp>
        <p:nvSpPr>
          <p:cNvPr id="456" name="Google Shape;456;p28"/>
          <p:cNvSpPr/>
          <p:nvPr/>
        </p:nvSpPr>
        <p:spPr>
          <a:xfrm>
            <a:off x="634901" y="2907060"/>
            <a:ext cx="4145482" cy="48756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AAAAAA"/>
              </a:buClr>
              <a:buSzPts val="1200"/>
              <a:buFont typeface="Arial"/>
              <a:buNone/>
            </a:pPr>
            <a:r>
              <a:rPr b="0" i="0" lang="en" sz="1200" u="none" cap="none" strike="noStrike">
                <a:solidFill>
                  <a:srgbClr val="AAAAAA"/>
                </a:solidFill>
                <a:latin typeface="Arial"/>
                <a:ea typeface="Arial"/>
                <a:cs typeface="Arial"/>
                <a:sym typeface="Arial"/>
              </a:rPr>
              <a:t>Invest in the plan. Get a second opinion before you write. Then the writing is the easy part.</a:t>
            </a:r>
            <a:endParaRPr b="0" i="0" sz="1200" u="none" cap="none" strike="noStrike">
              <a:solidFill>
                <a:schemeClr val="dk1"/>
              </a:solidFill>
              <a:latin typeface="Calibri"/>
              <a:ea typeface="Calibri"/>
              <a:cs typeface="Calibri"/>
              <a:sym typeface="Calibri"/>
            </a:endParaRPr>
          </a:p>
        </p:txBody>
      </p:sp>
      <p:sp>
        <p:nvSpPr>
          <p:cNvPr id="457" name="Google Shape;457;p28"/>
          <p:cNvSpPr/>
          <p:nvPr/>
        </p:nvSpPr>
        <p:spPr>
          <a:xfrm>
            <a:off x="5334000" y="0"/>
            <a:ext cx="3810000" cy="5143500"/>
          </a:xfrm>
          <a:prstGeom prst="rect">
            <a:avLst/>
          </a:prstGeom>
          <a:solidFill>
            <a:srgbClr val="E07A5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8" name="Google Shape;458;p28"/>
          <p:cNvSpPr/>
          <p:nvPr/>
        </p:nvSpPr>
        <p:spPr>
          <a:xfrm>
            <a:off x="5791200" y="548580"/>
            <a:ext cx="295351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3200"/>
              <a:buFont typeface="Georgia"/>
              <a:buNone/>
            </a:pPr>
            <a:r>
              <a:rPr b="1" i="0" lang="en" sz="3200" u="none" cap="none" strike="noStrike">
                <a:solidFill>
                  <a:srgbClr val="2C2C2C"/>
                </a:solidFill>
                <a:latin typeface="Georgia"/>
                <a:ea typeface="Georgia"/>
                <a:cs typeface="Georgia"/>
                <a:sym typeface="Georgia"/>
              </a:rPr>
              <a:t>1</a:t>
            </a:r>
            <a:endParaRPr b="0" i="0" sz="3200" u="none" cap="none" strike="noStrike">
              <a:solidFill>
                <a:schemeClr val="dk1"/>
              </a:solidFill>
              <a:latin typeface="Calibri"/>
              <a:ea typeface="Calibri"/>
              <a:cs typeface="Calibri"/>
              <a:sym typeface="Calibri"/>
            </a:endParaRPr>
          </a:p>
        </p:txBody>
      </p:sp>
      <p:sp>
        <p:nvSpPr>
          <p:cNvPr id="459" name="Google Shape;459;p28"/>
          <p:cNvSpPr/>
          <p:nvPr/>
        </p:nvSpPr>
        <p:spPr>
          <a:xfrm>
            <a:off x="5791200" y="1056531"/>
            <a:ext cx="2953512" cy="391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C2C2C"/>
              </a:buClr>
              <a:buSzPts val="1100"/>
              <a:buFont typeface="Arial"/>
              <a:buNone/>
            </a:pPr>
            <a:r>
              <a:rPr b="0" i="0" lang="en" sz="1100" u="none" cap="none" strike="noStrike">
                <a:solidFill>
                  <a:srgbClr val="2C2C2C"/>
                </a:solidFill>
                <a:latin typeface="Arial"/>
                <a:ea typeface="Arial"/>
                <a:cs typeface="Arial"/>
                <a:sym typeface="Arial"/>
              </a:rPr>
              <a:t>Gather the facts first. Never draft from assumptions.</a:t>
            </a:r>
            <a:endParaRPr b="0" i="0" sz="1100" u="none" cap="none" strike="noStrike">
              <a:solidFill>
                <a:schemeClr val="dk1"/>
              </a:solidFill>
              <a:latin typeface="Calibri"/>
              <a:ea typeface="Calibri"/>
              <a:cs typeface="Calibri"/>
              <a:sym typeface="Calibri"/>
            </a:endParaRPr>
          </a:p>
        </p:txBody>
      </p:sp>
      <p:sp>
        <p:nvSpPr>
          <p:cNvPr id="460" name="Google Shape;460;p28"/>
          <p:cNvSpPr/>
          <p:nvPr/>
        </p:nvSpPr>
        <p:spPr>
          <a:xfrm>
            <a:off x="5791200" y="1650802"/>
            <a:ext cx="295351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3200"/>
              <a:buFont typeface="Georgia"/>
              <a:buNone/>
            </a:pPr>
            <a:r>
              <a:rPr b="1" i="0" lang="en" sz="3200" u="none" cap="none" strike="noStrike">
                <a:solidFill>
                  <a:srgbClr val="2C2C2C"/>
                </a:solidFill>
                <a:latin typeface="Georgia"/>
                <a:ea typeface="Georgia"/>
                <a:cs typeface="Georgia"/>
                <a:sym typeface="Georgia"/>
              </a:rPr>
              <a:t>2</a:t>
            </a:r>
            <a:endParaRPr b="0" i="0" sz="3200" u="none" cap="none" strike="noStrike">
              <a:solidFill>
                <a:schemeClr val="dk1"/>
              </a:solidFill>
              <a:latin typeface="Calibri"/>
              <a:ea typeface="Calibri"/>
              <a:cs typeface="Calibri"/>
              <a:sym typeface="Calibri"/>
            </a:endParaRPr>
          </a:p>
        </p:txBody>
      </p:sp>
      <p:sp>
        <p:nvSpPr>
          <p:cNvPr id="461" name="Google Shape;461;p28"/>
          <p:cNvSpPr/>
          <p:nvPr/>
        </p:nvSpPr>
        <p:spPr>
          <a:xfrm>
            <a:off x="5791200" y="2158752"/>
            <a:ext cx="2953512" cy="391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C2C2C"/>
              </a:buClr>
              <a:buSzPts val="1100"/>
              <a:buFont typeface="Arial"/>
              <a:buNone/>
            </a:pPr>
            <a:r>
              <a:rPr b="0" i="0" lang="en" sz="1100" u="none" cap="none" strike="noStrike">
                <a:solidFill>
                  <a:srgbClr val="2C2C2C"/>
                </a:solidFill>
                <a:latin typeface="Arial"/>
                <a:ea typeface="Arial"/>
                <a:cs typeface="Arial"/>
                <a:sym typeface="Arial"/>
              </a:rPr>
              <a:t>Write goals a colleague can check in 30 seconds.</a:t>
            </a:r>
            <a:endParaRPr b="0" i="0" sz="1100" u="none" cap="none" strike="noStrike">
              <a:solidFill>
                <a:schemeClr val="dk1"/>
              </a:solidFill>
              <a:latin typeface="Calibri"/>
              <a:ea typeface="Calibri"/>
              <a:cs typeface="Calibri"/>
              <a:sym typeface="Calibri"/>
            </a:endParaRPr>
          </a:p>
        </p:txBody>
      </p:sp>
      <p:sp>
        <p:nvSpPr>
          <p:cNvPr id="462" name="Google Shape;462;p28"/>
          <p:cNvSpPr/>
          <p:nvPr/>
        </p:nvSpPr>
        <p:spPr>
          <a:xfrm>
            <a:off x="5791200" y="2753023"/>
            <a:ext cx="295351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2C2C"/>
              </a:buClr>
              <a:buSzPts val="3200"/>
              <a:buFont typeface="Georgia"/>
              <a:buNone/>
            </a:pPr>
            <a:r>
              <a:rPr b="1" i="0" lang="en" sz="3200" u="none" cap="none" strike="noStrike">
                <a:solidFill>
                  <a:srgbClr val="2C2C2C"/>
                </a:solidFill>
                <a:latin typeface="Georgia"/>
                <a:ea typeface="Georgia"/>
                <a:cs typeface="Georgia"/>
                <a:sym typeface="Georgia"/>
              </a:rPr>
              <a:t>3</a:t>
            </a:r>
            <a:endParaRPr b="0" i="0" sz="3200" u="none" cap="none" strike="noStrike">
              <a:solidFill>
                <a:schemeClr val="dk1"/>
              </a:solidFill>
              <a:latin typeface="Calibri"/>
              <a:ea typeface="Calibri"/>
              <a:cs typeface="Calibri"/>
              <a:sym typeface="Calibri"/>
            </a:endParaRPr>
          </a:p>
        </p:txBody>
      </p:sp>
      <p:sp>
        <p:nvSpPr>
          <p:cNvPr id="463" name="Google Shape;463;p28"/>
          <p:cNvSpPr/>
          <p:nvPr/>
        </p:nvSpPr>
        <p:spPr>
          <a:xfrm>
            <a:off x="5791200" y="3260973"/>
            <a:ext cx="2953512" cy="3911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C2C2C"/>
              </a:buClr>
              <a:buSzPts val="1100"/>
              <a:buFont typeface="Arial"/>
              <a:buNone/>
            </a:pPr>
            <a:r>
              <a:rPr b="0" i="0" lang="en" sz="1100" u="none" cap="none" strike="noStrike">
                <a:solidFill>
                  <a:srgbClr val="2C2C2C"/>
                </a:solidFill>
                <a:latin typeface="Arial"/>
                <a:ea typeface="Arial"/>
                <a:cs typeface="Arial"/>
                <a:sym typeface="Arial"/>
              </a:rPr>
              <a:t>Get eyes on the outline before you draft. Fix it cheap or rewrite it expensive.</a:t>
            </a:r>
            <a:endParaRPr b="0" i="0" sz="1100" u="none" cap="none" strike="noStrike">
              <a:solidFill>
                <a:schemeClr val="dk1"/>
              </a:solidFill>
              <a:latin typeface="Calibri"/>
              <a:ea typeface="Calibri"/>
              <a:cs typeface="Calibri"/>
              <a:sym typeface="Calibri"/>
            </a:endParaRPr>
          </a:p>
        </p:txBody>
      </p:sp>
      <p:sp>
        <p:nvSpPr>
          <p:cNvPr id="464" name="Google Shape;464;p28"/>
          <p:cNvSpPr/>
          <p:nvPr/>
        </p:nvSpPr>
        <p:spPr>
          <a:xfrm>
            <a:off x="5791200" y="3956893"/>
            <a:ext cx="507950" cy="25301"/>
          </a:xfrm>
          <a:prstGeom prst="rect">
            <a:avLst/>
          </a:prstGeom>
          <a:solidFill>
            <a:srgbClr val="F4F1D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5" name="Google Shape;465;p28"/>
          <p:cNvSpPr/>
          <p:nvPr/>
        </p:nvSpPr>
        <p:spPr>
          <a:xfrm>
            <a:off x="5791200" y="3969544"/>
            <a:ext cx="518109" cy="95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
              <a:buFont typeface="Arial"/>
              <a:buNone/>
            </a:pPr>
            <a:r>
              <a:rPr b="0" i="0" lang="en" sz="100" u="none" cap="none" strike="noStrike">
                <a:solidFill>
                  <a:srgbClr val="FFFFFF"/>
                </a:solidFill>
                <a:latin typeface="Arial"/>
                <a:ea typeface="Arial"/>
                <a:cs typeface="Arial"/>
                <a:sym typeface="Arial"/>
              </a:rPr>
              <a:t>.</a:t>
            </a:r>
            <a:endParaRPr b="0" i="0" sz="100" u="none" cap="none" strike="noStrike">
              <a:solidFill>
                <a:schemeClr val="dk1"/>
              </a:solidFill>
              <a:latin typeface="Calibri"/>
              <a:ea typeface="Calibri"/>
              <a:cs typeface="Calibri"/>
              <a:sym typeface="Calibri"/>
            </a:endParaRPr>
          </a:p>
        </p:txBody>
      </p:sp>
      <p:sp>
        <p:nvSpPr>
          <p:cNvPr id="466" name="Google Shape;466;p28"/>
          <p:cNvSpPr/>
          <p:nvPr/>
        </p:nvSpPr>
        <p:spPr>
          <a:xfrm>
            <a:off x="5791200" y="4109145"/>
            <a:ext cx="2953512"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300"/>
              <a:buFont typeface="Georgia"/>
              <a:buNone/>
            </a:pPr>
            <a:r>
              <a:rPr b="0" i="0" lang="en" sz="1300" u="none" cap="none" strike="noStrike">
                <a:solidFill>
                  <a:srgbClr val="F4F1DE"/>
                </a:solidFill>
                <a:latin typeface="Georgia"/>
                <a:ea typeface="Georgia"/>
                <a:cs typeface="Georgia"/>
                <a:sym typeface="Georgia"/>
              </a:rPr>
              <a:t>Steve Driggs</a:t>
            </a:r>
            <a:endParaRPr b="0" i="0" sz="1300" u="none" cap="none" strike="noStrike">
              <a:solidFill>
                <a:schemeClr val="dk1"/>
              </a:solidFill>
              <a:latin typeface="Calibri"/>
              <a:ea typeface="Calibri"/>
              <a:cs typeface="Calibri"/>
              <a:sym typeface="Calibri"/>
            </a:endParaRPr>
          </a:p>
        </p:txBody>
      </p:sp>
      <p:sp>
        <p:nvSpPr>
          <p:cNvPr id="467" name="Google Shape;467;p28"/>
          <p:cNvSpPr/>
          <p:nvPr/>
        </p:nvSpPr>
        <p:spPr>
          <a:xfrm>
            <a:off x="5791200" y="4350395"/>
            <a:ext cx="2953512" cy="142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4F1DE"/>
              </a:buClr>
              <a:buSzPts val="1000"/>
              <a:buFont typeface="Arial"/>
              <a:buNone/>
            </a:pPr>
            <a:r>
              <a:rPr b="0" i="0" lang="en" sz="1000" u="none" cap="none" strike="noStrike">
                <a:solidFill>
                  <a:srgbClr val="F4F1DE"/>
                </a:solidFill>
                <a:latin typeface="Arial"/>
                <a:ea typeface="Arial"/>
                <a:cs typeface="Arial"/>
                <a:sym typeface="Arial"/>
              </a:rPr>
              <a:t>THE POWER OF PLANNING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