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2" name="Google Shape;43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2168781" y="1508224"/>
            <a:ext cx="4806288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 Engineering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2635428" y="2133600"/>
            <a:ext cx="387314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Making AI Your Colleague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4064050" y="2784425"/>
            <a:ext cx="1015901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2385155" y="3178075"/>
            <a:ext cx="451032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A Hands-On Workshop for Non Coding Applications of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127060" y="3540026"/>
            <a:ext cx="88987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Steve Driggs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507950" y="279350"/>
            <a:ext cx="76200" cy="3810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761851" y="284113"/>
            <a:ext cx="44216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Why AI Feels Disappointing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507950" y="1413272"/>
            <a:ext cx="3924300" cy="1773585"/>
          </a:xfrm>
          <a:prstGeom prst="roundRect">
            <a:avLst>
              <a:gd fmla="val 429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4"/>
          <p:cNvCxnSpPr/>
          <p:nvPr/>
        </p:nvCxnSpPr>
        <p:spPr>
          <a:xfrm>
            <a:off x="531763" y="1413272"/>
            <a:ext cx="0" cy="1773585"/>
          </a:xfrm>
          <a:prstGeom prst="straightConnector1">
            <a:avLst/>
          </a:prstGeom>
          <a:noFill/>
          <a:ln cap="flat" cmpd="sng" w="47625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4"/>
          <p:cNvSpPr/>
          <p:nvPr/>
        </p:nvSpPr>
        <p:spPr>
          <a:xfrm>
            <a:off x="733276" y="1565672"/>
            <a:ext cx="359169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THE EXPERIENCE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733276" y="1776413"/>
            <a:ext cx="3591699" cy="568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You ask a question. You get a generic answer.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733276" y="2421434"/>
            <a:ext cx="3591699" cy="613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It doesn't know your company, your industry, your deadlines, or what you've already tried. So it gives you something that sounds smart but isn't useful.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07950" y="3288357"/>
            <a:ext cx="3924300" cy="924223"/>
          </a:xfrm>
          <a:prstGeom prst="roundRect">
            <a:avLst>
              <a:gd fmla="val 824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31763" y="3288357"/>
            <a:ext cx="0" cy="924223"/>
          </a:xfrm>
          <a:prstGeom prst="straightConnector1">
            <a:avLst/>
          </a:prstGeom>
          <a:noFill/>
          <a:ln cap="flat" cmpd="sng" w="47625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733276" y="3440757"/>
            <a:ext cx="359169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THE REACTION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33276" y="3651498"/>
            <a:ext cx="3591699" cy="408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"AI is overhyped." "It's just a fancy search engine." "I could have written that myself faster."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711601" y="1900833"/>
            <a:ext cx="3924449" cy="1824186"/>
          </a:xfrm>
          <a:prstGeom prst="roundRect">
            <a:avLst>
              <a:gd fmla="val 41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4"/>
          <p:cNvCxnSpPr/>
          <p:nvPr/>
        </p:nvCxnSpPr>
        <p:spPr>
          <a:xfrm>
            <a:off x="4735413" y="1900833"/>
            <a:ext cx="0" cy="1824186"/>
          </a:xfrm>
          <a:prstGeom prst="straightConnector1">
            <a:avLst/>
          </a:prstGeom>
          <a:noFill/>
          <a:ln cap="flat" cmpd="sng" w="4762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4"/>
          <p:cNvSpPr/>
          <p:nvPr/>
        </p:nvSpPr>
        <p:spPr>
          <a:xfrm>
            <a:off x="4962376" y="2078534"/>
            <a:ext cx="353993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THE REAL PROBLEM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962376" y="2289274"/>
            <a:ext cx="3539934" cy="568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AI isn't bad at thinking. It's bad at mind-reading.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962376" y="2934295"/>
            <a:ext cx="3539934" cy="613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It has no idea who you are, what you need, or what "good" looks like for your situation. The fix isn't better AI. It's better context.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507950" y="279350"/>
            <a:ext cx="76200" cy="381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761851" y="284113"/>
            <a:ext cx="557502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Think of It Like Hiring a Consultant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507950" y="838051"/>
            <a:ext cx="3924300" cy="374452"/>
          </a:xfrm>
          <a:prstGeom prst="roundRect">
            <a:avLst>
              <a:gd fmla="val 20350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85651" y="939552"/>
            <a:ext cx="364027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BRIEFING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07950" y="1212503"/>
            <a:ext cx="3924300" cy="35754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685651" y="1364903"/>
            <a:ext cx="364027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You hire a consultant and say: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85651" y="1627733"/>
            <a:ext cx="364027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"Help me with my marketing strategy."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85651" y="1915864"/>
            <a:ext cx="3568898" cy="1265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85651" y="2004715"/>
            <a:ext cx="3640276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They don't know your industry, budget, audience, timeline, brand voice, or what you've already tried.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85651" y="2479477"/>
            <a:ext cx="3640276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They deliver a generic playbook that could apply to any company.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85651" y="2954238"/>
            <a:ext cx="364027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You paid for something you can't use.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711601" y="838051"/>
            <a:ext cx="3924449" cy="374452"/>
          </a:xfrm>
          <a:prstGeom prst="roundRect">
            <a:avLst>
              <a:gd fmla="val 20350" name="adj"/>
            </a:avLst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889302" y="939552"/>
            <a:ext cx="364042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WITH A PROPER BRIEF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711601" y="1212503"/>
            <a:ext cx="3924449" cy="35754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889302" y="1364903"/>
            <a:ext cx="364042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You brief the consultant first: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889302" y="1627733"/>
            <a:ext cx="3640428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"We're B2B SaaS, $2M ARR, selling to mid-market CFOs. Q3 launch. Budget is $50K. Last campaign got 2% conversion."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889302" y="2289125"/>
            <a:ext cx="3569047" cy="1265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889302" y="2377976"/>
            <a:ext cx="364042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They know your constraints, audience, history, and goals.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889302" y="2666107"/>
            <a:ext cx="364042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They deliver a targeted plan you can execute next week.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889302" y="2954238"/>
            <a:ext cx="3640428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Same consultant. 10x better output. The brief made the difference.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3422079" y="881360"/>
            <a:ext cx="229984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CONTEXT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815289" y="1201936"/>
            <a:ext cx="751342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structured brief you write once and reuse every time you talk to AI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191000" y="2421136"/>
            <a:ext cx="762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1353285" y="2713137"/>
            <a:ext cx="6437430" cy="284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It tells AI who you are, what you need, what "good" looks like, and what to avoid.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815289" y="3124646"/>
            <a:ext cx="7513421" cy="569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You paste it at the start of a conversation. AI instantly becomes a useful collaborator instead of a guessing machine.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1316548" y="4023866"/>
            <a:ext cx="651090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Same AI. Dramatically better results. The context is the difference.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/>
          <p:nvPr/>
        </p:nvSpPr>
        <p:spPr>
          <a:xfrm>
            <a:off x="507950" y="279350"/>
            <a:ext cx="76200" cy="381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761851" y="284113"/>
            <a:ext cx="483983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Your Context Brief: 4 Sections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711101" y="711101"/>
            <a:ext cx="8601557" cy="19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Each one takes 3-5 minutes to write. Total: about 15 minutes. – But what if you could automate this?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507950" y="1084362"/>
            <a:ext cx="1898749" cy="3703588"/>
          </a:xfrm>
          <a:prstGeom prst="roundRect">
            <a:avLst>
              <a:gd fmla="val 53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7"/>
          <p:cNvCxnSpPr/>
          <p:nvPr/>
        </p:nvCxnSpPr>
        <p:spPr>
          <a:xfrm>
            <a:off x="507950" y="1108174"/>
            <a:ext cx="1898749" cy="0"/>
          </a:xfrm>
          <a:prstGeom prst="straightConnector1">
            <a:avLst/>
          </a:prstGeom>
          <a:noFill/>
          <a:ln cap="flat" cmpd="sng" w="4762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7"/>
          <p:cNvSpPr/>
          <p:nvPr/>
        </p:nvSpPr>
        <p:spPr>
          <a:xfrm>
            <a:off x="711101" y="1309688"/>
            <a:ext cx="381000" cy="381000"/>
          </a:xfrm>
          <a:prstGeom prst="roundRect">
            <a:avLst>
              <a:gd fmla="val 240000" name="adj"/>
            </a:avLst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852041" y="1375618"/>
            <a:ext cx="100950" cy="248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711101" y="1792188"/>
            <a:ext cx="152229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Your Profile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711101" y="2077938"/>
            <a:ext cx="1522297" cy="533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Who you are, your role, how you prefer to receive information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711101" y="2763292"/>
            <a:ext cx="1522297" cy="67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"I'm a product owner managing a B2B platform. Give me bullet points, not essays."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2584400" y="1084362"/>
            <a:ext cx="1898749" cy="3703588"/>
          </a:xfrm>
          <a:prstGeom prst="roundRect">
            <a:avLst>
              <a:gd fmla="val 53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7"/>
          <p:cNvCxnSpPr/>
          <p:nvPr/>
        </p:nvCxnSpPr>
        <p:spPr>
          <a:xfrm>
            <a:off x="2584400" y="1108174"/>
            <a:ext cx="1898749" cy="0"/>
          </a:xfrm>
          <a:prstGeom prst="straightConnector1">
            <a:avLst/>
          </a:prstGeom>
          <a:noFill/>
          <a:ln cap="flat" cmpd="sng" w="4762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7"/>
          <p:cNvSpPr/>
          <p:nvPr/>
        </p:nvSpPr>
        <p:spPr>
          <a:xfrm>
            <a:off x="2787551" y="1309688"/>
            <a:ext cx="381000" cy="381000"/>
          </a:xfrm>
          <a:prstGeom prst="roundRect">
            <a:avLst>
              <a:gd fmla="val 240000" name="adj"/>
            </a:avLst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2928491" y="1375618"/>
            <a:ext cx="100950" cy="248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787551" y="1792188"/>
            <a:ext cx="152229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Your Goal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2787551" y="2077938"/>
            <a:ext cx="1522297" cy="533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What you're trying to accomplish and what "done" looks like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2787551" y="2763292"/>
            <a:ext cx="1522297" cy="67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"I need a competitive analysis by Friday. Done = a comparison table my VP can present."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4660850" y="1084362"/>
            <a:ext cx="1898749" cy="3703588"/>
          </a:xfrm>
          <a:prstGeom prst="roundRect">
            <a:avLst>
              <a:gd fmla="val 53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7"/>
          <p:cNvCxnSpPr/>
          <p:nvPr/>
        </p:nvCxnSpPr>
        <p:spPr>
          <a:xfrm>
            <a:off x="4660850" y="1108174"/>
            <a:ext cx="1898749" cy="0"/>
          </a:xfrm>
          <a:prstGeom prst="straightConnector1">
            <a:avLst/>
          </a:prstGeom>
          <a:noFill/>
          <a:ln cap="flat" cmpd="sng" w="4762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7"/>
          <p:cNvSpPr/>
          <p:nvPr/>
        </p:nvSpPr>
        <p:spPr>
          <a:xfrm>
            <a:off x="4864001" y="1309688"/>
            <a:ext cx="381000" cy="381000"/>
          </a:xfrm>
          <a:prstGeom prst="roundRect">
            <a:avLst>
              <a:gd fmla="val 240000" name="adj"/>
            </a:avLst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004941" y="1375618"/>
            <a:ext cx="100950" cy="248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864001" y="1792188"/>
            <a:ext cx="152229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Your Rules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4864001" y="2077938"/>
            <a:ext cx="1522297" cy="533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What AI should always do, never do, and what tone to use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864001" y="2763292"/>
            <a:ext cx="1522297" cy="67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"Always cite sources. Never use jargon. Write for a non-technical executive audience."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737300" y="1084362"/>
            <a:ext cx="1898749" cy="3703588"/>
          </a:xfrm>
          <a:prstGeom prst="roundRect">
            <a:avLst>
              <a:gd fmla="val 53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7"/>
          <p:cNvCxnSpPr/>
          <p:nvPr/>
        </p:nvCxnSpPr>
        <p:spPr>
          <a:xfrm>
            <a:off x="6737300" y="1108174"/>
            <a:ext cx="1898749" cy="0"/>
          </a:xfrm>
          <a:prstGeom prst="straightConnector1">
            <a:avLst/>
          </a:prstGeom>
          <a:noFill/>
          <a:ln cap="flat" cmpd="sng" w="4762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7"/>
          <p:cNvSpPr/>
          <p:nvPr/>
        </p:nvSpPr>
        <p:spPr>
          <a:xfrm>
            <a:off x="6940451" y="1309688"/>
            <a:ext cx="381000" cy="381000"/>
          </a:xfrm>
          <a:prstGeom prst="roundRect">
            <a:avLst>
              <a:gd fmla="val 240000" name="adj"/>
            </a:avLst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7081391" y="1375618"/>
            <a:ext cx="100950" cy="248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940451" y="1792188"/>
            <a:ext cx="152229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What You Know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6940451" y="2077938"/>
            <a:ext cx="1522297" cy="533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Facts, constraints, people, and pitfalls relevant to the task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940451" y="2763292"/>
            <a:ext cx="1522297" cy="67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"Budget is $30K. Legal requires SOC2 compliance. Last vendor missed deadlines."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private/tmp/pptx-biz/slides/phase-1.png" id="116" name="Google Shape;1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950" y="237679"/>
            <a:ext cx="507950" cy="5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8"/>
          <p:cNvSpPr/>
          <p:nvPr/>
        </p:nvSpPr>
        <p:spPr>
          <a:xfrm>
            <a:off x="1168301" y="228600"/>
            <a:ext cx="7617104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SECTION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1168301" y="402431"/>
            <a:ext cx="761710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Your Profile: Tell AI Who You Are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507950" y="881807"/>
            <a:ext cx="4015841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ANSWER THESE 5 QUESTIONS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507950" y="1131838"/>
            <a:ext cx="3937099" cy="595015"/>
          </a:xfrm>
          <a:prstGeom prst="roundRect">
            <a:avLst>
              <a:gd fmla="val 1067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8"/>
          <p:cNvCxnSpPr/>
          <p:nvPr/>
        </p:nvCxnSpPr>
        <p:spPr>
          <a:xfrm>
            <a:off x="527000" y="1131838"/>
            <a:ext cx="0" cy="595015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8"/>
          <p:cNvSpPr/>
          <p:nvPr/>
        </p:nvSpPr>
        <p:spPr>
          <a:xfrm>
            <a:off x="698450" y="1246138"/>
            <a:ext cx="36660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What's your role?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698450" y="1455688"/>
            <a:ext cx="3666083" cy="156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"Product owner for the payments team"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507950" y="1790254"/>
            <a:ext cx="3937099" cy="595015"/>
          </a:xfrm>
          <a:prstGeom prst="roundRect">
            <a:avLst>
              <a:gd fmla="val 1067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8"/>
          <p:cNvCxnSpPr/>
          <p:nvPr/>
        </p:nvCxnSpPr>
        <p:spPr>
          <a:xfrm>
            <a:off x="527000" y="1790254"/>
            <a:ext cx="0" cy="595015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8"/>
          <p:cNvSpPr/>
          <p:nvPr/>
        </p:nvSpPr>
        <p:spPr>
          <a:xfrm>
            <a:off x="698450" y="1904554"/>
            <a:ext cx="36660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What's your experience level?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698450" y="2114104"/>
            <a:ext cx="3666083" cy="156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"10 years in fintech, new to this company"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07950" y="2448669"/>
            <a:ext cx="3937099" cy="595015"/>
          </a:xfrm>
          <a:prstGeom prst="roundRect">
            <a:avLst>
              <a:gd fmla="val 1067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8"/>
          <p:cNvCxnSpPr/>
          <p:nvPr/>
        </p:nvCxnSpPr>
        <p:spPr>
          <a:xfrm>
            <a:off x="527000" y="2448669"/>
            <a:ext cx="0" cy="595015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8"/>
          <p:cNvSpPr/>
          <p:nvPr/>
        </p:nvSpPr>
        <p:spPr>
          <a:xfrm>
            <a:off x="698450" y="2562969"/>
            <a:ext cx="36660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What tools do you use daily?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698450" y="2772519"/>
            <a:ext cx="3666083" cy="156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"Jira, Confluence, Figma, Slack"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07950" y="3107085"/>
            <a:ext cx="3937099" cy="595015"/>
          </a:xfrm>
          <a:prstGeom prst="roundRect">
            <a:avLst>
              <a:gd fmla="val 1067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8"/>
          <p:cNvCxnSpPr/>
          <p:nvPr/>
        </p:nvCxnSpPr>
        <p:spPr>
          <a:xfrm>
            <a:off x="527000" y="3107085"/>
            <a:ext cx="0" cy="595015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8"/>
          <p:cNvSpPr/>
          <p:nvPr/>
        </p:nvSpPr>
        <p:spPr>
          <a:xfrm>
            <a:off x="698450" y="3221385"/>
            <a:ext cx="36660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How do you like information delivered?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98450" y="3430935"/>
            <a:ext cx="3666083" cy="156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"Bullet points first, details only if I ask"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07950" y="3765500"/>
            <a:ext cx="3937099" cy="595015"/>
          </a:xfrm>
          <a:prstGeom prst="roundRect">
            <a:avLst>
              <a:gd fmla="val 1067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8"/>
          <p:cNvCxnSpPr/>
          <p:nvPr/>
        </p:nvCxnSpPr>
        <p:spPr>
          <a:xfrm>
            <a:off x="527000" y="3765500"/>
            <a:ext cx="0" cy="595015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8"/>
          <p:cNvSpPr/>
          <p:nvPr/>
        </p:nvSpPr>
        <p:spPr>
          <a:xfrm>
            <a:off x="698450" y="3879800"/>
            <a:ext cx="36660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What do you NOT want from AI?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98450" y="4089350"/>
            <a:ext cx="3666083" cy="156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"Don't give me fluff or corporate buzzwords"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698950" y="881807"/>
            <a:ext cx="4015841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698950" y="1131838"/>
            <a:ext cx="3937099" cy="755154"/>
          </a:xfrm>
          <a:prstGeom prst="roundRect">
            <a:avLst>
              <a:gd fmla="val 840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8"/>
          <p:cNvCxnSpPr/>
          <p:nvPr/>
        </p:nvCxnSpPr>
        <p:spPr>
          <a:xfrm>
            <a:off x="4718000" y="1131838"/>
            <a:ext cx="0" cy="755154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8"/>
          <p:cNvSpPr/>
          <p:nvPr/>
        </p:nvSpPr>
        <p:spPr>
          <a:xfrm>
            <a:off x="4889450" y="1246138"/>
            <a:ext cx="36660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AI adjusts to your level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889450" y="1442889"/>
            <a:ext cx="3666083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A VP gets executive summaries. An analyst gets detailed breakdowns. Same AI, different output.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698950" y="1950393"/>
            <a:ext cx="3937099" cy="755154"/>
          </a:xfrm>
          <a:prstGeom prst="roundRect">
            <a:avLst>
              <a:gd fmla="val 840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8"/>
          <p:cNvCxnSpPr/>
          <p:nvPr/>
        </p:nvCxnSpPr>
        <p:spPr>
          <a:xfrm>
            <a:off x="4718000" y="1950393"/>
            <a:ext cx="0" cy="755154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8"/>
          <p:cNvSpPr/>
          <p:nvPr/>
        </p:nvSpPr>
        <p:spPr>
          <a:xfrm>
            <a:off x="4889450" y="2064693"/>
            <a:ext cx="36660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Preferences prevent rework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4889450" y="2261443"/>
            <a:ext cx="3666083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If you hate long paragraphs, say so once. You'll never get a wall of text again.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698950" y="2768947"/>
            <a:ext cx="3937099" cy="1063972"/>
          </a:xfrm>
          <a:prstGeom prst="roundRect">
            <a:avLst>
              <a:gd fmla="val 7162" name="adj"/>
            </a:avLst>
          </a:prstGeom>
          <a:solidFill>
            <a:srgbClr val="1C28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876651" y="2921347"/>
            <a:ext cx="3653332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PRO TIP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876651" y="3120628"/>
            <a:ext cx="3653332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 specific. "I'm a manager" is vague. "I manage a 5-person risk team covering APAC regulatory compliance" gives AI everything it needs.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private/tmp/pptx-biz/slides/phase-2.png" id="157" name="Google Shape;15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950" y="237679"/>
            <a:ext cx="507950" cy="5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"/>
          <p:cNvSpPr/>
          <p:nvPr/>
        </p:nvSpPr>
        <p:spPr>
          <a:xfrm>
            <a:off x="1168301" y="228600"/>
            <a:ext cx="7617104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SECTION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1168301" y="402431"/>
            <a:ext cx="761710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Your Goal: What Does "Done" Look Like?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07950" y="881807"/>
            <a:ext cx="4015841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ANSWER THESE QUESTIONS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07950" y="1131838"/>
            <a:ext cx="3937099" cy="595015"/>
          </a:xfrm>
          <a:prstGeom prst="roundRect">
            <a:avLst>
              <a:gd fmla="val 1067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9"/>
          <p:cNvCxnSpPr/>
          <p:nvPr/>
        </p:nvCxnSpPr>
        <p:spPr>
          <a:xfrm>
            <a:off x="527000" y="1131838"/>
            <a:ext cx="0" cy="595015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9"/>
          <p:cNvSpPr/>
          <p:nvPr/>
        </p:nvSpPr>
        <p:spPr>
          <a:xfrm>
            <a:off x="698450" y="1246138"/>
            <a:ext cx="36660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What are you trying to accomplish?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698450" y="1455688"/>
            <a:ext cx="3666083" cy="156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"Write a vendor risk assessment for the board"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07950" y="1790254"/>
            <a:ext cx="3937099" cy="595015"/>
          </a:xfrm>
          <a:prstGeom prst="roundRect">
            <a:avLst>
              <a:gd fmla="val 1067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9"/>
          <p:cNvCxnSpPr/>
          <p:nvPr/>
        </p:nvCxnSpPr>
        <p:spPr>
          <a:xfrm>
            <a:off x="527000" y="1790254"/>
            <a:ext cx="0" cy="595015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9"/>
          <p:cNvSpPr/>
          <p:nvPr/>
        </p:nvSpPr>
        <p:spPr>
          <a:xfrm>
            <a:off x="698450" y="1904554"/>
            <a:ext cx="36660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Why does it matter? Who benefits?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98450" y="2114104"/>
            <a:ext cx="3666083" cy="156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"Board needs it for Q3 compliance review"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07950" y="2448669"/>
            <a:ext cx="3937099" cy="595015"/>
          </a:xfrm>
          <a:prstGeom prst="roundRect">
            <a:avLst>
              <a:gd fmla="val 1067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9"/>
          <p:cNvCxnSpPr/>
          <p:nvPr/>
        </p:nvCxnSpPr>
        <p:spPr>
          <a:xfrm>
            <a:off x="527000" y="2448669"/>
            <a:ext cx="0" cy="595015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9"/>
          <p:cNvSpPr/>
          <p:nvPr/>
        </p:nvSpPr>
        <p:spPr>
          <a:xfrm>
            <a:off x="698450" y="2562969"/>
            <a:ext cx="36660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What does success look like?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98450" y="2772519"/>
            <a:ext cx="3666083" cy="156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"A 2-page brief with risk scores and recommendations"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507950" y="3107085"/>
            <a:ext cx="3937099" cy="595015"/>
          </a:xfrm>
          <a:prstGeom prst="roundRect">
            <a:avLst>
              <a:gd fmla="val 1067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9"/>
          <p:cNvCxnSpPr/>
          <p:nvPr/>
        </p:nvCxnSpPr>
        <p:spPr>
          <a:xfrm>
            <a:off x="527000" y="3107085"/>
            <a:ext cx="0" cy="595015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9"/>
          <p:cNvSpPr/>
          <p:nvPr/>
        </p:nvSpPr>
        <p:spPr>
          <a:xfrm>
            <a:off x="698450" y="3221385"/>
            <a:ext cx="36660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What's the timeline?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98450" y="3430935"/>
            <a:ext cx="3666083" cy="156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"Draft by Wednesday, final by Friday"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07950" y="3765500"/>
            <a:ext cx="3937099" cy="595015"/>
          </a:xfrm>
          <a:prstGeom prst="roundRect">
            <a:avLst>
              <a:gd fmla="val 1067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9"/>
          <p:cNvCxnSpPr/>
          <p:nvPr/>
        </p:nvCxnSpPr>
        <p:spPr>
          <a:xfrm>
            <a:off x="527000" y="3765500"/>
            <a:ext cx="0" cy="595015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9"/>
          <p:cNvSpPr/>
          <p:nvPr/>
        </p:nvSpPr>
        <p:spPr>
          <a:xfrm>
            <a:off x="698450" y="3879800"/>
            <a:ext cx="36660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What have you already tried?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98450" y="4089350"/>
            <a:ext cx="3666083" cy="156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"Started from last quarter's template but the format changed"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698950" y="881807"/>
            <a:ext cx="4015841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THE SINGLE BIGGEST LEVER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698950" y="1131838"/>
            <a:ext cx="3937099" cy="785217"/>
          </a:xfrm>
          <a:prstGeom prst="roundRect">
            <a:avLst>
              <a:gd fmla="val 808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9"/>
          <p:cNvCxnSpPr/>
          <p:nvPr/>
        </p:nvCxnSpPr>
        <p:spPr>
          <a:xfrm>
            <a:off x="4718000" y="1131838"/>
            <a:ext cx="0" cy="785217"/>
          </a:xfrm>
          <a:prstGeom prst="straightConnector1">
            <a:avLst/>
          </a:prstGeom>
          <a:noFill/>
          <a:ln cap="flat" cmpd="sng" w="381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9"/>
          <p:cNvSpPr/>
          <p:nvPr/>
        </p:nvSpPr>
        <p:spPr>
          <a:xfrm>
            <a:off x="4889450" y="1246138"/>
            <a:ext cx="36660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Vague goal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889450" y="1442889"/>
            <a:ext cx="3666083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"Help me with the risk assessment"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4889450" y="1645890"/>
            <a:ext cx="3666083" cy="156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 produces a generic template. You rewrite 80% of it.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698950" y="1980456"/>
            <a:ext cx="3937099" cy="950119"/>
          </a:xfrm>
          <a:prstGeom prst="roundRect">
            <a:avLst>
              <a:gd fmla="val 668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9"/>
          <p:cNvCxnSpPr/>
          <p:nvPr/>
        </p:nvCxnSpPr>
        <p:spPr>
          <a:xfrm>
            <a:off x="4718000" y="1980456"/>
            <a:ext cx="0" cy="950119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9"/>
          <p:cNvSpPr/>
          <p:nvPr/>
        </p:nvSpPr>
        <p:spPr>
          <a:xfrm>
            <a:off x="4889450" y="2094756"/>
            <a:ext cx="36660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Clear goal with "done" defined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889450" y="2291507"/>
            <a:ext cx="3666083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"Write a vendor risk brief for the board. 2 pages. Risk scores for 4 vendors. Due Friday."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889450" y="2659410"/>
            <a:ext cx="3666083" cy="156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 produces something you can edit, not rewrite.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698950" y="2993975"/>
            <a:ext cx="3937099" cy="1063972"/>
          </a:xfrm>
          <a:prstGeom prst="roundRect">
            <a:avLst>
              <a:gd fmla="val 7162" name="adj"/>
            </a:avLst>
          </a:prstGeom>
          <a:solidFill>
            <a:srgbClr val="1C28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876651" y="3146375"/>
            <a:ext cx="3653332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KEY INSIGHT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876651" y="3345656"/>
            <a:ext cx="3653332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Most people tell AI what they want to DO but not what SUCCESS looks like. Defining "done" is the single biggest improvement you can make.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private/tmp/pptx-biz/slides/phase-3.png" id="200" name="Google Shape;20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950" y="237679"/>
            <a:ext cx="507950" cy="5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0"/>
          <p:cNvSpPr/>
          <p:nvPr/>
        </p:nvSpPr>
        <p:spPr>
          <a:xfrm>
            <a:off x="1168301" y="228600"/>
            <a:ext cx="7617104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SECTION 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168301" y="402431"/>
            <a:ext cx="761710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Your Rules: Guardrails for AI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507950" y="881807"/>
            <a:ext cx="4015841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ALWAYS 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507950" y="1131838"/>
            <a:ext cx="3937099" cy="545604"/>
          </a:xfrm>
          <a:prstGeom prst="roundRect">
            <a:avLst>
              <a:gd fmla="val 116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10"/>
          <p:cNvCxnSpPr/>
          <p:nvPr/>
        </p:nvCxnSpPr>
        <p:spPr>
          <a:xfrm>
            <a:off x="527000" y="1131838"/>
            <a:ext cx="0" cy="545604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10"/>
          <p:cNvSpPr/>
          <p:nvPr/>
        </p:nvSpPr>
        <p:spPr>
          <a:xfrm>
            <a:off x="698450" y="1233339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Cite sources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698450" y="1411039"/>
            <a:ext cx="3666083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"If you reference a statistic, tell me where it came from"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07950" y="1740843"/>
            <a:ext cx="3937099" cy="545604"/>
          </a:xfrm>
          <a:prstGeom prst="roundRect">
            <a:avLst>
              <a:gd fmla="val 116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10"/>
          <p:cNvCxnSpPr/>
          <p:nvPr/>
        </p:nvCxnSpPr>
        <p:spPr>
          <a:xfrm>
            <a:off x="527000" y="1740843"/>
            <a:ext cx="0" cy="545604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10"/>
          <p:cNvSpPr/>
          <p:nvPr/>
        </p:nvSpPr>
        <p:spPr>
          <a:xfrm>
            <a:off x="698450" y="1842343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Use our terminology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98450" y="2020044"/>
            <a:ext cx="3666083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"We say 'associates' not 'employees,' 'guests' not 'customers'"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07950" y="2349847"/>
            <a:ext cx="3937099" cy="545604"/>
          </a:xfrm>
          <a:prstGeom prst="roundRect">
            <a:avLst>
              <a:gd fmla="val 116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10"/>
          <p:cNvCxnSpPr/>
          <p:nvPr/>
        </p:nvCxnSpPr>
        <p:spPr>
          <a:xfrm>
            <a:off x="527000" y="2349847"/>
            <a:ext cx="0" cy="545604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10"/>
          <p:cNvSpPr/>
          <p:nvPr/>
        </p:nvSpPr>
        <p:spPr>
          <a:xfrm>
            <a:off x="698450" y="2451348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Ask before assuming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98450" y="2629049"/>
            <a:ext cx="3666083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"If you're unsure about my intent, ask instead of guessing"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07950" y="2958852"/>
            <a:ext cx="4015841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NEVER 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507950" y="3208883"/>
            <a:ext cx="3937099" cy="545604"/>
          </a:xfrm>
          <a:prstGeom prst="roundRect">
            <a:avLst>
              <a:gd fmla="val 116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10"/>
          <p:cNvCxnSpPr/>
          <p:nvPr/>
        </p:nvCxnSpPr>
        <p:spPr>
          <a:xfrm>
            <a:off x="527000" y="3208883"/>
            <a:ext cx="0" cy="545604"/>
          </a:xfrm>
          <a:prstGeom prst="straightConnector1">
            <a:avLst/>
          </a:prstGeom>
          <a:noFill/>
          <a:ln cap="flat" cmpd="sng" w="381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10"/>
          <p:cNvSpPr/>
          <p:nvPr/>
        </p:nvSpPr>
        <p:spPr>
          <a:xfrm>
            <a:off x="698450" y="3310384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Make up facts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98450" y="3488085"/>
            <a:ext cx="3666083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"If you don't know, say 'I don't know' — do not fabricate"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507950" y="3817888"/>
            <a:ext cx="3937099" cy="545604"/>
          </a:xfrm>
          <a:prstGeom prst="roundRect">
            <a:avLst>
              <a:gd fmla="val 116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10"/>
          <p:cNvCxnSpPr/>
          <p:nvPr/>
        </p:nvCxnSpPr>
        <p:spPr>
          <a:xfrm>
            <a:off x="527000" y="3817888"/>
            <a:ext cx="0" cy="545604"/>
          </a:xfrm>
          <a:prstGeom prst="straightConnector1">
            <a:avLst/>
          </a:prstGeom>
          <a:noFill/>
          <a:ln cap="flat" cmpd="sng" w="381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10"/>
          <p:cNvSpPr/>
          <p:nvPr/>
        </p:nvSpPr>
        <p:spPr>
          <a:xfrm>
            <a:off x="698450" y="3919389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Use jargon my audience won't understand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698450" y="4097089"/>
            <a:ext cx="3666083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"This is for the board. Write for smart non-specialists."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698950" y="881807"/>
            <a:ext cx="4015841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DEPARTMENT EXAMPLES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698950" y="1131838"/>
            <a:ext cx="3937099" cy="710505"/>
          </a:xfrm>
          <a:prstGeom prst="roundRect">
            <a:avLst>
              <a:gd fmla="val 893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0"/>
          <p:cNvCxnSpPr/>
          <p:nvPr/>
        </p:nvCxnSpPr>
        <p:spPr>
          <a:xfrm>
            <a:off x="4718000" y="1131838"/>
            <a:ext cx="0" cy="710505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10"/>
          <p:cNvSpPr/>
          <p:nvPr/>
        </p:nvSpPr>
        <p:spPr>
          <a:xfrm>
            <a:off x="4889450" y="1233339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Legal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889450" y="1411039"/>
            <a:ext cx="3666083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"Always flag potential liability. Never give definitive legal advice. Use 'may' not 'will.'"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698950" y="1905744"/>
            <a:ext cx="3937099" cy="710505"/>
          </a:xfrm>
          <a:prstGeom prst="roundRect">
            <a:avLst>
              <a:gd fmla="val 893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10"/>
          <p:cNvCxnSpPr/>
          <p:nvPr/>
        </p:nvCxnSpPr>
        <p:spPr>
          <a:xfrm>
            <a:off x="4718000" y="1905744"/>
            <a:ext cx="0" cy="710505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10"/>
          <p:cNvSpPr/>
          <p:nvPr/>
        </p:nvSpPr>
        <p:spPr>
          <a:xfrm>
            <a:off x="4889450" y="2007245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Marketing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889450" y="2184946"/>
            <a:ext cx="3666083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"Match our brand voice guide. Never use exclamation marks. Keep sentences under 20 words."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698950" y="2679650"/>
            <a:ext cx="3937099" cy="710505"/>
          </a:xfrm>
          <a:prstGeom prst="roundRect">
            <a:avLst>
              <a:gd fmla="val 893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10"/>
          <p:cNvCxnSpPr/>
          <p:nvPr/>
        </p:nvCxnSpPr>
        <p:spPr>
          <a:xfrm>
            <a:off x="4718000" y="2679650"/>
            <a:ext cx="0" cy="710505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10"/>
          <p:cNvSpPr/>
          <p:nvPr/>
        </p:nvSpPr>
        <p:spPr>
          <a:xfrm>
            <a:off x="4889450" y="2781151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4889450" y="2958852"/>
            <a:ext cx="3666083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"Quantify risk with probability and impact. Never minimize findings. Use our 5-level rating scale."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4698950" y="3453557"/>
            <a:ext cx="3937099" cy="826443"/>
          </a:xfrm>
          <a:prstGeom prst="roundRect">
            <a:avLst>
              <a:gd fmla="val 9220" name="adj"/>
            </a:avLst>
          </a:prstGeom>
          <a:solidFill>
            <a:srgbClr val="1C28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4851350" y="3580507"/>
            <a:ext cx="3704945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WHY RULES MATTER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851350" y="3779788"/>
            <a:ext cx="3704945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Without rules, AI optimizes for "sounds good." With rules, it optimizes for YOUR definition of good.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private/tmp/pptx-biz/slides/phase-4.png" id="246" name="Google Shape;24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950" y="237679"/>
            <a:ext cx="507950" cy="5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1"/>
          <p:cNvSpPr/>
          <p:nvPr/>
        </p:nvSpPr>
        <p:spPr>
          <a:xfrm>
            <a:off x="1168301" y="228600"/>
            <a:ext cx="7617104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SECTION 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1168301" y="402431"/>
            <a:ext cx="761710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What You Know: The Briefing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07950" y="881807"/>
            <a:ext cx="4015841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WHAT TO INCLUDE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507950" y="1131838"/>
            <a:ext cx="3937099" cy="575965"/>
          </a:xfrm>
          <a:prstGeom prst="roundRect">
            <a:avLst>
              <a:gd fmla="val 110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11"/>
          <p:cNvCxnSpPr/>
          <p:nvPr/>
        </p:nvCxnSpPr>
        <p:spPr>
          <a:xfrm>
            <a:off x="527000" y="1131838"/>
            <a:ext cx="0" cy="575965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11"/>
          <p:cNvSpPr/>
          <p:nvPr/>
        </p:nvSpPr>
        <p:spPr>
          <a:xfrm>
            <a:off x="698450" y="1246138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Facts and data you already have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98450" y="1436638"/>
            <a:ext cx="3666083" cy="156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"Q2 revenue was $4.2M. Churn is 8%. NPS dropped 12 points."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507950" y="1771204"/>
            <a:ext cx="3937099" cy="732830"/>
          </a:xfrm>
          <a:prstGeom prst="roundRect">
            <a:avLst>
              <a:gd fmla="val 86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1"/>
          <p:cNvCxnSpPr/>
          <p:nvPr/>
        </p:nvCxnSpPr>
        <p:spPr>
          <a:xfrm>
            <a:off x="527000" y="1771204"/>
            <a:ext cx="0" cy="732830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1"/>
          <p:cNvSpPr/>
          <p:nvPr/>
        </p:nvSpPr>
        <p:spPr>
          <a:xfrm>
            <a:off x="698450" y="1885504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People and their perspectives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698450" y="2076004"/>
            <a:ext cx="3666083" cy="313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"CFO wants cost cuts. VP Sales wants investment. Board wants both."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507950" y="2567434"/>
            <a:ext cx="3937099" cy="575965"/>
          </a:xfrm>
          <a:prstGeom prst="roundRect">
            <a:avLst>
              <a:gd fmla="val 110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11"/>
          <p:cNvCxnSpPr/>
          <p:nvPr/>
        </p:nvCxnSpPr>
        <p:spPr>
          <a:xfrm>
            <a:off x="527000" y="2567434"/>
            <a:ext cx="0" cy="575965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11"/>
          <p:cNvSpPr/>
          <p:nvPr/>
        </p:nvSpPr>
        <p:spPr>
          <a:xfrm>
            <a:off x="698450" y="2681734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Constraints you're working within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698450" y="2872234"/>
            <a:ext cx="3666083" cy="156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"Budget frozen. Headcount at cap. Must use existing vendors."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07950" y="3206800"/>
            <a:ext cx="3937099" cy="732830"/>
          </a:xfrm>
          <a:prstGeom prst="roundRect">
            <a:avLst>
              <a:gd fmla="val 86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11"/>
          <p:cNvCxnSpPr/>
          <p:nvPr/>
        </p:nvCxnSpPr>
        <p:spPr>
          <a:xfrm>
            <a:off x="527000" y="3206800"/>
            <a:ext cx="0" cy="732830"/>
          </a:xfrm>
          <a:prstGeom prst="straightConnector1">
            <a:avLst/>
          </a:prstGeom>
          <a:noFill/>
          <a:ln cap="flat" cmpd="sng" w="381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11"/>
          <p:cNvSpPr/>
          <p:nvPr/>
        </p:nvSpPr>
        <p:spPr>
          <a:xfrm>
            <a:off x="698450" y="3321100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What typically goes wrong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698450" y="3511600"/>
            <a:ext cx="3666083" cy="313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"Legal always pushes back on timeline claims. Finance rejects anything without ROI."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4698950" y="881807"/>
            <a:ext cx="4015841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YOU KNOW MORE THAN YOU THINK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4698950" y="1131838"/>
            <a:ext cx="3937099" cy="736104"/>
          </a:xfrm>
          <a:prstGeom prst="roundRect">
            <a:avLst>
              <a:gd fmla="val 862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11"/>
          <p:cNvCxnSpPr/>
          <p:nvPr/>
        </p:nvCxnSpPr>
        <p:spPr>
          <a:xfrm>
            <a:off x="4718000" y="1131838"/>
            <a:ext cx="0" cy="736104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11"/>
          <p:cNvSpPr/>
          <p:nvPr/>
        </p:nvSpPr>
        <p:spPr>
          <a:xfrm>
            <a:off x="4889450" y="1246138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Documents you could reference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4889450" y="1423839"/>
            <a:ext cx="3666083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You don't need to share them. Just describe what exists: "I have a competitor analysis from January."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4698950" y="1931343"/>
            <a:ext cx="3937099" cy="736104"/>
          </a:xfrm>
          <a:prstGeom prst="roundRect">
            <a:avLst>
              <a:gd fmla="val 862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11"/>
          <p:cNvCxnSpPr/>
          <p:nvPr/>
        </p:nvCxnSpPr>
        <p:spPr>
          <a:xfrm>
            <a:off x="4718000" y="1931343"/>
            <a:ext cx="0" cy="736104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11"/>
          <p:cNvSpPr/>
          <p:nvPr/>
        </p:nvSpPr>
        <p:spPr>
          <a:xfrm>
            <a:off x="4889450" y="2045643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What's worked before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4889450" y="2223343"/>
            <a:ext cx="3666083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"Last time we did a launch, the email sequence outperformed social by 3x."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4698950" y="2730847"/>
            <a:ext cx="3937099" cy="766167"/>
          </a:xfrm>
          <a:prstGeom prst="roundRect">
            <a:avLst>
              <a:gd fmla="val 82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11"/>
          <p:cNvCxnSpPr/>
          <p:nvPr/>
        </p:nvCxnSpPr>
        <p:spPr>
          <a:xfrm>
            <a:off x="4718000" y="2730847"/>
            <a:ext cx="0" cy="766167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11"/>
          <p:cNvSpPr/>
          <p:nvPr/>
        </p:nvSpPr>
        <p:spPr>
          <a:xfrm>
            <a:off x="4889450" y="2845147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What you're uncertain about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889450" y="3022848"/>
            <a:ext cx="3666083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"I'm not sure if we need FDA approval for this claim."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889450" y="3225850"/>
            <a:ext cx="3666083" cy="156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Arial"/>
              <a:buNone/>
            </a:pPr>
            <a:r>
              <a:rPr i="1" lang="en-US" sz="95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Telling AI what you DON'T know is just as valuable as what you do.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698950" y="3560415"/>
            <a:ext cx="3937099" cy="826443"/>
          </a:xfrm>
          <a:prstGeom prst="roundRect">
            <a:avLst>
              <a:gd fmla="val 9220" name="adj"/>
            </a:avLst>
          </a:prstGeom>
          <a:solidFill>
            <a:srgbClr val="1C28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851350" y="3687366"/>
            <a:ext cx="3704945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THE SHORTCUT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4851350" y="3886646"/>
            <a:ext cx="3704945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Think: "If I were briefing a smart new hire, what would they need to know to be useful by tomorrow?"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"/>
          <p:cNvSpPr/>
          <p:nvPr/>
        </p:nvSpPr>
        <p:spPr>
          <a:xfrm>
            <a:off x="507950" y="279350"/>
            <a:ext cx="829066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Context Looks Like in Your Department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507950" y="657076"/>
            <a:ext cx="8290661" cy="18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Same framework, different content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507950" y="1091952"/>
            <a:ext cx="4000500" cy="1130647"/>
          </a:xfrm>
          <a:prstGeom prst="roundRect">
            <a:avLst>
              <a:gd fmla="val 6740" name="adj"/>
            </a:avLst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660350" y="1218902"/>
            <a:ext cx="3769614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660350" y="1434554"/>
            <a:ext cx="376961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"Write release notes for v3.2"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660350" y="1625054"/>
            <a:ext cx="3769614" cy="470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Profile: PM for enterprise. Goal: notes the CS team can use with customers. Rules: no internal jargon, features grouped by persona. Know: 4 features, 2 are breaking changes.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4635401" y="1091952"/>
            <a:ext cx="4000649" cy="1130647"/>
          </a:xfrm>
          <a:prstGeom prst="roundRect">
            <a:avLst>
              <a:gd fmla="val 6740" name="adj"/>
            </a:avLst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4787801" y="1218902"/>
            <a:ext cx="3769766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LEGAL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4787801" y="1434554"/>
            <a:ext cx="37697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"Review this vendor contract"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4787801" y="1625054"/>
            <a:ext cx="3769766" cy="470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Profile: Associate counsel, IP focus. Goal: flag liability + missing clauses. Rules: use our risk framework, cite contract sections. Know: vendor is in EU, GDPR applies.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507950" y="2324100"/>
            <a:ext cx="4000500" cy="1130647"/>
          </a:xfrm>
          <a:prstGeom prst="roundRect">
            <a:avLst>
              <a:gd fmla="val 6740" name="adj"/>
            </a:avLst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660350" y="2451050"/>
            <a:ext cx="3769614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MARKETING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660350" y="2666702"/>
            <a:ext cx="376961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"Create a campaign brief for Q3"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660350" y="2857202"/>
            <a:ext cx="3769614" cy="470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Profile: Content lead, B2B SaaS. Goal: brief that creative team can execute. Rules: brand voice doc attached, no superlatives. Know: $50K budget, target mid-market CFOs.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4635401" y="2324100"/>
            <a:ext cx="4000649" cy="1130647"/>
          </a:xfrm>
          <a:prstGeom prst="roundRect">
            <a:avLst>
              <a:gd fmla="val 6740" name="adj"/>
            </a:avLst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4787801" y="2451050"/>
            <a:ext cx="3769766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RISK / COMPLIANCE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4787801" y="2666702"/>
            <a:ext cx="37697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"Draft a risk assessment for new vendor"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4787801" y="2857202"/>
            <a:ext cx="3769766" cy="470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Profile: Risk analyst, financial services. Goal: 2-page assessment for committee. Rules: use our 5-level scale, quantify impact. Know: vendor handles PII, no SOC2 yet.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507950" y="3556248"/>
            <a:ext cx="4000500" cy="1130647"/>
          </a:xfrm>
          <a:prstGeom prst="roundRect">
            <a:avLst>
              <a:gd fmla="val 6740" name="adj"/>
            </a:avLst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60350" y="3683198"/>
            <a:ext cx="3769614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FINANCE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660350" y="3898850"/>
            <a:ext cx="376961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"Build a budget variance analysis"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660350" y="4089350"/>
            <a:ext cx="3769614" cy="470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Profile: FP&amp;A analyst. Goal: slide deck for monthly review. Rules: actuals vs forecast, flag items over 10% variance. Know: Q2 actuals finalized, 3 cost centers over budget.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4635401" y="3556248"/>
            <a:ext cx="4000649" cy="1130647"/>
          </a:xfrm>
          <a:prstGeom prst="roundRect">
            <a:avLst>
              <a:gd fmla="val 6740" name="adj"/>
            </a:avLst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4787801" y="3683198"/>
            <a:ext cx="3769766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HR / PEOPLE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4787801" y="3898850"/>
            <a:ext cx="37697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"Write an interview rubric"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4787801" y="4089350"/>
            <a:ext cx="3769766" cy="470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Profile: Recruiting manager. Goal: structured scorecard for panel interviews. Rules: behavioral questions only, aligned to our values. Know: Senior PM role, 5 competencies.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"/>
          <p:cNvSpPr/>
          <p:nvPr/>
        </p:nvSpPr>
        <p:spPr>
          <a:xfrm>
            <a:off x="3967514" y="686098"/>
            <a:ext cx="1208973" cy="203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THE SECRET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944779" y="1066800"/>
            <a:ext cx="7254442" cy="924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 engineering isn't about the AI. It's about clarity of thought.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191000" y="2244923"/>
            <a:ext cx="7620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944779" y="2536924"/>
            <a:ext cx="7254442" cy="569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Writing a context brief forces you to articulate what you actually need, what success looks like, and what constraints matter.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944779" y="3258443"/>
            <a:ext cx="7254442" cy="569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Most people have never written that down. They carry it in their heads. Then they wonder why AI (and colleagues) don't understand them.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2376601" y="4132362"/>
            <a:ext cx="4390799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The brief helps the AI. But it helps you more.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"/>
          <p:cNvSpPr/>
          <p:nvPr/>
        </p:nvSpPr>
        <p:spPr>
          <a:xfrm>
            <a:off x="634901" y="1029742"/>
            <a:ext cx="8031682" cy="19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F1DE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4F1DE"/>
                </a:solidFill>
                <a:latin typeface="Arial"/>
                <a:ea typeface="Arial"/>
                <a:cs typeface="Arial"/>
                <a:sym typeface="Arial"/>
              </a:rPr>
              <a:t>YOUR TURN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634901" y="1352252"/>
            <a:ext cx="803168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Your Context Brief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634901" y="2009477"/>
            <a:ext cx="1835200" cy="1581150"/>
          </a:xfrm>
          <a:prstGeom prst="roundRect">
            <a:avLst>
              <a:gd fmla="val 4819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838051" y="2187178"/>
            <a:ext cx="1457477" cy="177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F1DE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4F1DE"/>
                </a:solidFill>
                <a:latin typeface="Arial"/>
                <a:ea typeface="Arial"/>
                <a:cs typeface="Arial"/>
                <a:sym typeface="Arial"/>
              </a:rPr>
              <a:t>SECTION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838051" y="2415629"/>
            <a:ext cx="145747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My Profile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838051" y="2666405"/>
            <a:ext cx="1457477" cy="746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role, experience, tools, and how you like info delivered. 3-5 sentences.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2647801" y="2009477"/>
            <a:ext cx="1835348" cy="1581150"/>
          </a:xfrm>
          <a:prstGeom prst="roundRect">
            <a:avLst>
              <a:gd fmla="val 4819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2850952" y="2187178"/>
            <a:ext cx="1457629" cy="177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F1DE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4F1DE"/>
                </a:solidFill>
                <a:latin typeface="Arial"/>
                <a:ea typeface="Arial"/>
                <a:cs typeface="Arial"/>
                <a:sym typeface="Arial"/>
              </a:rPr>
              <a:t>SECTION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2850952" y="2415629"/>
            <a:ext cx="145762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My Goal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2850952" y="2666405"/>
            <a:ext cx="1457629" cy="746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you're doing, why it matters, what "done" looks like, and the deadline.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4660850" y="2009477"/>
            <a:ext cx="1835200" cy="1581150"/>
          </a:xfrm>
          <a:prstGeom prst="roundRect">
            <a:avLst>
              <a:gd fmla="val 4819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4864001" y="2187178"/>
            <a:ext cx="1457477" cy="177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F1DE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4F1DE"/>
                </a:solidFill>
                <a:latin typeface="Arial"/>
                <a:ea typeface="Arial"/>
                <a:cs typeface="Arial"/>
                <a:sym typeface="Arial"/>
              </a:rPr>
              <a:t>SECTION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4864001" y="2415629"/>
            <a:ext cx="145747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My Rules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4864001" y="2666405"/>
            <a:ext cx="145747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things AI should always do. 3 things it should never do.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6673751" y="2009477"/>
            <a:ext cx="1835348" cy="1581150"/>
          </a:xfrm>
          <a:prstGeom prst="roundRect">
            <a:avLst>
              <a:gd fmla="val 4819" name="adj"/>
            </a:avLst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6876901" y="2187178"/>
            <a:ext cx="1457629" cy="177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F1DE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4F1DE"/>
                </a:solidFill>
                <a:latin typeface="Arial"/>
                <a:ea typeface="Arial"/>
                <a:cs typeface="Arial"/>
                <a:sym typeface="Arial"/>
              </a:rPr>
              <a:t>SECTION 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6876901" y="2415629"/>
            <a:ext cx="145762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 Know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6876901" y="2666405"/>
            <a:ext cx="1457629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Facts, constraints, key people, and what usually goes wrong.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634901" y="3793778"/>
            <a:ext cx="73868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 min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1511498" y="3855988"/>
            <a:ext cx="3393897" cy="19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F1D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4F1DE"/>
                </a:solidFill>
                <a:latin typeface="Arial"/>
                <a:ea typeface="Arial"/>
                <a:cs typeface="Arial"/>
                <a:sym typeface="Arial"/>
              </a:rPr>
              <a:t>Pick a real task. Write it in your notes. We'll test it live.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"/>
          <p:cNvSpPr/>
          <p:nvPr/>
        </p:nvSpPr>
        <p:spPr>
          <a:xfrm>
            <a:off x="507950" y="253901"/>
            <a:ext cx="76200" cy="381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761851" y="258663"/>
            <a:ext cx="272489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Test It Right Now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507950" y="787301"/>
            <a:ext cx="4015841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3 STEPS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507950" y="1075432"/>
            <a:ext cx="3937099" cy="596503"/>
          </a:xfrm>
          <a:prstGeom prst="roundRect">
            <a:avLst>
              <a:gd fmla="val 1277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660350" y="1202382"/>
            <a:ext cx="330101" cy="330101"/>
          </a:xfrm>
          <a:prstGeom prst="roundRect">
            <a:avLst>
              <a:gd fmla="val 277006" name="adj"/>
            </a:avLst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782985" y="1268313"/>
            <a:ext cx="86529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1117402" y="1202382"/>
            <a:ext cx="323875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Open any AI tool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1117402" y="1380083"/>
            <a:ext cx="3238753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ChatGPT, Claude, Grok, Gemini, Copilot - any of them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507950" y="1773436"/>
            <a:ext cx="3937099" cy="596503"/>
          </a:xfrm>
          <a:prstGeom prst="roundRect">
            <a:avLst>
              <a:gd fmla="val 1277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660350" y="1900386"/>
            <a:ext cx="330101" cy="330101"/>
          </a:xfrm>
          <a:prstGeom prst="roundRect">
            <a:avLst>
              <a:gd fmla="val 277006" name="adj"/>
            </a:avLst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782985" y="1966317"/>
            <a:ext cx="86529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1117402" y="1900386"/>
            <a:ext cx="323875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Paste your entire context brief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1117402" y="2078087"/>
            <a:ext cx="3238753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All 4 sections. As your very first message.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507950" y="2471440"/>
            <a:ext cx="3937099" cy="761405"/>
          </a:xfrm>
          <a:prstGeom prst="roundRect">
            <a:avLst>
              <a:gd fmla="val 1000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660350" y="2598390"/>
            <a:ext cx="330101" cy="330101"/>
          </a:xfrm>
          <a:prstGeom prst="roundRect">
            <a:avLst>
              <a:gd fmla="val 277006" name="adj"/>
            </a:avLst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782985" y="2664321"/>
            <a:ext cx="86529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1117402" y="2598390"/>
            <a:ext cx="323875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Ask it to help with your task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1117402" y="2776091"/>
            <a:ext cx="3238753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The same thing you'd normally ask. Notice the difference.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4698950" y="787301"/>
            <a:ext cx="4015841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WATCH FOR THESE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4698950" y="1050131"/>
            <a:ext cx="3937099" cy="545604"/>
          </a:xfrm>
          <a:prstGeom prst="roundRect">
            <a:avLst>
              <a:gd fmla="val 116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" name="Google Shape;375;p15"/>
          <p:cNvCxnSpPr/>
          <p:nvPr/>
        </p:nvCxnSpPr>
        <p:spPr>
          <a:xfrm>
            <a:off x="4718000" y="1050131"/>
            <a:ext cx="0" cy="545604"/>
          </a:xfrm>
          <a:prstGeom prst="straightConnector1">
            <a:avLst/>
          </a:prstGeom>
          <a:noFill/>
          <a:ln cap="flat" cmpd="sng" w="381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6" name="Google Shape;376;p15"/>
          <p:cNvSpPr/>
          <p:nvPr/>
        </p:nvSpPr>
        <p:spPr>
          <a:xfrm>
            <a:off x="4889450" y="1151632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Does it match your tone?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4889450" y="1329333"/>
            <a:ext cx="3666083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It should write the way you asked, not its default style.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4698950" y="1671935"/>
            <a:ext cx="3937099" cy="545604"/>
          </a:xfrm>
          <a:prstGeom prst="roundRect">
            <a:avLst>
              <a:gd fmla="val 116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9" name="Google Shape;379;p15"/>
          <p:cNvCxnSpPr/>
          <p:nvPr/>
        </p:nvCxnSpPr>
        <p:spPr>
          <a:xfrm>
            <a:off x="4718000" y="1671935"/>
            <a:ext cx="0" cy="545604"/>
          </a:xfrm>
          <a:prstGeom prst="straightConnector1">
            <a:avLst/>
          </a:prstGeom>
          <a:noFill/>
          <a:ln cap="flat" cmpd="sng" w="381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0" name="Google Shape;380;p15"/>
          <p:cNvSpPr/>
          <p:nvPr/>
        </p:nvSpPr>
        <p:spPr>
          <a:xfrm>
            <a:off x="4889450" y="1773436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Does it know your constraints?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4889450" y="1951137"/>
            <a:ext cx="3666083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Budget, timeline, audience should all be reflected.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4698950" y="2293739"/>
            <a:ext cx="3937099" cy="545604"/>
          </a:xfrm>
          <a:prstGeom prst="roundRect">
            <a:avLst>
              <a:gd fmla="val 1163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3" name="Google Shape;383;p15"/>
          <p:cNvCxnSpPr/>
          <p:nvPr/>
        </p:nvCxnSpPr>
        <p:spPr>
          <a:xfrm>
            <a:off x="4718000" y="2293739"/>
            <a:ext cx="0" cy="545604"/>
          </a:xfrm>
          <a:prstGeom prst="straightConnector1">
            <a:avLst/>
          </a:prstGeom>
          <a:noFill/>
          <a:ln cap="flat" cmpd="sng" w="381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15"/>
          <p:cNvSpPr/>
          <p:nvPr/>
        </p:nvSpPr>
        <p:spPr>
          <a:xfrm>
            <a:off x="4889450" y="2395240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Could you use the output?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4889450" y="2572941"/>
            <a:ext cx="3666083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Not "is it perfect" but "could I edit this, not rewrite it?"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4698950" y="2915543"/>
            <a:ext cx="3937099" cy="826443"/>
          </a:xfrm>
          <a:prstGeom prst="roundRect">
            <a:avLst>
              <a:gd fmla="val 9220" name="adj"/>
            </a:avLst>
          </a:prstGeom>
          <a:solidFill>
            <a:srgbClr val="1C28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4851350" y="3042493"/>
            <a:ext cx="3704945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WHAT TO DO NEXT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4851350" y="3241774"/>
            <a:ext cx="3704945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 something was off, add a rule to fix it. "Don't do X because Y." That's how the brief gets better.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6"/>
          <p:cNvSpPr/>
          <p:nvPr/>
        </p:nvSpPr>
        <p:spPr>
          <a:xfrm>
            <a:off x="507950" y="253901"/>
            <a:ext cx="76200" cy="381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761851" y="258663"/>
            <a:ext cx="267555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Making It a Habit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711101" y="685651"/>
            <a:ext cx="8601557" cy="18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15 minutes today saves you hours every week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507950" y="994172"/>
            <a:ext cx="4015841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THE 2-MINUTE UPDATE CYCLE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507950" y="1244203"/>
            <a:ext cx="3937099" cy="571202"/>
          </a:xfrm>
          <a:prstGeom prst="roundRect">
            <a:avLst>
              <a:gd fmla="val 111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9" name="Google Shape;399;p16"/>
          <p:cNvCxnSpPr/>
          <p:nvPr/>
        </p:nvCxnSpPr>
        <p:spPr>
          <a:xfrm>
            <a:off x="527000" y="1244203"/>
            <a:ext cx="0" cy="571202"/>
          </a:xfrm>
          <a:prstGeom prst="straightConnector1">
            <a:avLst/>
          </a:prstGeom>
          <a:noFill/>
          <a:ln cap="flat" cmpd="sng" w="381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16"/>
          <p:cNvSpPr/>
          <p:nvPr/>
        </p:nvSpPr>
        <p:spPr>
          <a:xfrm>
            <a:off x="698450" y="1358503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AI got something wrong?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698450" y="1536204"/>
            <a:ext cx="3666083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Add a rule: "Never assume X" or "Always check Y first"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507950" y="1878806"/>
            <a:ext cx="3937099" cy="571202"/>
          </a:xfrm>
          <a:prstGeom prst="roundRect">
            <a:avLst>
              <a:gd fmla="val 111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3" name="Google Shape;403;p16"/>
          <p:cNvCxnSpPr/>
          <p:nvPr/>
        </p:nvCxnSpPr>
        <p:spPr>
          <a:xfrm>
            <a:off x="527000" y="1878806"/>
            <a:ext cx="0" cy="571202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16"/>
          <p:cNvSpPr/>
          <p:nvPr/>
        </p:nvSpPr>
        <p:spPr>
          <a:xfrm>
            <a:off x="698450" y="1993106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Your situation changed?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698450" y="2170807"/>
            <a:ext cx="3666083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Update the goal or constraints. Takes 30 seconds.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507950" y="2513409"/>
            <a:ext cx="3937099" cy="571202"/>
          </a:xfrm>
          <a:prstGeom prst="roundRect">
            <a:avLst>
              <a:gd fmla="val 111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16"/>
          <p:cNvCxnSpPr/>
          <p:nvPr/>
        </p:nvCxnSpPr>
        <p:spPr>
          <a:xfrm>
            <a:off x="527000" y="2513409"/>
            <a:ext cx="0" cy="571202"/>
          </a:xfrm>
          <a:prstGeom prst="straightConnector1">
            <a:avLst/>
          </a:prstGeom>
          <a:noFill/>
          <a:ln cap="flat" cmpd="sng" w="381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16"/>
          <p:cNvSpPr/>
          <p:nvPr/>
        </p:nvSpPr>
        <p:spPr>
          <a:xfrm>
            <a:off x="698450" y="2627709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Something worked really well?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698450" y="2805410"/>
            <a:ext cx="3666083" cy="164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Note it: "When I said X, the output was exactly right."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507950" y="3148013"/>
            <a:ext cx="3937099" cy="736104"/>
          </a:xfrm>
          <a:prstGeom prst="roundRect">
            <a:avLst>
              <a:gd fmla="val 862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p16"/>
          <p:cNvCxnSpPr/>
          <p:nvPr/>
        </p:nvCxnSpPr>
        <p:spPr>
          <a:xfrm>
            <a:off x="527000" y="3148013"/>
            <a:ext cx="0" cy="736104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p16"/>
          <p:cNvSpPr/>
          <p:nvPr/>
        </p:nvSpPr>
        <p:spPr>
          <a:xfrm>
            <a:off x="698450" y="3262313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New task, same domain?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698450" y="3440013"/>
            <a:ext cx="3666083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Copy your brief, change the goal section. Profile and rules carry over.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4698950" y="994172"/>
            <a:ext cx="4015841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WHERE TO KEEP 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4698950" y="1244203"/>
            <a:ext cx="3937099" cy="736104"/>
          </a:xfrm>
          <a:prstGeom prst="roundRect">
            <a:avLst>
              <a:gd fmla="val 862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16"/>
          <p:cNvCxnSpPr/>
          <p:nvPr/>
        </p:nvCxnSpPr>
        <p:spPr>
          <a:xfrm>
            <a:off x="4718000" y="1244203"/>
            <a:ext cx="0" cy="736104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16"/>
          <p:cNvSpPr/>
          <p:nvPr/>
        </p:nvSpPr>
        <p:spPr>
          <a:xfrm>
            <a:off x="4889450" y="1358503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A note in your notes app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4889450" y="1536204"/>
            <a:ext cx="3666083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Apple Notes, OneNote, Notion, Google Keep. Anywhere you can copy-paste from.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4698950" y="2043708"/>
            <a:ext cx="3937099" cy="736104"/>
          </a:xfrm>
          <a:prstGeom prst="roundRect">
            <a:avLst>
              <a:gd fmla="val 862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" name="Google Shape;420;p16"/>
          <p:cNvCxnSpPr/>
          <p:nvPr/>
        </p:nvCxnSpPr>
        <p:spPr>
          <a:xfrm>
            <a:off x="4718000" y="2043708"/>
            <a:ext cx="0" cy="736104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p16"/>
          <p:cNvSpPr/>
          <p:nvPr/>
        </p:nvSpPr>
        <p:spPr>
          <a:xfrm>
            <a:off x="4889450" y="2158008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Custom Instructions (if available)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4889450" y="2335709"/>
            <a:ext cx="3666083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ChatGPT, Claude, and others let you set persistent context. Put your Profile + Rules there.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4698950" y="2843213"/>
            <a:ext cx="3937099" cy="736104"/>
          </a:xfrm>
          <a:prstGeom prst="roundRect">
            <a:avLst>
              <a:gd fmla="val 862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Google Shape;424;p16"/>
          <p:cNvCxnSpPr/>
          <p:nvPr/>
        </p:nvCxnSpPr>
        <p:spPr>
          <a:xfrm>
            <a:off x="4718000" y="2843213"/>
            <a:ext cx="0" cy="736104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16"/>
          <p:cNvSpPr/>
          <p:nvPr/>
        </p:nvSpPr>
        <p:spPr>
          <a:xfrm>
            <a:off x="4889450" y="2957513"/>
            <a:ext cx="366608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A shared team brief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4889450" y="3135213"/>
            <a:ext cx="3666083" cy="329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Your team can share rules and knowledge. "Our department's AI brief." Consistency across everyone.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4698950" y="3642717"/>
            <a:ext cx="3937099" cy="826443"/>
          </a:xfrm>
          <a:prstGeom prst="roundRect">
            <a:avLst>
              <a:gd fmla="val 9220" name="adj"/>
            </a:avLst>
          </a:prstGeom>
          <a:solidFill>
            <a:srgbClr val="1C28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4851350" y="3769668"/>
            <a:ext cx="3704945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THE COMPOUNDING EFFECT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4851350" y="3968948"/>
            <a:ext cx="3704945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 1: noticeably better. Month 1: dramatically better. Month 3: colleagues ask "how do you get AI to do that?"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7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423333" y="1158776"/>
            <a:ext cx="8085667" cy="462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is only as good as the context you give it.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4191000" y="1773287"/>
            <a:ext cx="762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1563840" y="2065288"/>
            <a:ext cx="60161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AB7B8"/>
              </a:buClr>
              <a:buSzPts val="1400"/>
              <a:buFont typeface="Arial"/>
              <a:buNone/>
            </a:pPr>
            <a:r>
              <a:rPr i="1" lang="en-US" sz="1400">
                <a:solidFill>
                  <a:srgbClr val="AAB7B8"/>
                </a:solidFill>
                <a:latin typeface="Arial"/>
                <a:ea typeface="Arial"/>
                <a:cs typeface="Arial"/>
                <a:sym typeface="Arial"/>
              </a:rPr>
              <a:t>The same tool that feels useless without context feels indispensable with it.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330398" y="2636788"/>
            <a:ext cx="2692301" cy="1052661"/>
          </a:xfrm>
          <a:prstGeom prst="roundRect">
            <a:avLst>
              <a:gd fmla="val 7239" name="adj"/>
            </a:avLst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510689" y="2789188"/>
            <a:ext cx="2331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510689" y="3163788"/>
            <a:ext cx="2331720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Write your profile and rules once. Reuse everywhere.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3225850" y="2636788"/>
            <a:ext cx="2692301" cy="1052661"/>
          </a:xfrm>
          <a:prstGeom prst="roundRect">
            <a:avLst>
              <a:gd fmla="val 7239" name="adj"/>
            </a:avLst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3406140" y="2789188"/>
            <a:ext cx="2331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3406140" y="3163788"/>
            <a:ext cx="2331720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Define what "done" looks like. This is the biggest lever.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6121301" y="2636788"/>
            <a:ext cx="2692301" cy="1052661"/>
          </a:xfrm>
          <a:prstGeom prst="roundRect">
            <a:avLst>
              <a:gd fmla="val 7239" name="adj"/>
            </a:avLst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6301591" y="2789188"/>
            <a:ext cx="2331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6301591" y="3163788"/>
            <a:ext cx="2331720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Update when AI gets it wrong. Your brief gets smarter over time.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3253424" y="3918049"/>
            <a:ext cx="263715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Steve Driggs  |  Context Engineering Workshop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