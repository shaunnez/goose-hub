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6F2B37-CD26-4FBB-85FB-D75CC8AB24EF}">
  <a:tblStyle styleId="{3D6F2B37-CD26-4FBB-85FB-D75CC8AB24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164592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Skills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640080" y="2971800"/>
            <a:ext cx="3657600" cy="6400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What They Are, How to Build Them, and How to Make Them Self-Improving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6035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Based on official Anthropic docs + community tutorials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9601200" y="457200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9948672" y="457200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296144" y="457200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0643616" y="457200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0991088" y="457200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1338560" y="457200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9601200" y="804672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948672" y="804672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0296144" y="804672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0643616" y="804672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0991088" y="804672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1338560" y="804672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9601200" y="1152144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9948672" y="1152144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10296144" y="1152144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10643616" y="1152144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10991088" y="1152144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11338560" y="1152144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9601200" y="1499616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9948672" y="1499616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10296144" y="1499616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0643616" y="1499616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10991088" y="1499616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1338560" y="1499616"/>
            <a:ext cx="91440" cy="9144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6EF6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C46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320040" y="137160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0" u="none" cap="none" strike="noStrike">
                <a:solidFill>
                  <a:srgbClr val="0A3C9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206240" y="20116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4D2FF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206240" y="260604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Are Skills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How to Make Them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You're Re-Explaining Yourself Every Session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02920" y="1508760"/>
            <a:ext cx="10515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commit message style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code review checklist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brand voice and tone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How you like things formatted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02920" y="4754880"/>
            <a:ext cx="11064240" cy="822960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67512" y="4864608"/>
            <a:ext cx="107350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fix this.  Write it once.  Claude applies it automatically — forever.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Skill Is a Markdown File That Teaches Claude Once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02920" y="1508760"/>
            <a:ext cx="6217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Claude reads the description, recognises the situation, and loads the instructions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Think of it as an SOP for your AI agent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Skills can run scripts, call APIs, create files, spin up sub-agents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Skills can call other skills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949440" y="14173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File structure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949440" y="1783080"/>
            <a:ext cx="4663440" cy="20116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132320" y="1920240"/>
            <a:ext cx="42976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.claude/skills/commit-messages/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skill.md          ← the brain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examples.md       ← optional ref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└── scripts/          ← optional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 When to Use Each</a:t>
            </a:r>
            <a:endParaRPr/>
          </a:p>
        </p:txBody>
      </p:sp>
      <p:graphicFrame>
        <p:nvGraphicFramePr>
          <p:cNvPr id="153" name="Google Shape;153;p17"/>
          <p:cNvGraphicFramePr/>
          <p:nvPr/>
        </p:nvGraphicFramePr>
        <p:xfrm>
          <a:off x="5029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{3D6F2B37-CD26-4FBB-85FB-D75CC8AB24EF}</a:tableStyleId>
              </a:tblPr>
              <a:tblGrid>
                <a:gridCol w="1828800"/>
                <a:gridCol w="2743200"/>
                <a:gridCol w="3291850"/>
                <a:gridCol w="27432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CLAUDE.md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Slash Command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it loads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conversation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On-demand when matched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when you type 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 rules, always-on 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Repeatable workflows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One-off explicit invocations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cost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burns tokens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Lightweight — YAML only until matched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until invoked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 vs. Project Skills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02920" y="1554480"/>
            <a:ext cx="5394960" cy="41148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85800" y="16916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~/.claude/skills/   Personal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685800" y="2176272"/>
            <a:ext cx="5029200" cy="36576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85800" y="228600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Follows you across ALL projects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preferences, tone, and style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how you like commits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how you like code explained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6309360" y="1554480"/>
            <a:ext cx="5394960" cy="411480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492240" y="16916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.claude/skills/   Project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6492240" y="2176272"/>
            <a:ext cx="5029200" cy="3657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6492240" y="228600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Only in this repo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Anyone who clones it gets these skills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team standards, brand guidelines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CI workflows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Doesn't Read Everything — It's Efficient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02920" y="1600200"/>
            <a:ext cx="164592" cy="77724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67512" y="1600200"/>
            <a:ext cx="10424160" cy="77724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868680" y="16733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Level 1 — Always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3749039" y="167335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Scans YAML front matter only  (~100 tokens per skill)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02920" y="2651760"/>
            <a:ext cx="164592" cy="777240"/>
          </a:xfrm>
          <a:prstGeom prst="rect">
            <a:avLst/>
          </a:prstGeom>
          <a:solidFill>
            <a:srgbClr val="50A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67512" y="2651760"/>
            <a:ext cx="10424160" cy="77724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68680" y="27249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Level 2 — If matched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3749039" y="272491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Reads full skill.md body  (~1,000–2,000 tokens)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02920" y="3703320"/>
            <a:ext cx="164592" cy="777240"/>
          </a:xfrm>
          <a:prstGeom prst="rect">
            <a:avLst/>
          </a:prstGeom>
          <a:solidFill>
            <a:srgbClr val="63A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67512" y="3703320"/>
            <a:ext cx="10424160" cy="77724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868680" y="37764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Level 3 — If needed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3749039" y="377647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Loads reference files and scripts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02920" y="4846320"/>
            <a:ext cx="11064240" cy="749808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67512" y="4956048"/>
            <a:ext cx="10735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YAML description is the most important line in the skill.  Get it wrong and the skill never fires.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Explicit or Natural Language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02920" y="1554480"/>
            <a:ext cx="5394960" cy="40233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Explicit — slash command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85800" y="2194560"/>
            <a:ext cx="5029200" cy="6858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868680" y="233172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/commit-messages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85800" y="30632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You type the exact slash command.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6309360" y="1554480"/>
            <a:ext cx="5394960" cy="402336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492240" y="16916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Natural language — automatic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6492240" y="2194560"/>
            <a:ext cx="5029200" cy="100584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675120" y="233172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"write a commit message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for this change"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492240" y="33375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Claude matches the request to skill descriptions automatically.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skill.md Structure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955279" y="7772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FF7850"/>
                </a:solidFill>
                <a:latin typeface="Calibri"/>
                <a:ea typeface="Calibri"/>
                <a:cs typeface="Calibri"/>
                <a:sym typeface="Calibri"/>
              </a:rPr>
              <a:t>Keep skill.md under 500 lines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02920" y="1417320"/>
            <a:ext cx="11155680" cy="507492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85800" y="1554480"/>
            <a:ext cx="107899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name: commit-messages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Format git commit messages using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conventional commits — use when writing or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reviewing any commit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96A0B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Goal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Produce a well-structured commit message every time.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4C8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Process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1. Read the staged diff or change description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2. Identify the type: feat / fix / chore / docs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3. Write subject line under 72 chars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4C8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Rules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- Never use past tense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- Never exceed 72 characters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4C8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Reference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See ./examples.md for approved examples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Six Steps from Blank File to Working Skill</a:t>
            </a:r>
            <a:endParaRPr/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5029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{3D6F2B37-CD26-4FBB-85FB-D75CC8AB24EF}</a:tableStyleId>
              </a:tblPr>
              <a:tblGrid>
                <a:gridCol w="2926075"/>
                <a:gridCol w="77724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 Question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· Name &amp; Trigger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it called? What natural language fires it?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· Goal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sentence: what does it accomplish? What is the output?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· Process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Step-by-step: exactly what happens in what order?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· Reference Files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context does it need? Style guides, brand assets?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· Rules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could go wrong? Build in guardrails.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· Self-Improvement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will you test and iterate?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Things Go Wrong</a:t>
            </a:r>
            <a:endParaRPr/>
          </a:p>
        </p:txBody>
      </p:sp>
      <p:graphicFrame>
        <p:nvGraphicFramePr>
          <p:cNvPr id="238" name="Google Shape;238;p23"/>
          <p:cNvGraphicFramePr/>
          <p:nvPr/>
        </p:nvGraphicFramePr>
        <p:xfrm>
          <a:off x="5029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{3D6F2B37-CD26-4FBB-85FB-D75CC8AB24EF}</a:tableStyleId>
              </a:tblPr>
              <a:tblGrid>
                <a:gridCol w="4572000"/>
                <a:gridCol w="61264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Symptom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steps or wrong order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 skill.md instructions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tone, style, or 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reference files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mistake repeating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a rule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Struggles with a 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a reference doc for the 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isn't triggering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 the YAML description — make it more specific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triggers too often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 disable model invocation: true  in YAML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First Version Is Always a Draft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02920" y="1600200"/>
            <a:ext cx="3566160" cy="11430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640080" y="17830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1 · Invoke skill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4297680" y="1600200"/>
            <a:ext cx="3566160" cy="11430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4434840" y="17830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2 · Watch it work (don't skip this)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8092440" y="1600200"/>
            <a:ext cx="3566160" cy="11430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8229600" y="17830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3 · Spot something wrong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02920" y="2971800"/>
            <a:ext cx="3566160" cy="11430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640080" y="3154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4 · Tell Claude: 'That's wrong because X — fix the skill'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4297680" y="2971800"/>
            <a:ext cx="3566160" cy="11430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4434840" y="3154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5 · Claude edits skill.md</a:t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8092440" y="2971800"/>
            <a:ext cx="3566160" cy="114300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8229600" y="3154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· Run again → repeat for 20–30 runs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502920" y="4617720"/>
            <a:ext cx="11064240" cy="594360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667512" y="4727448"/>
            <a:ext cx="10735056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run 20–30, the skill is highly refined.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6EF6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C46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320040" y="137160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0" u="none" cap="none" strike="noStrike">
                <a:solidFill>
                  <a:srgbClr val="0A3C9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4206240" y="20116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4D2FF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4206240" y="260604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Auto-Improve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Improvement Plateaus at 'Pretty Good'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The slow loop: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502920" y="1920240"/>
            <a:ext cx="1691640" cy="6400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548640" y="196596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Run skill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2194560" y="20116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2377439" y="1920240"/>
            <a:ext cx="1691640" cy="6400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2423159" y="196596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Spot something wrong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4069079" y="20116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4251959" y="1920240"/>
            <a:ext cx="1691640" cy="6400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4297679" y="196596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Edit skill.md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943599" y="20116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6126479" y="1920240"/>
            <a:ext cx="1691640" cy="6400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6172199" y="196596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Run again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7818119" y="20116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8001000" y="1920240"/>
            <a:ext cx="1691640" cy="6400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 txBox="1"/>
          <p:nvPr/>
        </p:nvSpPr>
        <p:spPr>
          <a:xfrm>
            <a:off x="8046720" y="196596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9692640" y="20116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9875520" y="1920240"/>
            <a:ext cx="1691640" cy="6400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9921240" y="196596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Eventually stops</a:t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502920" y="3017520"/>
            <a:ext cx="11064240" cy="1463040"/>
          </a:xfrm>
          <a:prstGeom prst="rect">
            <a:avLst/>
          </a:prstGeom>
          <a:solidFill>
            <a:srgbClr val="1E28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777240" y="312724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Karpathy Insight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777240" y="3520440"/>
            <a:ext cx="10149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"Give a system something to improve + one clear binary metric. It loops overnight while you sleep."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 Triggering, Then Fix Output</a:t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502920" y="1554480"/>
            <a:ext cx="5440680" cy="4114800"/>
          </a:xfrm>
          <a:prstGeom prst="rect">
            <a:avLst/>
          </a:prstGeom>
          <a:solidFill>
            <a:srgbClr val="1E28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685800" y="21031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 Loop</a:t>
            </a:r>
            <a:endParaRPr/>
          </a:p>
        </p:txBody>
      </p:sp>
      <p:sp>
        <p:nvSpPr>
          <p:cNvPr id="309" name="Google Shape;309;p27"/>
          <p:cNvSpPr/>
          <p:nvPr/>
        </p:nvSpPr>
        <p:spPr>
          <a:xfrm>
            <a:off x="685800" y="2697480"/>
            <a:ext cx="5029200" cy="3657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685800" y="27889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→ Fixes whether the skill TRIGGERS correctly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685800" y="34290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Already built into the Skill Creator</a:t>
            </a:r>
            <a:br>
              <a:rPr b="0" i="0" lang="en-US" sz="15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Activation rate was as low as 20% with vague descriptions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6263640" y="1554480"/>
            <a:ext cx="5440680" cy="4114800"/>
          </a:xfrm>
          <a:prstGeom prst="rect">
            <a:avLst/>
          </a:prstGeom>
          <a:solidFill>
            <a:srgbClr val="1E283A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6446520" y="16916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6446520" y="21031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Assertion Loop</a:t>
            </a:r>
            <a:endParaRPr/>
          </a:p>
        </p:txBody>
      </p:sp>
      <p:sp>
        <p:nvSpPr>
          <p:cNvPr id="315" name="Google Shape;315;p27"/>
          <p:cNvSpPr/>
          <p:nvPr/>
        </p:nvSpPr>
        <p:spPr>
          <a:xfrm>
            <a:off x="6446520" y="2697480"/>
            <a:ext cx="5029200" cy="36576"/>
          </a:xfrm>
          <a:prstGeom prst="rect">
            <a:avLst/>
          </a:prstGeom>
          <a:solidFill>
            <a:srgbClr val="50C8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6446520" y="27889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→ Fixes whether the skill OUTPUT is correct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446520" y="34290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Karpathy-inspired binary scoring</a:t>
            </a:r>
            <a:br>
              <a:rPr b="0" i="0" lang="en-US" sz="15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Runs overnight autonomously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Already Done For You — Just Use It</a:t>
            </a:r>
            <a:endParaRPr/>
          </a:p>
        </p:txBody>
      </p:sp>
      <p:sp>
        <p:nvSpPr>
          <p:cNvPr id="326" name="Google Shape;326;p28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502920" y="162763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1188720" y="16276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test queries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4572000" y="1627632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Some should trigger, some shouldn't</a:t>
            </a:r>
            <a:endParaRPr/>
          </a:p>
        </p:txBody>
      </p:sp>
      <p:sp>
        <p:nvSpPr>
          <p:cNvPr id="330" name="Google Shape;330;p28"/>
          <p:cNvSpPr/>
          <p:nvPr/>
        </p:nvSpPr>
        <p:spPr>
          <a:xfrm>
            <a:off x="502920" y="2450592"/>
            <a:ext cx="502920" cy="50292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502920" y="2432304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188720" y="243230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trigger accuracy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4572000" y="2432304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Count true positives + true negatives</a:t>
            </a:r>
            <a:endParaRPr/>
          </a:p>
        </p:txBody>
      </p:sp>
      <p:sp>
        <p:nvSpPr>
          <p:cNvPr id="334" name="Google Shape;334;p28"/>
          <p:cNvSpPr/>
          <p:nvPr/>
        </p:nvSpPr>
        <p:spPr>
          <a:xfrm>
            <a:off x="502920" y="3255264"/>
            <a:ext cx="502920" cy="50292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502920" y="3236976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1188720" y="32369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 a better description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4572000" y="3236976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If accuracy is low, rewrite the YAML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502920" y="4059936"/>
            <a:ext cx="502920" cy="50292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02920" y="4041648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1188720" y="404164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Retest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4572000" y="4041648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Run the same queries again</a:t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>
            <a:off x="502920" y="4864608"/>
            <a:ext cx="502920" cy="50292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502920" y="4846320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1188720" y="48463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4572000" y="484632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Until activation rate is acceptable</a:t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502920" y="5623560"/>
            <a:ext cx="11064240" cy="54864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667512" y="5733288"/>
            <a:ext cx="10735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inside the Skill Creator skill.  Run  /skill-creator  to access it.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Use True/False Assertions</a:t>
            </a:r>
            <a:endParaRPr/>
          </a:p>
        </p:txBody>
      </p:sp>
      <p:sp>
        <p:nvSpPr>
          <p:cNvPr id="356" name="Google Shape;356;p29"/>
          <p:cNvSpPr/>
          <p:nvPr/>
        </p:nvSpPr>
        <p:spPr>
          <a:xfrm>
            <a:off x="502920" y="1554480"/>
            <a:ext cx="5212080" cy="402336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3CB4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685800" y="166420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0C864"/>
                </a:solidFill>
                <a:latin typeface="Calibri"/>
                <a:ea typeface="Calibri"/>
                <a:cs typeface="Calibri"/>
                <a:sym typeface="Calibri"/>
              </a:rPr>
              <a:t>Works  (binary assertions)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685800" y="2176272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"does not contain em dashes"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"under 300 words"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"final line is a question"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"subject line is under 72 chars"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"contains a bullet list"</a:t>
            </a:r>
            <a:endParaRPr/>
          </a:p>
        </p:txBody>
      </p:sp>
      <p:sp>
        <p:nvSpPr>
          <p:cNvPr id="359" name="Google Shape;359;p29"/>
          <p:cNvSpPr/>
          <p:nvPr/>
        </p:nvSpPr>
        <p:spPr>
          <a:xfrm>
            <a:off x="6309360" y="1554480"/>
            <a:ext cx="5212080" cy="402336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DC46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6492240" y="166420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6464"/>
                </a:solidFill>
                <a:latin typeface="Calibri"/>
                <a:ea typeface="Calibri"/>
                <a:cs typeface="Calibri"/>
                <a:sym typeface="Calibri"/>
              </a:rPr>
              <a:t>Doesn't work  (subjective)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6492240" y="2176272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"is it compelling?"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"does it sound professional?"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"is the tone right?"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"is it creative enough?"</a:t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502920" y="5669280"/>
            <a:ext cx="11064240" cy="50292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667512" y="5779008"/>
            <a:ext cx="10735056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Subjective quality still needs human judgment.  The loop handles structure, format, and constraints.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eval.json with 25 Binary Assertions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502920" y="14813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Folder structure</a:t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502920" y="1828800"/>
            <a:ext cx="4114800" cy="20116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>
            <a:off x="6858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.claude/skills/your-skill/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skill.md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reference.md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└── eval/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3A1FF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eval.json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4937760" y="1481328"/>
            <a:ext cx="6720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eval/eval.json</a:t>
            </a:r>
            <a:endParaRPr/>
          </a:p>
        </p:txBody>
      </p:sp>
      <p:sp>
        <p:nvSpPr>
          <p:cNvPr id="376" name="Google Shape;376;p30"/>
          <p:cNvSpPr/>
          <p:nvPr/>
        </p:nvSpPr>
        <p:spPr>
          <a:xfrm>
            <a:off x="4937760" y="1828800"/>
            <a:ext cx="6720840" cy="393192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5120640" y="1965960"/>
            <a:ext cx="63550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"test_cases": [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"prompt": "Write a commit message...",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    "assertions": [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"subject line is under 72 characters",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"uses imperative tense",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"starts with feat or fix",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"does not contain the word added",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"includes a body paragraph"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    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78" name="Google Shape;378;p30"/>
          <p:cNvSpPr/>
          <p:nvPr/>
        </p:nvSpPr>
        <p:spPr>
          <a:xfrm>
            <a:off x="502920" y="4069080"/>
            <a:ext cx="4114800" cy="914400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>
            <a:off x="667512" y="4178808"/>
            <a:ext cx="378561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5 test prompts × 5 assertions = 25 binary checks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1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Change Per Iteration.  Loops Until Perfect.</a:t>
            </a:r>
            <a:endParaRPr/>
          </a:p>
        </p:txBody>
      </p:sp>
      <p:sp>
        <p:nvSpPr>
          <p:cNvPr id="388" name="Google Shape;388;p31"/>
          <p:cNvSpPr/>
          <p:nvPr/>
        </p:nvSpPr>
        <p:spPr>
          <a:xfrm>
            <a:off x="502920" y="1508760"/>
            <a:ext cx="54864" cy="59436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>
            <a:off x="685800" y="1545336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Run all test prompts</a:t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502920" y="2258568"/>
            <a:ext cx="54864" cy="59436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685800" y="2295144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Check every assertion (true/false)</a:t>
            </a:r>
            <a:endParaRPr/>
          </a:p>
        </p:txBody>
      </p:sp>
      <p:sp>
        <p:nvSpPr>
          <p:cNvPr id="392" name="Google Shape;392;p31"/>
          <p:cNvSpPr/>
          <p:nvPr/>
        </p:nvSpPr>
        <p:spPr>
          <a:xfrm>
            <a:off x="502920" y="3008376"/>
            <a:ext cx="54864" cy="59436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 txBox="1"/>
          <p:nvPr/>
        </p:nvSpPr>
        <p:spPr>
          <a:xfrm>
            <a:off x="685800" y="3044952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Score = passing / total</a:t>
            </a: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502920" y="3758183"/>
            <a:ext cx="54864" cy="594360"/>
          </a:xfrm>
          <a:prstGeom prst="rect">
            <a:avLst/>
          </a:prstGeom>
          <a:solidFill>
            <a:srgbClr val="64C8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 txBox="1"/>
          <p:nvPr/>
        </p:nvSpPr>
        <p:spPr>
          <a:xfrm>
            <a:off x="685800" y="3794759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C864"/>
                </a:solidFill>
                <a:latin typeface="Calibri"/>
                <a:ea typeface="Calibri"/>
                <a:cs typeface="Calibri"/>
                <a:sym typeface="Calibri"/>
              </a:rPr>
              <a:t>Improved? → git commit  (keep)</a:t>
            </a:r>
            <a:br>
              <a:rPr b="0" i="0" lang="en-US" sz="1500" u="none" cap="none" strike="noStrike">
                <a:solidFill>
                  <a:srgbClr val="64C8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C864"/>
                </a:solidFill>
                <a:latin typeface="Calibri"/>
                <a:ea typeface="Calibri"/>
                <a:cs typeface="Calibri"/>
                <a:sym typeface="Calibri"/>
              </a:rPr>
              <a:t>Dropped? → git reset  (roll back)</a:t>
            </a:r>
            <a:endParaRPr/>
          </a:p>
        </p:txBody>
      </p:sp>
      <p:sp>
        <p:nvSpPr>
          <p:cNvPr id="396" name="Google Shape;396;p31"/>
          <p:cNvSpPr/>
          <p:nvPr/>
        </p:nvSpPr>
        <p:spPr>
          <a:xfrm>
            <a:off x="502920" y="4507992"/>
            <a:ext cx="54864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 txBox="1"/>
          <p:nvPr/>
        </p:nvSpPr>
        <p:spPr>
          <a:xfrm>
            <a:off x="685800" y="4544568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 ONE change to skill.md</a:t>
            </a:r>
            <a:endParaRPr/>
          </a:p>
        </p:txBody>
      </p:sp>
      <p:sp>
        <p:nvSpPr>
          <p:cNvPr id="398" name="Google Shape;398;p31"/>
          <p:cNvSpPr/>
          <p:nvPr/>
        </p:nvSpPr>
        <p:spPr>
          <a:xfrm>
            <a:off x="502920" y="5257800"/>
            <a:ext cx="54864" cy="594360"/>
          </a:xfrm>
          <a:prstGeom prst="rect">
            <a:avLst/>
          </a:prstGeom>
          <a:solidFill>
            <a:srgbClr val="63A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 txBox="1"/>
          <p:nvPr/>
        </p:nvSpPr>
        <p:spPr>
          <a:xfrm>
            <a:off x="685800" y="5294376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Loop →</a:t>
            </a:r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6400800" y="148132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Prompt to use:</a:t>
            </a:r>
            <a:endParaRPr/>
          </a:p>
        </p:txBody>
      </p:sp>
      <p:sp>
        <p:nvSpPr>
          <p:cNvPr id="401" name="Google Shape;401;p31"/>
          <p:cNvSpPr/>
          <p:nvPr/>
        </p:nvSpPr>
        <p:spPr>
          <a:xfrm>
            <a:off x="6400800" y="1874519"/>
            <a:ext cx="5349240" cy="20116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 txBox="1"/>
          <p:nvPr/>
        </p:nvSpPr>
        <p:spPr>
          <a:xfrm>
            <a:off x="6583680" y="2011679"/>
            <a:ext cx="4983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"Run the self-improvement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loop on my X skill.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Use eval/eval.json.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Keep looping until perfect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score or I stop you."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 Yes.  Tone No.</a:t>
            </a:r>
            <a:endParaRPr/>
          </a:p>
        </p:txBody>
      </p:sp>
      <p:graphicFrame>
        <p:nvGraphicFramePr>
          <p:cNvPr id="411" name="Google Shape;411;p32"/>
          <p:cNvGraphicFramePr/>
          <p:nvPr/>
        </p:nvGraphicFramePr>
        <p:xfrm>
          <a:off x="5029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{3D6F2B37-CD26-4FBB-85FB-D75CC8AB24EF}</a:tableStyleId>
              </a:tblPr>
              <a:tblGrid>
                <a:gridCol w="5349250"/>
                <a:gridCol w="53492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Fix  (structural)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 Fix  (human judgment)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6EF6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formatting rules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Tone of voice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Forbidden patterns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Creative quality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 count violations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reference files are used well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Structural requirements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 feel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8213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Contradictions between files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Strategic judgment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83A"/>
                    </a:solidFill>
                  </a:tcPr>
                </a:tc>
              </a:tr>
            </a:tbl>
          </a:graphicData>
        </a:graphic>
      </p:graphicFrame>
      <p:sp>
        <p:nvSpPr>
          <p:cNvPr id="412" name="Google Shape;412;p32"/>
          <p:cNvSpPr/>
          <p:nvPr/>
        </p:nvSpPr>
        <p:spPr>
          <a:xfrm>
            <a:off x="502920" y="5166360"/>
            <a:ext cx="11064240" cy="96012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50C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2"/>
          <p:cNvSpPr txBox="1"/>
          <p:nvPr/>
        </p:nvSpPr>
        <p:spPr>
          <a:xfrm>
            <a:off x="667512" y="5276088"/>
            <a:ext cx="1073505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Real example: Marketing skill at v5 scored 23/24 (95.8%).  Failing assertion: "end with a question."</a:t>
            </a:r>
            <a:b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Rule was in tone-of-voice.md but not skill.md — contradiction.  Loop added it.  Next run: 100%.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Blank File to Reliable Skill</a:t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365760" y="1508760"/>
            <a:ext cx="2697480" cy="10972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365760" y="1618488"/>
            <a:ext cx="2697480" cy="397763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502920" y="166420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br>
              <a:rPr b="1" i="0" lang="en-US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/>
          </a:p>
        </p:txBody>
      </p:sp>
      <p:sp>
        <p:nvSpPr>
          <p:cNvPr id="425" name="Google Shape;425;p33"/>
          <p:cNvSpPr/>
          <p:nvPr/>
        </p:nvSpPr>
        <p:spPr>
          <a:xfrm>
            <a:off x="502920" y="2322576"/>
            <a:ext cx="2423160" cy="27432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 txBox="1"/>
          <p:nvPr/>
        </p:nvSpPr>
        <p:spPr>
          <a:xfrm>
            <a:off x="475488" y="2395728"/>
            <a:ext cx="2496312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Use the six-step framework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Write skill.md + reference files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Run manually 5–10 times, give feedback</a:t>
            </a: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3291840" y="1508760"/>
            <a:ext cx="2697480" cy="109728"/>
          </a:xfrm>
          <a:prstGeom prst="rect">
            <a:avLst/>
          </a:prstGeom>
          <a:solidFill>
            <a:srgbClr val="50A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3291840" y="1618488"/>
            <a:ext cx="2697480" cy="397763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3429000" y="166420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Week 1–2</a:t>
            </a:r>
            <a:br>
              <a:rPr b="1" i="0" lang="en-US" sz="14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/>
          </a:p>
        </p:txBody>
      </p:sp>
      <p:sp>
        <p:nvSpPr>
          <p:cNvPr id="430" name="Google Shape;430;p33"/>
          <p:cNvSpPr/>
          <p:nvPr/>
        </p:nvSpPr>
        <p:spPr>
          <a:xfrm>
            <a:off x="3429000" y="2322576"/>
            <a:ext cx="2423160" cy="27432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 txBox="1"/>
          <p:nvPr/>
        </p:nvSpPr>
        <p:spPr>
          <a:xfrm>
            <a:off x="3401568" y="2395728"/>
            <a:ext cx="2496312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Run the built-in description improvement loop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Verify skill is triggering correctly</a:t>
            </a:r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6217920" y="1508760"/>
            <a:ext cx="2697480" cy="109728"/>
          </a:xfrm>
          <a:prstGeom prst="rect">
            <a:avLst/>
          </a:prstGeom>
          <a:solidFill>
            <a:srgbClr val="50C8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6217920" y="1618488"/>
            <a:ext cx="2697480" cy="397763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 txBox="1"/>
          <p:nvPr/>
        </p:nvSpPr>
        <p:spPr>
          <a:xfrm>
            <a:off x="6355080" y="166420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br>
              <a:rPr b="1" i="0" lang="en-US" sz="14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/>
          </a:p>
        </p:txBody>
      </p:sp>
      <p:sp>
        <p:nvSpPr>
          <p:cNvPr id="435" name="Google Shape;435;p33"/>
          <p:cNvSpPr/>
          <p:nvPr/>
        </p:nvSpPr>
        <p:spPr>
          <a:xfrm>
            <a:off x="6355080" y="2322576"/>
            <a:ext cx="2423160" cy="27432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 txBox="1"/>
          <p:nvPr/>
        </p:nvSpPr>
        <p:spPr>
          <a:xfrm>
            <a:off x="6327648" y="2395728"/>
            <a:ext cx="2496312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Write eval.json with 25 binary assertions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Start overnight loop: 'keep going until perfect score'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Review git log in the morning</a:t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9144000" y="1508760"/>
            <a:ext cx="2697480" cy="109728"/>
          </a:xfrm>
          <a:prstGeom prst="rect">
            <a:avLst/>
          </a:prstGeom>
          <a:solidFill>
            <a:srgbClr val="DCA0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9144000" y="1618488"/>
            <a:ext cx="2697480" cy="397763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 txBox="1"/>
          <p:nvPr/>
        </p:nvSpPr>
        <p:spPr>
          <a:xfrm>
            <a:off x="9281160" y="166420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br>
              <a:rPr b="1" i="0" lang="en-US" sz="14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9281160" y="2322576"/>
            <a:ext cx="2423160" cy="27432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9253728" y="2395728"/>
            <a:ext cx="2496312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Check for tone/creativity gaps (won't auto-fix)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Add new assertions as edge cases emerge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"/>
          <p:cNvSpPr/>
          <p:nvPr/>
        </p:nvSpPr>
        <p:spPr>
          <a:xfrm>
            <a:off x="502920" y="109728"/>
            <a:ext cx="164592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Things to Remember</a:t>
            </a: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502920" y="1581912"/>
            <a:ext cx="502920" cy="56692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502920" y="1563624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2" name="Google Shape;452;p34"/>
          <p:cNvSpPr txBox="1"/>
          <p:nvPr/>
        </p:nvSpPr>
        <p:spPr>
          <a:xfrm>
            <a:off x="1188720" y="1563624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YAML description is everything</a:t>
            </a:r>
            <a:endParaRPr/>
          </a:p>
        </p:txBody>
      </p:sp>
      <p:sp>
        <p:nvSpPr>
          <p:cNvPr id="453" name="Google Shape;453;p34"/>
          <p:cNvSpPr txBox="1"/>
          <p:nvPr/>
        </p:nvSpPr>
        <p:spPr>
          <a:xfrm>
            <a:off x="5120640" y="1563624"/>
            <a:ext cx="6492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It controls whether the skill fires at all</a:t>
            </a:r>
            <a:endParaRPr/>
          </a:p>
        </p:txBody>
      </p:sp>
      <p:sp>
        <p:nvSpPr>
          <p:cNvPr id="454" name="Google Shape;454;p34"/>
          <p:cNvSpPr/>
          <p:nvPr/>
        </p:nvSpPr>
        <p:spPr>
          <a:xfrm>
            <a:off x="502920" y="2478024"/>
            <a:ext cx="502920" cy="56692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502920" y="2459736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6" name="Google Shape;456;p34"/>
          <p:cNvSpPr txBox="1"/>
          <p:nvPr/>
        </p:nvSpPr>
        <p:spPr>
          <a:xfrm>
            <a:off x="1188720" y="2459736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change per loop iteration</a:t>
            </a:r>
            <a:endParaRPr/>
          </a:p>
        </p:txBody>
      </p:sp>
      <p:sp>
        <p:nvSpPr>
          <p:cNvPr id="457" name="Google Shape;457;p34"/>
          <p:cNvSpPr txBox="1"/>
          <p:nvPr/>
        </p:nvSpPr>
        <p:spPr>
          <a:xfrm>
            <a:off x="5120640" y="2459736"/>
            <a:ext cx="6492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Keeps rollbacks clean and measurable</a:t>
            </a:r>
            <a:endParaRPr/>
          </a:p>
        </p:txBody>
      </p:sp>
      <p:sp>
        <p:nvSpPr>
          <p:cNvPr id="458" name="Google Shape;458;p34"/>
          <p:cNvSpPr/>
          <p:nvPr/>
        </p:nvSpPr>
        <p:spPr>
          <a:xfrm>
            <a:off x="502920" y="3374136"/>
            <a:ext cx="502920" cy="56692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502920" y="3355848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60" name="Google Shape;460;p34"/>
          <p:cNvSpPr txBox="1"/>
          <p:nvPr/>
        </p:nvSpPr>
        <p:spPr>
          <a:xfrm>
            <a:off x="1188720" y="335584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Binary assertions only</a:t>
            </a:r>
            <a:endParaRPr/>
          </a:p>
        </p:txBody>
      </p:sp>
      <p:sp>
        <p:nvSpPr>
          <p:cNvPr id="461" name="Google Shape;461;p34"/>
          <p:cNvSpPr txBox="1"/>
          <p:nvPr/>
        </p:nvSpPr>
        <p:spPr>
          <a:xfrm>
            <a:off x="5120640" y="3355848"/>
            <a:ext cx="6492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Subjective scoring breaks automation</a:t>
            </a:r>
            <a:endParaRPr/>
          </a:p>
        </p:txBody>
      </p:sp>
      <p:sp>
        <p:nvSpPr>
          <p:cNvPr id="462" name="Google Shape;462;p34"/>
          <p:cNvSpPr/>
          <p:nvPr/>
        </p:nvSpPr>
        <p:spPr>
          <a:xfrm>
            <a:off x="502920" y="4270248"/>
            <a:ext cx="502920" cy="56692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4"/>
          <p:cNvSpPr txBox="1"/>
          <p:nvPr/>
        </p:nvSpPr>
        <p:spPr>
          <a:xfrm>
            <a:off x="502920" y="425196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64" name="Google Shape;464;p34"/>
          <p:cNvSpPr txBox="1"/>
          <p:nvPr/>
        </p:nvSpPr>
        <p:spPr>
          <a:xfrm>
            <a:off x="1188720" y="42519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compound</a:t>
            </a:r>
            <a:endParaRPr/>
          </a:p>
        </p:txBody>
      </p:sp>
      <p:sp>
        <p:nvSpPr>
          <p:cNvPr id="465" name="Google Shape;465;p34"/>
          <p:cNvSpPr txBox="1"/>
          <p:nvPr/>
        </p:nvSpPr>
        <p:spPr>
          <a:xfrm>
            <a:off x="5120640" y="4251960"/>
            <a:ext cx="6492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Skills can call other skills in parallel</a:t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>
            <a:off x="502920" y="5166360"/>
            <a:ext cx="502920" cy="56692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 txBox="1"/>
          <p:nvPr/>
        </p:nvSpPr>
        <p:spPr>
          <a:xfrm>
            <a:off x="502920" y="5148072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1188720" y="514807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Watch the first few runs</a:t>
            </a:r>
            <a:endParaRPr/>
          </a:p>
        </p:txBody>
      </p:sp>
      <p:sp>
        <p:nvSpPr>
          <p:cNvPr id="469" name="Google Shape;469;p34"/>
          <p:cNvSpPr txBox="1"/>
          <p:nvPr/>
        </p:nvSpPr>
        <p:spPr>
          <a:xfrm>
            <a:off x="5120640" y="5148072"/>
            <a:ext cx="6492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Spot token waste before automating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"/>
          <p:cNvSpPr/>
          <p:nvPr/>
        </p:nvSpPr>
        <p:spPr>
          <a:xfrm>
            <a:off x="502920" y="109728"/>
            <a:ext cx="3200400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502920" y="65471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Based on official Anthropic docs + community tutorials</a:t>
            </a:r>
            <a:endParaRPr/>
          </a:p>
        </p:txBody>
      </p:sp>
      <p:sp>
        <p:nvSpPr>
          <p:cNvPr id="477" name="Google Shape;477;p35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</a:t>
            </a:r>
            <a:endParaRPr/>
          </a:p>
        </p:txBody>
      </p:sp>
      <p:sp>
        <p:nvSpPr>
          <p:cNvPr id="478" name="Google Shape;478;p35"/>
          <p:cNvSpPr/>
          <p:nvPr/>
        </p:nvSpPr>
        <p:spPr>
          <a:xfrm>
            <a:off x="365760" y="1051560"/>
            <a:ext cx="5577840" cy="9144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365760" y="1143000"/>
            <a:ext cx="5577840" cy="233172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5"/>
          <p:cNvSpPr txBox="1"/>
          <p:nvPr/>
        </p:nvSpPr>
        <p:spPr>
          <a:xfrm>
            <a:off x="502920" y="123444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Build a skill</a:t>
            </a:r>
            <a:endParaRPr/>
          </a:p>
        </p:txBody>
      </p:sp>
      <p:sp>
        <p:nvSpPr>
          <p:cNvPr id="481" name="Google Shape;481;p35"/>
          <p:cNvSpPr txBox="1"/>
          <p:nvPr/>
        </p:nvSpPr>
        <p:spPr>
          <a:xfrm>
            <a:off x="502920" y="1673352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mkdir .claude/skills/my-skill &amp;&amp; touch skill.md</a:t>
            </a:r>
            <a:b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Add YAML front matter + six-step framework</a:t>
            </a:r>
            <a:endParaRPr/>
          </a:p>
        </p:txBody>
      </p:sp>
      <p:sp>
        <p:nvSpPr>
          <p:cNvPr id="482" name="Google Shape;482;p35"/>
          <p:cNvSpPr/>
          <p:nvPr/>
        </p:nvSpPr>
        <p:spPr>
          <a:xfrm>
            <a:off x="6217920" y="1051560"/>
            <a:ext cx="5577840" cy="91440"/>
          </a:xfrm>
          <a:prstGeom prst="rect">
            <a:avLst/>
          </a:prstGeom>
          <a:solidFill>
            <a:srgbClr val="50A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6217920" y="1143000"/>
            <a:ext cx="5577840" cy="233172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5"/>
          <p:cNvSpPr txBox="1"/>
          <p:nvPr/>
        </p:nvSpPr>
        <p:spPr>
          <a:xfrm>
            <a:off x="6355080" y="123444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Fix triggering</a:t>
            </a:r>
            <a:endParaRPr/>
          </a:p>
        </p:txBody>
      </p:sp>
      <p:sp>
        <p:nvSpPr>
          <p:cNvPr id="485" name="Google Shape;485;p35"/>
          <p:cNvSpPr txBox="1"/>
          <p:nvPr/>
        </p:nvSpPr>
        <p:spPr>
          <a:xfrm>
            <a:off x="6355080" y="1673352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/skill-creator → built-in description loop</a:t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365760" y="3611879"/>
            <a:ext cx="5577840" cy="91440"/>
          </a:xfrm>
          <a:prstGeom prst="rect">
            <a:avLst/>
          </a:prstGeom>
          <a:solidFill>
            <a:srgbClr val="50C8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365760" y="3703319"/>
            <a:ext cx="5577840" cy="233172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5"/>
          <p:cNvSpPr txBox="1"/>
          <p:nvPr/>
        </p:nvSpPr>
        <p:spPr>
          <a:xfrm>
            <a:off x="502920" y="3794759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Fix output quality</a:t>
            </a:r>
            <a:endParaRPr/>
          </a:p>
        </p:txBody>
      </p:sp>
      <p:sp>
        <p:nvSpPr>
          <p:cNvPr id="489" name="Google Shape;489;p35"/>
          <p:cNvSpPr txBox="1"/>
          <p:nvPr/>
        </p:nvSpPr>
        <p:spPr>
          <a:xfrm>
            <a:off x="502920" y="4233671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Create eval/eval.json with 25 binary assertions</a:t>
            </a:r>
            <a:b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"Run self-improvement loop, use eval.json, keep going until perfect"</a:t>
            </a:r>
            <a:endParaRPr/>
          </a:p>
        </p:txBody>
      </p:sp>
      <p:sp>
        <p:nvSpPr>
          <p:cNvPr id="490" name="Google Shape;490;p35"/>
          <p:cNvSpPr/>
          <p:nvPr/>
        </p:nvSpPr>
        <p:spPr>
          <a:xfrm>
            <a:off x="6217920" y="3611879"/>
            <a:ext cx="5577840" cy="91440"/>
          </a:xfrm>
          <a:prstGeom prst="rect">
            <a:avLst/>
          </a:prstGeom>
          <a:solidFill>
            <a:srgbClr val="DCA0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6217920" y="3703319"/>
            <a:ext cx="5577840" cy="233172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5"/>
          <p:cNvSpPr txBox="1"/>
          <p:nvPr/>
        </p:nvSpPr>
        <p:spPr>
          <a:xfrm>
            <a:off x="6355080" y="3794759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endParaRPr/>
          </a:p>
        </p:txBody>
      </p:sp>
      <p:sp>
        <p:nvSpPr>
          <p:cNvPr id="493" name="Google Shape;493;p35"/>
          <p:cNvSpPr txBox="1"/>
          <p:nvPr/>
        </p:nvSpPr>
        <p:spPr>
          <a:xfrm>
            <a:off x="6355080" y="4233671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Not triggering? → Fix YAML description</a:t>
            </a:r>
            <a:b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Triggers too much? → disable model invocation: true</a:t>
            </a:r>
            <a:b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Wrong output? → Add rules, add reference files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