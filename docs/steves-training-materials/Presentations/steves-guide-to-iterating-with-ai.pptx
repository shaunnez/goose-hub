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 name="Google Shape;4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2D3D"/>
        </a:solidFill>
      </p:bgPr>
    </p:bg>
    <p:spTree>
      <p:nvGrpSpPr>
        <p:cNvPr id="15" name="Shape 15"/>
        <p:cNvGrpSpPr/>
        <p:nvPr/>
      </p:nvGrpSpPr>
      <p:grpSpPr>
        <a:xfrm>
          <a:off x="0" y="0"/>
          <a:ext cx="0" cy="0"/>
          <a:chOff x="0" y="0"/>
          <a:chExt cx="0" cy="0"/>
        </a:xfrm>
      </p:grpSpPr>
      <p:sp>
        <p:nvSpPr>
          <p:cNvPr id="16" name="Google Shape;16;p3"/>
          <p:cNvSpPr/>
          <p:nvPr/>
        </p:nvSpPr>
        <p:spPr>
          <a:xfrm>
            <a:off x="0" y="0"/>
            <a:ext cx="9144000" cy="36576"/>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685800" y="1097280"/>
            <a:ext cx="7772400" cy="146304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FFFFFF"/>
              </a:buClr>
              <a:buSzPts val="3800"/>
              <a:buFont typeface="Georgia"/>
              <a:buNone/>
            </a:pPr>
            <a:r>
              <a:rPr b="1" i="0" lang="en-US" sz="3800" u="none" cap="none" strike="noStrike">
                <a:solidFill>
                  <a:srgbClr val="FFFFFF"/>
                </a:solidFill>
                <a:latin typeface="Georgia"/>
                <a:ea typeface="Georgia"/>
                <a:cs typeface="Georgia"/>
                <a:sym typeface="Georgia"/>
              </a:rPr>
              <a:t>Steve's Guide to</a:t>
            </a:r>
            <a:endParaRPr b="0" i="0" sz="38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3800"/>
              <a:buFont typeface="Georgia"/>
              <a:buNone/>
            </a:pPr>
            <a:r>
              <a:rPr b="1" i="0" lang="en-US" sz="3800" u="none" cap="none" strike="noStrike">
                <a:solidFill>
                  <a:srgbClr val="FFFFFF"/>
                </a:solidFill>
                <a:latin typeface="Georgia"/>
                <a:ea typeface="Georgia"/>
                <a:cs typeface="Georgia"/>
                <a:sym typeface="Georgia"/>
              </a:rPr>
              <a:t>Iterating with AI</a:t>
            </a:r>
            <a:endParaRPr b="0" i="0" sz="3800" u="none" cap="none" strike="noStrike">
              <a:solidFill>
                <a:schemeClr val="dk1"/>
              </a:solidFill>
              <a:latin typeface="Calibri"/>
              <a:ea typeface="Calibri"/>
              <a:cs typeface="Calibri"/>
              <a:sym typeface="Calibri"/>
            </a:endParaRPr>
          </a:p>
        </p:txBody>
      </p:sp>
      <p:cxnSp>
        <p:nvCxnSpPr>
          <p:cNvPr id="18" name="Google Shape;18;p3"/>
          <p:cNvCxnSpPr/>
          <p:nvPr/>
        </p:nvCxnSpPr>
        <p:spPr>
          <a:xfrm>
            <a:off x="685800" y="2743200"/>
            <a:ext cx="1828800" cy="0"/>
          </a:xfrm>
          <a:prstGeom prst="straightConnector1">
            <a:avLst/>
          </a:prstGeom>
          <a:noFill/>
          <a:ln cap="flat" cmpd="sng" w="25400">
            <a:solidFill>
              <a:srgbClr val="136EF6"/>
            </a:solidFill>
            <a:prstDash val="solid"/>
            <a:round/>
            <a:headEnd len="sm" w="sm" type="none"/>
            <a:tailEnd len="sm" w="sm" type="none"/>
          </a:ln>
        </p:spPr>
      </p:cxnSp>
      <p:sp>
        <p:nvSpPr>
          <p:cNvPr id="19" name="Google Shape;19;p3"/>
          <p:cNvSpPr/>
          <p:nvPr/>
        </p:nvSpPr>
        <p:spPr>
          <a:xfrm>
            <a:off x="685800" y="2926080"/>
            <a:ext cx="77724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9999A8"/>
              </a:buClr>
              <a:buSzPts val="1700"/>
              <a:buFont typeface="Calibri"/>
              <a:buNone/>
            </a:pPr>
            <a:r>
              <a:rPr b="0" i="0" lang="en-US" sz="1700" u="none" cap="none" strike="noStrike">
                <a:solidFill>
                  <a:srgbClr val="9999A8"/>
                </a:solidFill>
                <a:latin typeface="Calibri"/>
                <a:ea typeface="Calibri"/>
                <a:cs typeface="Calibri"/>
                <a:sym typeface="Calibri"/>
              </a:rPr>
              <a:t>Getting Better Answers Through</a:t>
            </a:r>
            <a:endParaRPr b="0" i="0" sz="17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9999A8"/>
              </a:buClr>
              <a:buSzPts val="1700"/>
              <a:buFont typeface="Calibri"/>
              <a:buNone/>
            </a:pPr>
            <a:r>
              <a:rPr b="0" i="0" lang="en-US" sz="1700" u="none" cap="none" strike="noStrike">
                <a:solidFill>
                  <a:srgbClr val="9999A8"/>
                </a:solidFill>
                <a:latin typeface="Calibri"/>
                <a:ea typeface="Calibri"/>
                <a:cs typeface="Calibri"/>
                <a:sym typeface="Calibri"/>
              </a:rPr>
              <a:t>Conversation, Not Just Questions</a:t>
            </a:r>
            <a:endParaRPr b="0" i="0" sz="1700" u="none" cap="none" strike="noStrike">
              <a:solidFill>
                <a:schemeClr val="dk1"/>
              </a:solidFill>
              <a:latin typeface="Calibri"/>
              <a:ea typeface="Calibri"/>
              <a:cs typeface="Calibri"/>
              <a:sym typeface="Calibri"/>
            </a:endParaRPr>
          </a:p>
        </p:txBody>
      </p:sp>
      <p:sp>
        <p:nvSpPr>
          <p:cNvPr id="20" name="Google Shape;20;p3"/>
          <p:cNvSpPr/>
          <p:nvPr/>
        </p:nvSpPr>
        <p:spPr>
          <a:xfrm>
            <a:off x="685800" y="4572000"/>
            <a:ext cx="7772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100"/>
              <a:buFont typeface="Calibri"/>
              <a:buNone/>
            </a:pPr>
            <a:r>
              <a:rPr b="0" i="0" lang="en-US" sz="1100" u="none" cap="none" strike="noStrike">
                <a:solidFill>
                  <a:srgbClr val="9999A8"/>
                </a:solidFill>
                <a:latin typeface="Calibri"/>
                <a:ea typeface="Calibri"/>
                <a:cs typeface="Calibri"/>
                <a:sym typeface="Calibri"/>
              </a:rPr>
              <a:t>Shift4 Payments  |  AI Fundamentals Series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cxnSp>
        <p:nvCxnSpPr>
          <p:cNvPr id="26" name="Google Shape;26;p4"/>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27" name="Google Shape;27;p4"/>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28" name="Google Shape;28;p4"/>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29" name="Google Shape;29;p4"/>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US" sz="2000" u="none" cap="none" strike="noStrike">
                <a:solidFill>
                  <a:srgbClr val="2D2D3D"/>
                </a:solidFill>
                <a:latin typeface="Calibri"/>
                <a:ea typeface="Calibri"/>
                <a:cs typeface="Calibri"/>
                <a:sym typeface="Calibri"/>
              </a:rPr>
              <a:t>AI is a conversation, not a search engine</a:t>
            </a:r>
            <a:endParaRPr b="0" i="0" sz="2000" u="none" cap="none" strike="noStrike">
              <a:solidFill>
                <a:schemeClr val="dk1"/>
              </a:solidFill>
              <a:latin typeface="Calibri"/>
              <a:ea typeface="Calibri"/>
              <a:cs typeface="Calibri"/>
              <a:sym typeface="Calibri"/>
            </a:endParaRPr>
          </a:p>
        </p:txBody>
      </p:sp>
      <p:cxnSp>
        <p:nvCxnSpPr>
          <p:cNvPr id="30" name="Google Shape;30;p4"/>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31" name="Google Shape;31;p4"/>
          <p:cNvSpPr/>
          <p:nvPr/>
        </p:nvSpPr>
        <p:spPr>
          <a:xfrm>
            <a:off x="685800" y="1097280"/>
            <a:ext cx="502920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45000"/>
              </a:lnSpc>
              <a:spcBef>
                <a:spcPts val="0"/>
              </a:spcBef>
              <a:spcAft>
                <a:spcPts val="0"/>
              </a:spcAft>
              <a:buClr>
                <a:srgbClr val="3A3A4A"/>
              </a:buClr>
              <a:buSzPts val="1400"/>
              <a:buFont typeface="Calibri"/>
              <a:buNone/>
            </a:pPr>
            <a:r>
              <a:rPr b="0" i="0" lang="en-US" sz="1400" u="none" cap="none" strike="noStrike">
                <a:solidFill>
                  <a:srgbClr val="3A3A4A"/>
                </a:solidFill>
                <a:latin typeface="Calibri"/>
                <a:ea typeface="Calibri"/>
                <a:cs typeface="Calibri"/>
                <a:sym typeface="Calibri"/>
              </a:rPr>
              <a:t>We learned to Google things: one question, one answer, move on. AI works differently. The first answer is almost never the best answer — it's a starting point for a conversation.</a:t>
            </a:r>
            <a:endParaRPr b="0" i="0" sz="1400" u="none" cap="none" strike="noStrike">
              <a:solidFill>
                <a:schemeClr val="dk1"/>
              </a:solidFill>
              <a:latin typeface="Calibri"/>
              <a:ea typeface="Calibri"/>
              <a:cs typeface="Calibri"/>
              <a:sym typeface="Calibri"/>
            </a:endParaRPr>
          </a:p>
        </p:txBody>
      </p:sp>
      <p:sp>
        <p:nvSpPr>
          <p:cNvPr id="32" name="Google Shape;32;p4"/>
          <p:cNvSpPr/>
          <p:nvPr/>
        </p:nvSpPr>
        <p:spPr>
          <a:xfrm>
            <a:off x="685800" y="2103120"/>
            <a:ext cx="502920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45000"/>
              </a:lnSpc>
              <a:spcBef>
                <a:spcPts val="0"/>
              </a:spcBef>
              <a:spcAft>
                <a:spcPts val="0"/>
              </a:spcAft>
              <a:buClr>
                <a:srgbClr val="3A3A4A"/>
              </a:buClr>
              <a:buSzPts val="1400"/>
              <a:buFont typeface="Calibri"/>
              <a:buNone/>
            </a:pPr>
            <a:r>
              <a:rPr b="0" i="0" lang="en-US" sz="1400" u="none" cap="none" strike="noStrike">
                <a:solidFill>
                  <a:srgbClr val="3A3A4A"/>
                </a:solidFill>
                <a:latin typeface="Calibri"/>
                <a:ea typeface="Calibri"/>
                <a:cs typeface="Calibri"/>
                <a:sym typeface="Calibri"/>
              </a:rPr>
              <a:t>The people who get the most value don't write better first prompts. They iterate better. They ask, read, push back, and refine — just like working through an idea with a colleague.</a:t>
            </a:r>
            <a:endParaRPr b="0" i="0" sz="1400" u="none" cap="none" strike="noStrike">
              <a:solidFill>
                <a:schemeClr val="dk1"/>
              </a:solidFill>
              <a:latin typeface="Calibri"/>
              <a:ea typeface="Calibri"/>
              <a:cs typeface="Calibri"/>
              <a:sym typeface="Calibri"/>
            </a:endParaRPr>
          </a:p>
        </p:txBody>
      </p:sp>
      <p:sp>
        <p:nvSpPr>
          <p:cNvPr id="33" name="Google Shape;33;p4"/>
          <p:cNvSpPr/>
          <p:nvPr/>
        </p:nvSpPr>
        <p:spPr>
          <a:xfrm>
            <a:off x="6217920" y="1097280"/>
            <a:ext cx="2468880" cy="192024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6217920" y="1097280"/>
            <a:ext cx="2468880" cy="36576"/>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6400800" y="1280160"/>
            <a:ext cx="21031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100"/>
              <a:buFont typeface="Calibri"/>
              <a:buNone/>
            </a:pPr>
            <a:r>
              <a:rPr b="1" i="0" lang="en-US" sz="1100" u="none" cap="none" strike="noStrike">
                <a:solidFill>
                  <a:srgbClr val="136EF6"/>
                </a:solidFill>
                <a:latin typeface="Calibri"/>
                <a:ea typeface="Calibri"/>
                <a:cs typeface="Calibri"/>
                <a:sym typeface="Calibri"/>
              </a:rPr>
              <a:t>Today's session</a:t>
            </a:r>
            <a:endParaRPr b="0" i="0" sz="1100" u="none" cap="none" strike="noStrike">
              <a:solidFill>
                <a:schemeClr val="dk1"/>
              </a:solidFill>
              <a:latin typeface="Calibri"/>
              <a:ea typeface="Calibri"/>
              <a:cs typeface="Calibri"/>
              <a:sym typeface="Calibri"/>
            </a:endParaRPr>
          </a:p>
        </p:txBody>
      </p:sp>
      <p:sp>
        <p:nvSpPr>
          <p:cNvPr id="36" name="Google Shape;36;p4"/>
          <p:cNvSpPr/>
          <p:nvPr/>
        </p:nvSpPr>
        <p:spPr>
          <a:xfrm>
            <a:off x="6400800" y="1600200"/>
            <a:ext cx="2103120" cy="10972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A3A4A"/>
              </a:buClr>
              <a:buSzPts val="1100"/>
              <a:buFont typeface="Calibri"/>
              <a:buChar char="•"/>
            </a:pPr>
            <a:r>
              <a:rPr b="0" i="0" lang="en-US" sz="1100" u="none" cap="none" strike="noStrike">
                <a:solidFill>
                  <a:srgbClr val="3A3A4A"/>
                </a:solidFill>
                <a:latin typeface="Calibri"/>
                <a:ea typeface="Calibri"/>
                <a:cs typeface="Calibri"/>
                <a:sym typeface="Calibri"/>
              </a:rPr>
              <a:t>How to think in iterations</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A3A4A"/>
              </a:buClr>
              <a:buSzPts val="1100"/>
              <a:buFont typeface="Calibri"/>
              <a:buChar char="•"/>
            </a:pPr>
            <a:r>
              <a:rPr b="0" i="0" lang="en-US" sz="1100" u="none" cap="none" strike="noStrike">
                <a:solidFill>
                  <a:srgbClr val="3A3A4A"/>
                </a:solidFill>
                <a:latin typeface="Calibri"/>
                <a:ea typeface="Calibri"/>
                <a:cs typeface="Calibri"/>
                <a:sym typeface="Calibri"/>
              </a:rPr>
              <a:t>How to judge AI output quality</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A3A4A"/>
              </a:buClr>
              <a:buSzPts val="1100"/>
              <a:buFont typeface="Calibri"/>
              <a:buChar char="•"/>
            </a:pPr>
            <a:r>
              <a:rPr b="0" i="0" lang="en-US" sz="1100" u="none" cap="none" strike="noStrike">
                <a:solidFill>
                  <a:srgbClr val="3A3A4A"/>
                </a:solidFill>
                <a:latin typeface="Calibri"/>
                <a:ea typeface="Calibri"/>
                <a:cs typeface="Calibri"/>
                <a:sym typeface="Calibri"/>
              </a:rPr>
              <a:t>How to stay in the driver's seat</a:t>
            </a:r>
            <a:endParaRPr b="0" i="0" sz="1100" u="none" cap="none" strike="noStrike">
              <a:solidFill>
                <a:schemeClr val="dk1"/>
              </a:solidFill>
              <a:latin typeface="Calibri"/>
              <a:ea typeface="Calibri"/>
              <a:cs typeface="Calibri"/>
              <a:sym typeface="Calibri"/>
            </a:endParaRPr>
          </a:p>
        </p:txBody>
      </p:sp>
      <p:sp>
        <p:nvSpPr>
          <p:cNvPr id="37" name="Google Shape;37;p4"/>
          <p:cNvSpPr/>
          <p:nvPr/>
        </p:nvSpPr>
        <p:spPr>
          <a:xfrm>
            <a:off x="685800" y="3474720"/>
            <a:ext cx="7772400" cy="64008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685800" y="3474720"/>
            <a:ext cx="41148" cy="64008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868680" y="3566160"/>
            <a:ext cx="7452360" cy="45720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3D"/>
              </a:buClr>
              <a:buSzPts val="1400"/>
              <a:buFont typeface="Calibri"/>
              <a:buNone/>
            </a:pPr>
            <a:r>
              <a:rPr b="0" i="0" lang="en-US" sz="1400" u="none" cap="none" strike="noStrike">
                <a:solidFill>
                  <a:srgbClr val="2D2D3D"/>
                </a:solidFill>
                <a:latin typeface="Calibri"/>
                <a:ea typeface="Calibri"/>
                <a:cs typeface="Calibri"/>
                <a:sym typeface="Calibri"/>
              </a:rPr>
              <a:t>The best AI users aren't the ones who write perfect prompts. They're the ones who iterate well.</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cxnSp>
        <p:nvCxnSpPr>
          <p:cNvPr id="45" name="Google Shape;45;p5"/>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46" name="Google Shape;46;p5"/>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47" name="Google Shape;47;p5"/>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48" name="Google Shape;48;p5"/>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US" sz="2000" u="none" cap="none" strike="noStrike">
                <a:solidFill>
                  <a:srgbClr val="2D2D3D"/>
                </a:solidFill>
                <a:latin typeface="Calibri"/>
                <a:ea typeface="Calibri"/>
                <a:cs typeface="Calibri"/>
                <a:sym typeface="Calibri"/>
              </a:rPr>
              <a:t>Iteration thinking produces dramatically better output</a:t>
            </a:r>
            <a:endParaRPr b="0" i="0" sz="2000" u="none" cap="none" strike="noStrike">
              <a:solidFill>
                <a:schemeClr val="dk1"/>
              </a:solidFill>
              <a:latin typeface="Calibri"/>
              <a:ea typeface="Calibri"/>
              <a:cs typeface="Calibri"/>
              <a:sym typeface="Calibri"/>
            </a:endParaRPr>
          </a:p>
        </p:txBody>
      </p:sp>
      <p:cxnSp>
        <p:nvCxnSpPr>
          <p:cNvPr id="49" name="Google Shape;49;p5"/>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50" name="Google Shape;50;p5"/>
          <p:cNvSpPr/>
          <p:nvPr/>
        </p:nvSpPr>
        <p:spPr>
          <a:xfrm>
            <a:off x="685800" y="1143000"/>
            <a:ext cx="34747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300"/>
              <a:buFont typeface="Calibri"/>
              <a:buNone/>
            </a:pPr>
            <a:r>
              <a:rPr b="1" i="0" lang="en-US" sz="1300" u="none" cap="none" strike="noStrike">
                <a:solidFill>
                  <a:srgbClr val="9999A8"/>
                </a:solidFill>
                <a:latin typeface="Calibri"/>
                <a:ea typeface="Calibri"/>
                <a:cs typeface="Calibri"/>
                <a:sym typeface="Calibri"/>
              </a:rPr>
              <a:t>One-Turn Thinking</a:t>
            </a:r>
            <a:endParaRPr b="0" i="0" sz="1300" u="none" cap="none" strike="noStrike">
              <a:solidFill>
                <a:schemeClr val="dk1"/>
              </a:solidFill>
              <a:latin typeface="Calibri"/>
              <a:ea typeface="Calibri"/>
              <a:cs typeface="Calibri"/>
              <a:sym typeface="Calibri"/>
            </a:endParaRPr>
          </a:p>
        </p:txBody>
      </p:sp>
      <p:sp>
        <p:nvSpPr>
          <p:cNvPr id="51" name="Google Shape;51;p5"/>
          <p:cNvSpPr/>
          <p:nvPr/>
        </p:nvSpPr>
        <p:spPr>
          <a:xfrm>
            <a:off x="4572000" y="1143000"/>
            <a:ext cx="3657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300"/>
              <a:buFont typeface="Calibri"/>
              <a:buNone/>
            </a:pPr>
            <a:r>
              <a:rPr b="1" i="0" lang="en-US" sz="1300" u="none" cap="none" strike="noStrike">
                <a:solidFill>
                  <a:srgbClr val="136EF6"/>
                </a:solidFill>
                <a:latin typeface="Calibri"/>
                <a:ea typeface="Calibri"/>
                <a:cs typeface="Calibri"/>
                <a:sym typeface="Calibri"/>
              </a:rPr>
              <a:t>Iteration Thinking</a:t>
            </a:r>
            <a:endParaRPr b="0" i="0" sz="1300" u="none" cap="none" strike="noStrike">
              <a:solidFill>
                <a:schemeClr val="dk1"/>
              </a:solidFill>
              <a:latin typeface="Calibri"/>
              <a:ea typeface="Calibri"/>
              <a:cs typeface="Calibri"/>
              <a:sym typeface="Calibri"/>
            </a:endParaRPr>
          </a:p>
        </p:txBody>
      </p:sp>
      <p:cxnSp>
        <p:nvCxnSpPr>
          <p:cNvPr id="52" name="Google Shape;52;p5"/>
          <p:cNvCxnSpPr/>
          <p:nvPr/>
        </p:nvCxnSpPr>
        <p:spPr>
          <a:xfrm>
            <a:off x="685800" y="1463040"/>
            <a:ext cx="7772400" cy="0"/>
          </a:xfrm>
          <a:prstGeom prst="straightConnector1">
            <a:avLst/>
          </a:prstGeom>
          <a:noFill/>
          <a:ln cap="flat" cmpd="sng" w="9525">
            <a:solidFill>
              <a:srgbClr val="D0D0DA"/>
            </a:solidFill>
            <a:prstDash val="solid"/>
            <a:round/>
            <a:headEnd len="sm" w="sm" type="none"/>
            <a:tailEnd len="sm" w="sm" type="none"/>
          </a:ln>
        </p:spPr>
      </p:cxnSp>
      <p:sp>
        <p:nvSpPr>
          <p:cNvPr id="53" name="Google Shape;53;p5"/>
          <p:cNvSpPr/>
          <p:nvPr/>
        </p:nvSpPr>
        <p:spPr>
          <a:xfrm>
            <a:off x="685800" y="1600200"/>
            <a:ext cx="7772400" cy="36576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822960" y="1645920"/>
            <a:ext cx="34747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B7B"/>
              </a:buClr>
              <a:buSzPts val="1300"/>
              <a:buFont typeface="Calibri"/>
              <a:buNone/>
            </a:pPr>
            <a:r>
              <a:rPr b="0" i="0" lang="en-US" sz="1300" u="none" cap="none" strike="noStrike">
                <a:solidFill>
                  <a:srgbClr val="6B6B7B"/>
                </a:solidFill>
                <a:latin typeface="Calibri"/>
                <a:ea typeface="Calibri"/>
                <a:cs typeface="Calibri"/>
                <a:sym typeface="Calibri"/>
              </a:rPr>
              <a:t>"Give me the answer"</a:t>
            </a:r>
            <a:endParaRPr b="0" i="0" sz="1300" u="none" cap="none" strike="noStrike">
              <a:solidFill>
                <a:schemeClr val="dk1"/>
              </a:solidFill>
              <a:latin typeface="Calibri"/>
              <a:ea typeface="Calibri"/>
              <a:cs typeface="Calibri"/>
              <a:sym typeface="Calibri"/>
            </a:endParaRPr>
          </a:p>
        </p:txBody>
      </p:sp>
      <p:sp>
        <p:nvSpPr>
          <p:cNvPr id="55" name="Google Shape;55;p5"/>
          <p:cNvSpPr/>
          <p:nvPr/>
        </p:nvSpPr>
        <p:spPr>
          <a:xfrm>
            <a:off x="4572000" y="164592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300"/>
              <a:buFont typeface="Calibri"/>
              <a:buNone/>
            </a:pPr>
            <a:r>
              <a:rPr b="1" i="0" lang="en-US" sz="1300" u="none" cap="none" strike="noStrike">
                <a:solidFill>
                  <a:srgbClr val="2D2D3D"/>
                </a:solidFill>
                <a:latin typeface="Calibri"/>
                <a:ea typeface="Calibri"/>
                <a:cs typeface="Calibri"/>
                <a:sym typeface="Calibri"/>
              </a:rPr>
              <a:t>"Give me a starting point"</a:t>
            </a:r>
            <a:endParaRPr b="0" i="0" sz="1300" u="none" cap="none" strike="noStrike">
              <a:solidFill>
                <a:schemeClr val="dk1"/>
              </a:solidFill>
              <a:latin typeface="Calibri"/>
              <a:ea typeface="Calibri"/>
              <a:cs typeface="Calibri"/>
              <a:sym typeface="Calibri"/>
            </a:endParaRPr>
          </a:p>
        </p:txBody>
      </p:sp>
      <p:sp>
        <p:nvSpPr>
          <p:cNvPr id="56" name="Google Shape;56;p5"/>
          <p:cNvSpPr/>
          <p:nvPr/>
        </p:nvSpPr>
        <p:spPr>
          <a:xfrm>
            <a:off x="822960" y="2011680"/>
            <a:ext cx="34747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B7B"/>
              </a:buClr>
              <a:buSzPts val="1300"/>
              <a:buFont typeface="Calibri"/>
              <a:buNone/>
            </a:pPr>
            <a:r>
              <a:rPr b="0" i="0" lang="en-US" sz="1300" u="none" cap="none" strike="noStrike">
                <a:solidFill>
                  <a:srgbClr val="6B6B7B"/>
                </a:solidFill>
                <a:latin typeface="Calibri"/>
                <a:ea typeface="Calibri"/>
                <a:cs typeface="Calibri"/>
                <a:sym typeface="Calibri"/>
              </a:rPr>
              <a:t>Accept or reject</a:t>
            </a:r>
            <a:endParaRPr b="0" i="0" sz="1300" u="none" cap="none" strike="noStrike">
              <a:solidFill>
                <a:schemeClr val="dk1"/>
              </a:solidFill>
              <a:latin typeface="Calibri"/>
              <a:ea typeface="Calibri"/>
              <a:cs typeface="Calibri"/>
              <a:sym typeface="Calibri"/>
            </a:endParaRPr>
          </a:p>
        </p:txBody>
      </p:sp>
      <p:sp>
        <p:nvSpPr>
          <p:cNvPr id="57" name="Google Shape;57;p5"/>
          <p:cNvSpPr/>
          <p:nvPr/>
        </p:nvSpPr>
        <p:spPr>
          <a:xfrm>
            <a:off x="4572000" y="201168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300"/>
              <a:buFont typeface="Calibri"/>
              <a:buNone/>
            </a:pPr>
            <a:r>
              <a:rPr b="1" i="0" lang="en-US" sz="1300" u="none" cap="none" strike="noStrike">
                <a:solidFill>
                  <a:srgbClr val="2D2D3D"/>
                </a:solidFill>
                <a:latin typeface="Calibri"/>
                <a:ea typeface="Calibri"/>
                <a:cs typeface="Calibri"/>
                <a:sym typeface="Calibri"/>
              </a:rPr>
              <a:t>Read, react, and refine</a:t>
            </a:r>
            <a:endParaRPr b="0" i="0" sz="1300" u="none" cap="none" strike="noStrike">
              <a:solidFill>
                <a:schemeClr val="dk1"/>
              </a:solidFill>
              <a:latin typeface="Calibri"/>
              <a:ea typeface="Calibri"/>
              <a:cs typeface="Calibri"/>
              <a:sym typeface="Calibri"/>
            </a:endParaRPr>
          </a:p>
        </p:txBody>
      </p:sp>
      <p:sp>
        <p:nvSpPr>
          <p:cNvPr id="58" name="Google Shape;58;p5"/>
          <p:cNvSpPr/>
          <p:nvPr/>
        </p:nvSpPr>
        <p:spPr>
          <a:xfrm>
            <a:off x="685800" y="2331720"/>
            <a:ext cx="7772400" cy="36576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822960" y="2377440"/>
            <a:ext cx="34747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B7B"/>
              </a:buClr>
              <a:buSzPts val="1300"/>
              <a:buFont typeface="Calibri"/>
              <a:buNone/>
            </a:pPr>
            <a:r>
              <a:rPr b="0" i="0" lang="en-US" sz="1300" u="none" cap="none" strike="noStrike">
                <a:solidFill>
                  <a:srgbClr val="6B6B7B"/>
                </a:solidFill>
                <a:latin typeface="Calibri"/>
                <a:ea typeface="Calibri"/>
                <a:cs typeface="Calibri"/>
                <a:sym typeface="Calibri"/>
              </a:rPr>
              <a:t>AI does the work</a:t>
            </a:r>
            <a:endParaRPr b="0" i="0" sz="1300" u="none" cap="none" strike="noStrike">
              <a:solidFill>
                <a:schemeClr val="dk1"/>
              </a:solidFill>
              <a:latin typeface="Calibri"/>
              <a:ea typeface="Calibri"/>
              <a:cs typeface="Calibri"/>
              <a:sym typeface="Calibri"/>
            </a:endParaRPr>
          </a:p>
        </p:txBody>
      </p:sp>
      <p:sp>
        <p:nvSpPr>
          <p:cNvPr id="60" name="Google Shape;60;p5"/>
          <p:cNvSpPr/>
          <p:nvPr/>
        </p:nvSpPr>
        <p:spPr>
          <a:xfrm>
            <a:off x="4572000" y="237744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300"/>
              <a:buFont typeface="Calibri"/>
              <a:buNone/>
            </a:pPr>
            <a:r>
              <a:rPr b="1" i="0" lang="en-US" sz="1300" u="none" cap="none" strike="noStrike">
                <a:solidFill>
                  <a:srgbClr val="2D2D3D"/>
                </a:solidFill>
                <a:latin typeface="Calibri"/>
                <a:ea typeface="Calibri"/>
                <a:cs typeface="Calibri"/>
                <a:sym typeface="Calibri"/>
              </a:rPr>
              <a:t>AI drafts, you steer</a:t>
            </a:r>
            <a:endParaRPr b="0" i="0" sz="1300" u="none" cap="none" strike="noStrike">
              <a:solidFill>
                <a:schemeClr val="dk1"/>
              </a:solidFill>
              <a:latin typeface="Calibri"/>
              <a:ea typeface="Calibri"/>
              <a:cs typeface="Calibri"/>
              <a:sym typeface="Calibri"/>
            </a:endParaRPr>
          </a:p>
        </p:txBody>
      </p:sp>
      <p:sp>
        <p:nvSpPr>
          <p:cNvPr id="61" name="Google Shape;61;p5"/>
          <p:cNvSpPr/>
          <p:nvPr/>
        </p:nvSpPr>
        <p:spPr>
          <a:xfrm>
            <a:off x="822960" y="2743200"/>
            <a:ext cx="34747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B7B"/>
              </a:buClr>
              <a:buSzPts val="1300"/>
              <a:buFont typeface="Calibri"/>
              <a:buNone/>
            </a:pPr>
            <a:r>
              <a:rPr b="0" i="0" lang="en-US" sz="1300" u="none" cap="none" strike="noStrike">
                <a:solidFill>
                  <a:srgbClr val="6B6B7B"/>
                </a:solidFill>
                <a:latin typeface="Calibri"/>
                <a:ea typeface="Calibri"/>
                <a:cs typeface="Calibri"/>
                <a:sym typeface="Calibri"/>
              </a:rPr>
              <a:t>One exchange, done</a:t>
            </a:r>
            <a:endParaRPr b="0" i="0" sz="1300" u="none" cap="none" strike="noStrike">
              <a:solidFill>
                <a:schemeClr val="dk1"/>
              </a:solidFill>
              <a:latin typeface="Calibri"/>
              <a:ea typeface="Calibri"/>
              <a:cs typeface="Calibri"/>
              <a:sym typeface="Calibri"/>
            </a:endParaRPr>
          </a:p>
        </p:txBody>
      </p:sp>
      <p:sp>
        <p:nvSpPr>
          <p:cNvPr id="62" name="Google Shape;62;p5"/>
          <p:cNvSpPr/>
          <p:nvPr/>
        </p:nvSpPr>
        <p:spPr>
          <a:xfrm>
            <a:off x="4572000" y="274320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300"/>
              <a:buFont typeface="Calibri"/>
              <a:buNone/>
            </a:pPr>
            <a:r>
              <a:rPr b="1" i="0" lang="en-US" sz="1300" u="none" cap="none" strike="noStrike">
                <a:solidFill>
                  <a:srgbClr val="2D2D3D"/>
                </a:solidFill>
                <a:latin typeface="Calibri"/>
                <a:ea typeface="Calibri"/>
                <a:cs typeface="Calibri"/>
                <a:sym typeface="Calibri"/>
              </a:rPr>
              <a:t>3–5 exchanges, each better</a:t>
            </a:r>
            <a:endParaRPr b="0" i="0" sz="1300" u="none" cap="none" strike="noStrike">
              <a:solidFill>
                <a:schemeClr val="dk1"/>
              </a:solidFill>
              <a:latin typeface="Calibri"/>
              <a:ea typeface="Calibri"/>
              <a:cs typeface="Calibri"/>
              <a:sym typeface="Calibri"/>
            </a:endParaRPr>
          </a:p>
        </p:txBody>
      </p:sp>
      <p:sp>
        <p:nvSpPr>
          <p:cNvPr id="63" name="Google Shape;63;p5"/>
          <p:cNvSpPr/>
          <p:nvPr/>
        </p:nvSpPr>
        <p:spPr>
          <a:xfrm>
            <a:off x="685800" y="3063240"/>
            <a:ext cx="7772400" cy="36576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822960" y="3108960"/>
            <a:ext cx="34747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B7B"/>
              </a:buClr>
              <a:buSzPts val="1300"/>
              <a:buFont typeface="Calibri"/>
              <a:buNone/>
            </a:pPr>
            <a:r>
              <a:rPr b="0" i="0" lang="en-US" sz="1300" u="none" cap="none" strike="noStrike">
                <a:solidFill>
                  <a:srgbClr val="6B6B7B"/>
                </a:solidFill>
                <a:latin typeface="Calibri"/>
                <a:ea typeface="Calibri"/>
                <a:cs typeface="Calibri"/>
                <a:sym typeface="Calibri"/>
              </a:rPr>
              <a:t>Evaluate at the end</a:t>
            </a:r>
            <a:endParaRPr b="0" i="0" sz="1300" u="none" cap="none" strike="noStrike">
              <a:solidFill>
                <a:schemeClr val="dk1"/>
              </a:solidFill>
              <a:latin typeface="Calibri"/>
              <a:ea typeface="Calibri"/>
              <a:cs typeface="Calibri"/>
              <a:sym typeface="Calibri"/>
            </a:endParaRPr>
          </a:p>
        </p:txBody>
      </p:sp>
      <p:sp>
        <p:nvSpPr>
          <p:cNvPr id="65" name="Google Shape;65;p5"/>
          <p:cNvSpPr/>
          <p:nvPr/>
        </p:nvSpPr>
        <p:spPr>
          <a:xfrm>
            <a:off x="4572000" y="310896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300"/>
              <a:buFont typeface="Calibri"/>
              <a:buNone/>
            </a:pPr>
            <a:r>
              <a:rPr b="1" i="0" lang="en-US" sz="1300" u="none" cap="none" strike="noStrike">
                <a:solidFill>
                  <a:srgbClr val="2D2D3D"/>
                </a:solidFill>
                <a:latin typeface="Calibri"/>
                <a:ea typeface="Calibri"/>
                <a:cs typeface="Calibri"/>
                <a:sym typeface="Calibri"/>
              </a:rPr>
              <a:t>Evaluate at every step</a:t>
            </a:r>
            <a:endParaRPr b="0" i="0" sz="1300" u="none" cap="none" strike="noStrike">
              <a:solidFill>
                <a:schemeClr val="dk1"/>
              </a:solidFill>
              <a:latin typeface="Calibri"/>
              <a:ea typeface="Calibri"/>
              <a:cs typeface="Calibri"/>
              <a:sym typeface="Calibri"/>
            </a:endParaRPr>
          </a:p>
        </p:txBody>
      </p:sp>
      <p:sp>
        <p:nvSpPr>
          <p:cNvPr id="66" name="Google Shape;66;p5"/>
          <p:cNvSpPr/>
          <p:nvPr/>
        </p:nvSpPr>
        <p:spPr>
          <a:xfrm>
            <a:off x="685800" y="3840480"/>
            <a:ext cx="7772400" cy="54864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685800" y="3840480"/>
            <a:ext cx="41148" cy="54864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868680" y="3931920"/>
            <a:ext cx="7452360" cy="36576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3D"/>
              </a:buClr>
              <a:buSzPts val="1300"/>
              <a:buFont typeface="Calibri"/>
              <a:buNone/>
            </a:pPr>
            <a:r>
              <a:rPr b="0" i="0" lang="en-US" sz="1300" u="none" cap="none" strike="noStrike">
                <a:solidFill>
                  <a:srgbClr val="2D2D3D"/>
                </a:solidFill>
                <a:latin typeface="Calibri"/>
                <a:ea typeface="Calibri"/>
                <a:cs typeface="Calibri"/>
                <a:sym typeface="Calibri"/>
              </a:rPr>
              <a:t>Most iterations are one or two sentences — a quick redirect, a clarification. The difference in quality is enormous.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 name="Shape 73"/>
        <p:cNvGrpSpPr/>
        <p:nvPr/>
      </p:nvGrpSpPr>
      <p:grpSpPr>
        <a:xfrm>
          <a:off x="0" y="0"/>
          <a:ext cx="0" cy="0"/>
          <a:chOff x="0" y="0"/>
          <a:chExt cx="0" cy="0"/>
        </a:xfrm>
      </p:grpSpPr>
      <p:cxnSp>
        <p:nvCxnSpPr>
          <p:cNvPr id="74" name="Google Shape;74;p6"/>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75" name="Google Shape;75;p6"/>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76" name="Google Shape;76;p6"/>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77" name="Google Shape;77;p6"/>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US" sz="2000" u="none" cap="none" strike="noStrike">
                <a:solidFill>
                  <a:srgbClr val="2D2D3D"/>
                </a:solidFill>
                <a:latin typeface="Calibri"/>
                <a:ea typeface="Calibri"/>
                <a:cs typeface="Calibri"/>
                <a:sym typeface="Calibri"/>
              </a:rPr>
              <a:t>You don't have to know where to start</a:t>
            </a:r>
            <a:endParaRPr b="0" i="0" sz="2000" u="none" cap="none" strike="noStrike">
              <a:solidFill>
                <a:schemeClr val="dk1"/>
              </a:solidFill>
              <a:latin typeface="Calibri"/>
              <a:ea typeface="Calibri"/>
              <a:cs typeface="Calibri"/>
              <a:sym typeface="Calibri"/>
            </a:endParaRPr>
          </a:p>
        </p:txBody>
      </p:sp>
      <p:cxnSp>
        <p:nvCxnSpPr>
          <p:cNvPr id="78" name="Google Shape;78;p6"/>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79" name="Google Shape;79;p6"/>
          <p:cNvSpPr/>
          <p:nvPr/>
        </p:nvSpPr>
        <p:spPr>
          <a:xfrm>
            <a:off x="685800" y="1097280"/>
            <a:ext cx="77724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45000"/>
              </a:lnSpc>
              <a:spcBef>
                <a:spcPts val="0"/>
              </a:spcBef>
              <a:spcAft>
                <a:spcPts val="0"/>
              </a:spcAft>
              <a:buClr>
                <a:srgbClr val="3A3A4A"/>
              </a:buClr>
              <a:buSzPts val="1400"/>
              <a:buFont typeface="Calibri"/>
              <a:buNone/>
            </a:pPr>
            <a:r>
              <a:rPr b="0" i="0" lang="en-US" sz="1400" u="none" cap="none" strike="noStrike">
                <a:solidFill>
                  <a:srgbClr val="3A3A4A"/>
                </a:solidFill>
                <a:latin typeface="Calibri"/>
                <a:ea typeface="Calibri"/>
                <a:cs typeface="Calibri"/>
                <a:sym typeface="Calibri"/>
              </a:rPr>
              <a:t>One of the biggest barriers to using AI well is feeling like you need the perfect question before you begin. You don't. The hard part is often getting to the right topic — and you don't have to do that alone.</a:t>
            </a:r>
            <a:endParaRPr b="0" i="0" sz="1400" u="none" cap="none" strike="noStrike">
              <a:solidFill>
                <a:schemeClr val="dk1"/>
              </a:solidFill>
              <a:latin typeface="Calibri"/>
              <a:ea typeface="Calibri"/>
              <a:cs typeface="Calibri"/>
              <a:sym typeface="Calibri"/>
            </a:endParaRPr>
          </a:p>
        </p:txBody>
      </p:sp>
      <p:sp>
        <p:nvSpPr>
          <p:cNvPr id="80" name="Google Shape;80;p6"/>
          <p:cNvSpPr/>
          <p:nvPr/>
        </p:nvSpPr>
        <p:spPr>
          <a:xfrm>
            <a:off x="685800" y="1965960"/>
            <a:ext cx="7772400" cy="54864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p:cNvSpPr/>
          <p:nvPr/>
        </p:nvSpPr>
        <p:spPr>
          <a:xfrm>
            <a:off x="685800" y="1965960"/>
            <a:ext cx="41148" cy="54864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868680" y="2057400"/>
            <a:ext cx="7452360" cy="36576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3A3A4A"/>
              </a:buClr>
              <a:buSzPts val="1200"/>
              <a:buFont typeface="Calibri"/>
              <a:buNone/>
            </a:pPr>
            <a:r>
              <a:rPr b="0" i="1" lang="en-US" sz="1200" u="none" cap="none" strike="noStrike">
                <a:solidFill>
                  <a:srgbClr val="3A3A4A"/>
                </a:solidFill>
                <a:latin typeface="Calibri"/>
                <a:ea typeface="Calibri"/>
                <a:cs typeface="Calibri"/>
                <a:sym typeface="Calibri"/>
              </a:rPr>
              <a:t>"I need to put together a presentation but I'm not sure what angle to take.</a:t>
            </a:r>
            <a:endParaRPr b="0" i="0" sz="12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3A3A4A"/>
              </a:buClr>
              <a:buSzPts val="1200"/>
              <a:buFont typeface="Calibri"/>
              <a:buNone/>
            </a:pPr>
            <a:r>
              <a:rPr b="0" i="1" lang="en-US" sz="1200" u="none" cap="none" strike="noStrike">
                <a:solidFill>
                  <a:srgbClr val="3A3A4A"/>
                </a:solidFill>
                <a:latin typeface="Calibri"/>
                <a:ea typeface="Calibri"/>
                <a:cs typeface="Calibri"/>
                <a:sym typeface="Calibri"/>
              </a:rPr>
              <a:t>Can you help me think through it?"</a:t>
            </a:r>
            <a:endParaRPr b="0" i="0" sz="1200" u="none" cap="none" strike="noStrike">
              <a:solidFill>
                <a:schemeClr val="dk1"/>
              </a:solidFill>
              <a:latin typeface="Calibri"/>
              <a:ea typeface="Calibri"/>
              <a:cs typeface="Calibri"/>
              <a:sym typeface="Calibri"/>
            </a:endParaRPr>
          </a:p>
        </p:txBody>
      </p:sp>
      <p:sp>
        <p:nvSpPr>
          <p:cNvPr id="83" name="Google Shape;83;p6"/>
          <p:cNvSpPr/>
          <p:nvPr/>
        </p:nvSpPr>
        <p:spPr>
          <a:xfrm>
            <a:off x="685800" y="2624328"/>
            <a:ext cx="7772400" cy="54864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6"/>
          <p:cNvSpPr/>
          <p:nvPr/>
        </p:nvSpPr>
        <p:spPr>
          <a:xfrm>
            <a:off x="685800" y="2624328"/>
            <a:ext cx="41148" cy="54864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868680" y="2715768"/>
            <a:ext cx="7452360" cy="36576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3A3A4A"/>
              </a:buClr>
              <a:buSzPts val="1200"/>
              <a:buFont typeface="Calibri"/>
              <a:buNone/>
            </a:pPr>
            <a:r>
              <a:rPr b="0" i="1" lang="en-US" sz="1200" u="none" cap="none" strike="noStrike">
                <a:solidFill>
                  <a:srgbClr val="3A3A4A"/>
                </a:solidFill>
                <a:latin typeface="Calibri"/>
                <a:ea typeface="Calibri"/>
                <a:cs typeface="Calibri"/>
                <a:sym typeface="Calibri"/>
              </a:rPr>
              <a:t>"I have a meeting with a frustrated merchant tomorrow. Can we talk</a:t>
            </a:r>
            <a:endParaRPr b="0" i="0" sz="12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3A3A4A"/>
              </a:buClr>
              <a:buSzPts val="1200"/>
              <a:buFont typeface="Calibri"/>
              <a:buNone/>
            </a:pPr>
            <a:r>
              <a:rPr b="0" i="1" lang="en-US" sz="1200" u="none" cap="none" strike="noStrike">
                <a:solidFill>
                  <a:srgbClr val="3A3A4A"/>
                </a:solidFill>
                <a:latin typeface="Calibri"/>
                <a:ea typeface="Calibri"/>
                <a:cs typeface="Calibri"/>
                <a:sym typeface="Calibri"/>
              </a:rPr>
              <a:t>through how to structure the conversation?"</a:t>
            </a:r>
            <a:endParaRPr b="0" i="0" sz="1200" u="none" cap="none" strike="noStrike">
              <a:solidFill>
                <a:schemeClr val="dk1"/>
              </a:solidFill>
              <a:latin typeface="Calibri"/>
              <a:ea typeface="Calibri"/>
              <a:cs typeface="Calibri"/>
              <a:sym typeface="Calibri"/>
            </a:endParaRPr>
          </a:p>
        </p:txBody>
      </p:sp>
      <p:sp>
        <p:nvSpPr>
          <p:cNvPr id="86" name="Google Shape;86;p6"/>
          <p:cNvSpPr/>
          <p:nvPr/>
        </p:nvSpPr>
        <p:spPr>
          <a:xfrm>
            <a:off x="685800" y="3282696"/>
            <a:ext cx="7772400" cy="54864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
          <p:cNvSpPr/>
          <p:nvPr/>
        </p:nvSpPr>
        <p:spPr>
          <a:xfrm>
            <a:off x="685800" y="3282696"/>
            <a:ext cx="41148" cy="54864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868680" y="3374136"/>
            <a:ext cx="7452360" cy="36576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3A3A4A"/>
              </a:buClr>
              <a:buSzPts val="1200"/>
              <a:buFont typeface="Calibri"/>
              <a:buNone/>
            </a:pPr>
            <a:r>
              <a:rPr b="0" i="1" lang="en-US" sz="1200" u="none" cap="none" strike="noStrike">
                <a:solidFill>
                  <a:srgbClr val="3A3A4A"/>
                </a:solidFill>
                <a:latin typeface="Calibri"/>
                <a:ea typeface="Calibri"/>
                <a:cs typeface="Calibri"/>
                <a:sym typeface="Calibri"/>
              </a:rPr>
              <a:t>"I don't even know the right questions to ask yet — can you help</a:t>
            </a:r>
            <a:endParaRPr b="0" i="0" sz="12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3A3A4A"/>
              </a:buClr>
              <a:buSzPts val="1200"/>
              <a:buFont typeface="Calibri"/>
              <a:buNone/>
            </a:pPr>
            <a:r>
              <a:rPr b="0" i="1" lang="en-US" sz="1200" u="none" cap="none" strike="noStrike">
                <a:solidFill>
                  <a:srgbClr val="3A3A4A"/>
                </a:solidFill>
                <a:latin typeface="Calibri"/>
                <a:ea typeface="Calibri"/>
                <a:cs typeface="Calibri"/>
                <a:sym typeface="Calibri"/>
              </a:rPr>
              <a:t>me get oriented?"</a:t>
            </a:r>
            <a:endParaRPr b="0" i="0" sz="1200" u="none" cap="none" strike="noStrike">
              <a:solidFill>
                <a:schemeClr val="dk1"/>
              </a:solidFill>
              <a:latin typeface="Calibri"/>
              <a:ea typeface="Calibri"/>
              <a:cs typeface="Calibri"/>
              <a:sym typeface="Calibri"/>
            </a:endParaRPr>
          </a:p>
        </p:txBody>
      </p:sp>
      <p:sp>
        <p:nvSpPr>
          <p:cNvPr id="89" name="Google Shape;89;p6"/>
          <p:cNvSpPr/>
          <p:nvPr/>
        </p:nvSpPr>
        <p:spPr>
          <a:xfrm>
            <a:off x="685800" y="4023360"/>
            <a:ext cx="7772400" cy="50292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685800" y="4023360"/>
            <a:ext cx="41148" cy="502920"/>
          </a:xfrm>
          <a:prstGeom prst="rect">
            <a:avLst/>
          </a:prstGeom>
          <a:solidFill>
            <a:srgbClr val="0096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868680" y="4114800"/>
            <a:ext cx="7452360" cy="32004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3D"/>
              </a:buClr>
              <a:buSzPts val="1300"/>
              <a:buFont typeface="Calibri"/>
              <a:buNone/>
            </a:pPr>
            <a:r>
              <a:rPr b="0" i="0" lang="en-US" sz="1300" u="none" cap="none" strike="noStrike">
                <a:solidFill>
                  <a:srgbClr val="2D2D3D"/>
                </a:solidFill>
                <a:latin typeface="Calibri"/>
                <a:ea typeface="Calibri"/>
                <a:cs typeface="Calibri"/>
                <a:sym typeface="Calibri"/>
              </a:rPr>
              <a:t>The shift: Instead of "figure out what I want, then go to AI," try "figure out what I want with AI."</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cxnSp>
        <p:nvCxnSpPr>
          <p:cNvPr id="97" name="Google Shape;97;p7"/>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98" name="Google Shape;98;p7"/>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99" name="Google Shape;99;p7"/>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100" name="Google Shape;100;p7"/>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US" sz="2000" u="none" cap="none" strike="noStrike">
                <a:solidFill>
                  <a:srgbClr val="2D2D3D"/>
                </a:solidFill>
                <a:latin typeface="Calibri"/>
                <a:ea typeface="Calibri"/>
                <a:cs typeface="Calibri"/>
                <a:sym typeface="Calibri"/>
              </a:rPr>
              <a:t>Four turns transforms generic output into something that lands</a:t>
            </a:r>
            <a:endParaRPr b="0" i="0" sz="2000" u="none" cap="none" strike="noStrike">
              <a:solidFill>
                <a:schemeClr val="dk1"/>
              </a:solidFill>
              <a:latin typeface="Calibri"/>
              <a:ea typeface="Calibri"/>
              <a:cs typeface="Calibri"/>
              <a:sym typeface="Calibri"/>
            </a:endParaRPr>
          </a:p>
        </p:txBody>
      </p:sp>
      <p:cxnSp>
        <p:nvCxnSpPr>
          <p:cNvPr id="101" name="Google Shape;101;p7"/>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102" name="Google Shape;102;p7"/>
          <p:cNvSpPr/>
          <p:nvPr/>
        </p:nvSpPr>
        <p:spPr>
          <a:xfrm>
            <a:off x="685800" y="1005840"/>
            <a:ext cx="7772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200"/>
              <a:buFont typeface="Calibri"/>
              <a:buNone/>
            </a:pPr>
            <a:r>
              <a:rPr b="0" i="0" lang="en-US" sz="1200" u="none" cap="none" strike="noStrike">
                <a:solidFill>
                  <a:srgbClr val="9999A8"/>
                </a:solidFill>
                <a:latin typeface="Calibri"/>
                <a:ea typeface="Calibri"/>
                <a:cs typeface="Calibri"/>
                <a:sym typeface="Calibri"/>
              </a:rPr>
              <a:t>Example: prepping for a merchant meeting</a:t>
            </a:r>
            <a:endParaRPr b="0" i="0" sz="1200" u="none" cap="none" strike="noStrike">
              <a:solidFill>
                <a:schemeClr val="dk1"/>
              </a:solidFill>
              <a:latin typeface="Calibri"/>
              <a:ea typeface="Calibri"/>
              <a:cs typeface="Calibri"/>
              <a:sym typeface="Calibri"/>
            </a:endParaRPr>
          </a:p>
        </p:txBody>
      </p:sp>
      <p:sp>
        <p:nvSpPr>
          <p:cNvPr id="103" name="Google Shape;103;p7"/>
          <p:cNvSpPr/>
          <p:nvPr/>
        </p:nvSpPr>
        <p:spPr>
          <a:xfrm>
            <a:off x="685800" y="1536192"/>
            <a:ext cx="320040" cy="320040"/>
          </a:xfrm>
          <a:prstGeom prst="ellipse">
            <a:avLst/>
          </a:prstGeom>
          <a:solidFill>
            <a:srgbClr val="00967D"/>
          </a:solidFill>
          <a:ln cap="flat" cmpd="sng" w="12700">
            <a:solidFill>
              <a:srgbClr val="009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7"/>
          <p:cNvSpPr/>
          <p:nvPr/>
        </p:nvSpPr>
        <p:spPr>
          <a:xfrm>
            <a:off x="685800" y="1536192"/>
            <a:ext cx="3200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05" name="Google Shape;105;p7"/>
          <p:cNvSpPr/>
          <p:nvPr/>
        </p:nvSpPr>
        <p:spPr>
          <a:xfrm>
            <a:off x="1143000" y="1508760"/>
            <a:ext cx="109728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967D"/>
              </a:buClr>
              <a:buSzPts val="1200"/>
              <a:buFont typeface="Calibri"/>
              <a:buNone/>
            </a:pPr>
            <a:r>
              <a:rPr b="1" i="0" lang="en-US" sz="1200" u="none" cap="none" strike="noStrike">
                <a:solidFill>
                  <a:srgbClr val="00967D"/>
                </a:solidFill>
                <a:latin typeface="Calibri"/>
                <a:ea typeface="Calibri"/>
                <a:cs typeface="Calibri"/>
                <a:sym typeface="Calibri"/>
              </a:rPr>
              <a:t>Explore</a:t>
            </a:r>
            <a:endParaRPr b="0" i="0" sz="1200" u="none" cap="none" strike="noStrike">
              <a:solidFill>
                <a:schemeClr val="dk1"/>
              </a:solidFill>
              <a:latin typeface="Calibri"/>
              <a:ea typeface="Calibri"/>
              <a:cs typeface="Calibri"/>
              <a:sym typeface="Calibri"/>
            </a:endParaRPr>
          </a:p>
        </p:txBody>
      </p:sp>
      <p:sp>
        <p:nvSpPr>
          <p:cNvPr id="106" name="Google Shape;106;p7"/>
          <p:cNvSpPr/>
          <p:nvPr/>
        </p:nvSpPr>
        <p:spPr>
          <a:xfrm>
            <a:off x="2286000" y="1508760"/>
            <a:ext cx="6172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4A"/>
              </a:buClr>
              <a:buSzPts val="1200"/>
              <a:buFont typeface="Calibri"/>
              <a:buNone/>
            </a:pPr>
            <a:r>
              <a:rPr b="0" i="1" lang="en-US" sz="1200" u="none" cap="none" strike="noStrike">
                <a:solidFill>
                  <a:srgbClr val="3A3A4A"/>
                </a:solidFill>
                <a:latin typeface="Calibri"/>
                <a:ea typeface="Calibri"/>
                <a:cs typeface="Calibri"/>
                <a:sym typeface="Calibri"/>
              </a:rPr>
              <a:t>"What are the main things I should be thinking about?"</a:t>
            </a:r>
            <a:endParaRPr b="0" i="0" sz="1200" u="none" cap="none" strike="noStrike">
              <a:solidFill>
                <a:schemeClr val="dk1"/>
              </a:solidFill>
              <a:latin typeface="Calibri"/>
              <a:ea typeface="Calibri"/>
              <a:cs typeface="Calibri"/>
              <a:sym typeface="Calibri"/>
            </a:endParaRPr>
          </a:p>
        </p:txBody>
      </p:sp>
      <p:cxnSp>
        <p:nvCxnSpPr>
          <p:cNvPr id="107" name="Google Shape;107;p7"/>
          <p:cNvCxnSpPr/>
          <p:nvPr/>
        </p:nvCxnSpPr>
        <p:spPr>
          <a:xfrm>
            <a:off x="845820" y="1901952"/>
            <a:ext cx="0" cy="320040"/>
          </a:xfrm>
          <a:prstGeom prst="straightConnector1">
            <a:avLst/>
          </a:prstGeom>
          <a:noFill/>
          <a:ln cap="flat" cmpd="sng" w="12700">
            <a:solidFill>
              <a:srgbClr val="D0D0DA"/>
            </a:solidFill>
            <a:prstDash val="solid"/>
            <a:round/>
            <a:headEnd len="sm" w="sm" type="none"/>
            <a:tailEnd len="sm" w="sm" type="none"/>
          </a:ln>
        </p:spPr>
      </p:cxnSp>
      <p:sp>
        <p:nvSpPr>
          <p:cNvPr id="108" name="Google Shape;108;p7"/>
          <p:cNvSpPr/>
          <p:nvPr/>
        </p:nvSpPr>
        <p:spPr>
          <a:xfrm>
            <a:off x="685800" y="2267712"/>
            <a:ext cx="320040" cy="320040"/>
          </a:xfrm>
          <a:prstGeom prst="ellipse">
            <a:avLst/>
          </a:prstGeom>
          <a:solidFill>
            <a:srgbClr val="136EF6"/>
          </a:solidFill>
          <a:ln cap="flat" cmpd="sng" w="12700">
            <a:solidFill>
              <a:srgbClr val="136E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a:off x="685800" y="2267712"/>
            <a:ext cx="3200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10" name="Google Shape;110;p7"/>
          <p:cNvSpPr/>
          <p:nvPr/>
        </p:nvSpPr>
        <p:spPr>
          <a:xfrm>
            <a:off x="1143000" y="2240280"/>
            <a:ext cx="109728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200"/>
              <a:buFont typeface="Calibri"/>
              <a:buNone/>
            </a:pPr>
            <a:r>
              <a:rPr b="1" i="0" lang="en-US" sz="1200" u="none" cap="none" strike="noStrike">
                <a:solidFill>
                  <a:srgbClr val="136EF6"/>
                </a:solidFill>
                <a:latin typeface="Calibri"/>
                <a:ea typeface="Calibri"/>
                <a:cs typeface="Calibri"/>
                <a:sym typeface="Calibri"/>
              </a:rPr>
              <a:t>Narrow</a:t>
            </a:r>
            <a:endParaRPr b="0" i="0" sz="1200" u="none" cap="none" strike="noStrike">
              <a:solidFill>
                <a:schemeClr val="dk1"/>
              </a:solidFill>
              <a:latin typeface="Calibri"/>
              <a:ea typeface="Calibri"/>
              <a:cs typeface="Calibri"/>
              <a:sym typeface="Calibri"/>
            </a:endParaRPr>
          </a:p>
        </p:txBody>
      </p:sp>
      <p:sp>
        <p:nvSpPr>
          <p:cNvPr id="111" name="Google Shape;111;p7"/>
          <p:cNvSpPr/>
          <p:nvPr/>
        </p:nvSpPr>
        <p:spPr>
          <a:xfrm>
            <a:off x="2286000" y="2240280"/>
            <a:ext cx="6172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4A"/>
              </a:buClr>
              <a:buSzPts val="1200"/>
              <a:buFont typeface="Calibri"/>
              <a:buNone/>
            </a:pPr>
            <a:r>
              <a:rPr b="0" i="1" lang="en-US" sz="1200" u="none" cap="none" strike="noStrike">
                <a:solidFill>
                  <a:srgbClr val="3A3A4A"/>
                </a:solidFill>
                <a:latin typeface="Calibri"/>
                <a:ea typeface="Calibri"/>
                <a:cs typeface="Calibri"/>
                <a:sym typeface="Calibri"/>
              </a:rPr>
              <a:t>"Business impact during rush matters most. High-volume pizza, Friday 5–9pm, 80% delivery."</a:t>
            </a:r>
            <a:endParaRPr b="0" i="0" sz="1200" u="none" cap="none" strike="noStrike">
              <a:solidFill>
                <a:schemeClr val="dk1"/>
              </a:solidFill>
              <a:latin typeface="Calibri"/>
              <a:ea typeface="Calibri"/>
              <a:cs typeface="Calibri"/>
              <a:sym typeface="Calibri"/>
            </a:endParaRPr>
          </a:p>
        </p:txBody>
      </p:sp>
      <p:cxnSp>
        <p:nvCxnSpPr>
          <p:cNvPr id="112" name="Google Shape;112;p7"/>
          <p:cNvCxnSpPr/>
          <p:nvPr/>
        </p:nvCxnSpPr>
        <p:spPr>
          <a:xfrm>
            <a:off x="845820" y="2633472"/>
            <a:ext cx="0" cy="320040"/>
          </a:xfrm>
          <a:prstGeom prst="straightConnector1">
            <a:avLst/>
          </a:prstGeom>
          <a:noFill/>
          <a:ln cap="flat" cmpd="sng" w="12700">
            <a:solidFill>
              <a:srgbClr val="D0D0DA"/>
            </a:solidFill>
            <a:prstDash val="solid"/>
            <a:round/>
            <a:headEnd len="sm" w="sm" type="none"/>
            <a:tailEnd len="sm" w="sm" type="none"/>
          </a:ln>
        </p:spPr>
      </p:cxnSp>
      <p:sp>
        <p:nvSpPr>
          <p:cNvPr id="113" name="Google Shape;113;p7"/>
          <p:cNvSpPr/>
          <p:nvPr/>
        </p:nvSpPr>
        <p:spPr>
          <a:xfrm>
            <a:off x="685800" y="2999232"/>
            <a:ext cx="320040" cy="320040"/>
          </a:xfrm>
          <a:prstGeom prst="ellipse">
            <a:avLst/>
          </a:prstGeom>
          <a:solidFill>
            <a:srgbClr val="D4850D"/>
          </a:solidFill>
          <a:ln cap="flat" cmpd="sng" w="12700">
            <a:solidFill>
              <a:srgbClr val="D4850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685800" y="2999232"/>
            <a:ext cx="3200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15" name="Google Shape;115;p7"/>
          <p:cNvSpPr/>
          <p:nvPr/>
        </p:nvSpPr>
        <p:spPr>
          <a:xfrm>
            <a:off x="1143000" y="2971800"/>
            <a:ext cx="109728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4850D"/>
              </a:buClr>
              <a:buSzPts val="1200"/>
              <a:buFont typeface="Calibri"/>
              <a:buNone/>
            </a:pPr>
            <a:r>
              <a:rPr b="1" i="0" lang="en-US" sz="1200" u="none" cap="none" strike="noStrike">
                <a:solidFill>
                  <a:srgbClr val="D4850D"/>
                </a:solidFill>
                <a:latin typeface="Calibri"/>
                <a:ea typeface="Calibri"/>
                <a:cs typeface="Calibri"/>
                <a:sym typeface="Calibri"/>
              </a:rPr>
              <a:t>Sharpen</a:t>
            </a:r>
            <a:endParaRPr b="0" i="0" sz="1200" u="none" cap="none" strike="noStrike">
              <a:solidFill>
                <a:schemeClr val="dk1"/>
              </a:solidFill>
              <a:latin typeface="Calibri"/>
              <a:ea typeface="Calibri"/>
              <a:cs typeface="Calibri"/>
              <a:sym typeface="Calibri"/>
            </a:endParaRPr>
          </a:p>
        </p:txBody>
      </p:sp>
      <p:sp>
        <p:nvSpPr>
          <p:cNvPr id="116" name="Google Shape;116;p7"/>
          <p:cNvSpPr/>
          <p:nvPr/>
        </p:nvSpPr>
        <p:spPr>
          <a:xfrm>
            <a:off x="2286000" y="2971800"/>
            <a:ext cx="6172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4A"/>
              </a:buClr>
              <a:buSzPts val="1200"/>
              <a:buFont typeface="Calibri"/>
              <a:buNone/>
            </a:pPr>
            <a:r>
              <a:rPr b="0" i="1" lang="en-US" sz="1200" u="none" cap="none" strike="noStrike">
                <a:solidFill>
                  <a:srgbClr val="3A3A4A"/>
                </a:solidFill>
                <a:latin typeface="Calibri"/>
                <a:ea typeface="Calibri"/>
                <a:cs typeface="Calibri"/>
                <a:sym typeface="Calibri"/>
              </a:rPr>
              <a:t>"Too formal. I'm saying this in person. Make it conversational."</a:t>
            </a:r>
            <a:endParaRPr b="0" i="0" sz="1200" u="none" cap="none" strike="noStrike">
              <a:solidFill>
                <a:schemeClr val="dk1"/>
              </a:solidFill>
              <a:latin typeface="Calibri"/>
              <a:ea typeface="Calibri"/>
              <a:cs typeface="Calibri"/>
              <a:sym typeface="Calibri"/>
            </a:endParaRPr>
          </a:p>
        </p:txBody>
      </p:sp>
      <p:cxnSp>
        <p:nvCxnSpPr>
          <p:cNvPr id="117" name="Google Shape;117;p7"/>
          <p:cNvCxnSpPr/>
          <p:nvPr/>
        </p:nvCxnSpPr>
        <p:spPr>
          <a:xfrm>
            <a:off x="845820" y="3364992"/>
            <a:ext cx="0" cy="320040"/>
          </a:xfrm>
          <a:prstGeom prst="straightConnector1">
            <a:avLst/>
          </a:prstGeom>
          <a:noFill/>
          <a:ln cap="flat" cmpd="sng" w="12700">
            <a:solidFill>
              <a:srgbClr val="D0D0DA"/>
            </a:solidFill>
            <a:prstDash val="solid"/>
            <a:round/>
            <a:headEnd len="sm" w="sm" type="none"/>
            <a:tailEnd len="sm" w="sm" type="none"/>
          </a:ln>
        </p:spPr>
      </p:cxnSp>
      <p:sp>
        <p:nvSpPr>
          <p:cNvPr id="118" name="Google Shape;118;p7"/>
          <p:cNvSpPr/>
          <p:nvPr/>
        </p:nvSpPr>
        <p:spPr>
          <a:xfrm>
            <a:off x="685800" y="3730752"/>
            <a:ext cx="320040" cy="320040"/>
          </a:xfrm>
          <a:prstGeom prst="ellipse">
            <a:avLst/>
          </a:prstGeom>
          <a:solidFill>
            <a:srgbClr val="C93D3D"/>
          </a:solidFill>
          <a:ln cap="flat" cmpd="sng" w="12700">
            <a:solidFill>
              <a:srgbClr val="C93D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p:cNvSpPr/>
          <p:nvPr/>
        </p:nvSpPr>
        <p:spPr>
          <a:xfrm>
            <a:off x="685800" y="3730752"/>
            <a:ext cx="3200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120" name="Google Shape;120;p7"/>
          <p:cNvSpPr/>
          <p:nvPr/>
        </p:nvSpPr>
        <p:spPr>
          <a:xfrm>
            <a:off x="1143000" y="3703320"/>
            <a:ext cx="109728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3D3D"/>
              </a:buClr>
              <a:buSzPts val="1200"/>
              <a:buFont typeface="Calibri"/>
              <a:buNone/>
            </a:pPr>
            <a:r>
              <a:rPr b="1" i="0" lang="en-US" sz="1200" u="none" cap="none" strike="noStrike">
                <a:solidFill>
                  <a:srgbClr val="C93D3D"/>
                </a:solidFill>
                <a:latin typeface="Calibri"/>
                <a:ea typeface="Calibri"/>
                <a:cs typeface="Calibri"/>
                <a:sym typeface="Calibri"/>
              </a:rPr>
              <a:t>Verify</a:t>
            </a:r>
            <a:endParaRPr b="0" i="0" sz="1200" u="none" cap="none" strike="noStrike">
              <a:solidFill>
                <a:schemeClr val="dk1"/>
              </a:solidFill>
              <a:latin typeface="Calibri"/>
              <a:ea typeface="Calibri"/>
              <a:cs typeface="Calibri"/>
              <a:sym typeface="Calibri"/>
            </a:endParaRPr>
          </a:p>
        </p:txBody>
      </p:sp>
      <p:sp>
        <p:nvSpPr>
          <p:cNvPr id="121" name="Google Shape;121;p7"/>
          <p:cNvSpPr/>
          <p:nvPr/>
        </p:nvSpPr>
        <p:spPr>
          <a:xfrm>
            <a:off x="2286000" y="3703320"/>
            <a:ext cx="6172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4A"/>
              </a:buClr>
              <a:buSzPts val="1200"/>
              <a:buFont typeface="Calibri"/>
              <a:buNone/>
            </a:pPr>
            <a:r>
              <a:rPr b="0" i="1" lang="en-US" sz="1200" u="none" cap="none" strike="noStrike">
                <a:solidFill>
                  <a:srgbClr val="3A3A4A"/>
                </a:solidFill>
                <a:latin typeface="Calibri"/>
                <a:ea typeface="Calibri"/>
                <a:cs typeface="Calibri"/>
                <a:sym typeface="Calibri"/>
              </a:rPr>
              <a:t>"Before I use these — is there anything you're not confident about?"</a:t>
            </a:r>
            <a:endParaRPr b="0" i="0" sz="1200" u="none" cap="none" strike="noStrike">
              <a:solidFill>
                <a:schemeClr val="dk1"/>
              </a:solidFill>
              <a:latin typeface="Calibri"/>
              <a:ea typeface="Calibri"/>
              <a:cs typeface="Calibri"/>
              <a:sym typeface="Calibri"/>
            </a:endParaRPr>
          </a:p>
        </p:txBody>
      </p:sp>
      <p:sp>
        <p:nvSpPr>
          <p:cNvPr id="122" name="Google Shape;122;p7"/>
          <p:cNvSpPr/>
          <p:nvPr/>
        </p:nvSpPr>
        <p:spPr>
          <a:xfrm>
            <a:off x="685800" y="4297680"/>
            <a:ext cx="77724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36EF6"/>
              </a:buClr>
              <a:buSzPts val="1400"/>
              <a:buFont typeface="Calibri"/>
              <a:buNone/>
            </a:pPr>
            <a:r>
              <a:rPr b="1" i="0" lang="en-US" sz="1400" u="none" cap="none" strike="noStrike">
                <a:solidFill>
                  <a:srgbClr val="136EF6"/>
                </a:solidFill>
                <a:latin typeface="Calibri"/>
                <a:ea typeface="Calibri"/>
                <a:cs typeface="Calibri"/>
                <a:sym typeface="Calibri"/>
              </a:rPr>
              <a:t>Explore  →  Narrow  →  Sharpen  →  Verify</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cxnSp>
        <p:nvCxnSpPr>
          <p:cNvPr id="128" name="Google Shape;128;p8"/>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129" name="Google Shape;129;p8"/>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
        <p:nvSpPr>
          <p:cNvPr id="130" name="Google Shape;130;p8"/>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131" name="Google Shape;131;p8"/>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US" sz="2000" u="none" cap="none" strike="noStrike">
                <a:solidFill>
                  <a:srgbClr val="2D2D3D"/>
                </a:solidFill>
                <a:latin typeface="Calibri"/>
                <a:ea typeface="Calibri"/>
                <a:cs typeface="Calibri"/>
                <a:sym typeface="Calibri"/>
              </a:rPr>
              <a:t>The first answer optimizes for helpfulness, not accuracy</a:t>
            </a:r>
            <a:endParaRPr b="0" i="0" sz="2000" u="none" cap="none" strike="noStrike">
              <a:solidFill>
                <a:schemeClr val="dk1"/>
              </a:solidFill>
              <a:latin typeface="Calibri"/>
              <a:ea typeface="Calibri"/>
              <a:cs typeface="Calibri"/>
              <a:sym typeface="Calibri"/>
            </a:endParaRPr>
          </a:p>
        </p:txBody>
      </p:sp>
      <p:cxnSp>
        <p:nvCxnSpPr>
          <p:cNvPr id="132" name="Google Shape;132;p8"/>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133" name="Google Shape;133;p8"/>
          <p:cNvSpPr/>
          <p:nvPr/>
        </p:nvSpPr>
        <p:spPr>
          <a:xfrm>
            <a:off x="685800" y="1143000"/>
            <a:ext cx="2468880" cy="36576"/>
          </a:xfrm>
          <a:prstGeom prst="rect">
            <a:avLst/>
          </a:prstGeom>
          <a:solidFill>
            <a:srgbClr val="0096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685800" y="1325880"/>
            <a:ext cx="2468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US" sz="1400" u="none" cap="none" strike="noStrike">
                <a:solidFill>
                  <a:srgbClr val="2D2D3D"/>
                </a:solidFill>
                <a:latin typeface="Calibri"/>
                <a:ea typeface="Calibri"/>
                <a:cs typeface="Calibri"/>
                <a:sym typeface="Calibri"/>
              </a:rPr>
              <a:t>Safe and generic</a:t>
            </a:r>
            <a:endParaRPr b="0" i="0" sz="1400" u="none" cap="none" strike="noStrike">
              <a:solidFill>
                <a:schemeClr val="dk1"/>
              </a:solidFill>
              <a:latin typeface="Calibri"/>
              <a:ea typeface="Calibri"/>
              <a:cs typeface="Calibri"/>
              <a:sym typeface="Calibri"/>
            </a:endParaRPr>
          </a:p>
        </p:txBody>
      </p:sp>
      <p:sp>
        <p:nvSpPr>
          <p:cNvPr id="135" name="Google Shape;135;p8"/>
          <p:cNvSpPr/>
          <p:nvPr/>
        </p:nvSpPr>
        <p:spPr>
          <a:xfrm>
            <a:off x="685800" y="1691640"/>
            <a:ext cx="246888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6B6B7B"/>
              </a:buClr>
              <a:buSzPts val="1200"/>
              <a:buFont typeface="Calibri"/>
              <a:buNone/>
            </a:pPr>
            <a:r>
              <a:rPr b="0" i="0" lang="en-US" sz="1200" u="none" cap="none" strike="noStrike">
                <a:solidFill>
                  <a:srgbClr val="6B6B7B"/>
                </a:solidFill>
                <a:latin typeface="Calibri"/>
                <a:ea typeface="Calibri"/>
                <a:cs typeface="Calibri"/>
                <a:sym typeface="Calibri"/>
              </a:rPr>
              <a:t>AI doesn't know your specifics yet, so it hedges with broad responses.</a:t>
            </a:r>
            <a:endParaRPr b="0" i="0" sz="1200" u="none" cap="none" strike="noStrike">
              <a:solidFill>
                <a:schemeClr val="dk1"/>
              </a:solidFill>
              <a:latin typeface="Calibri"/>
              <a:ea typeface="Calibri"/>
              <a:cs typeface="Calibri"/>
              <a:sym typeface="Calibri"/>
            </a:endParaRPr>
          </a:p>
        </p:txBody>
      </p:sp>
      <p:sp>
        <p:nvSpPr>
          <p:cNvPr id="136" name="Google Shape;136;p8"/>
          <p:cNvSpPr/>
          <p:nvPr/>
        </p:nvSpPr>
        <p:spPr>
          <a:xfrm>
            <a:off x="3383280" y="1143000"/>
            <a:ext cx="2468880" cy="36576"/>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3383280" y="1325880"/>
            <a:ext cx="2468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US" sz="1400" u="none" cap="none" strike="noStrike">
                <a:solidFill>
                  <a:srgbClr val="2D2D3D"/>
                </a:solidFill>
                <a:latin typeface="Calibri"/>
                <a:ea typeface="Calibri"/>
                <a:cs typeface="Calibri"/>
                <a:sym typeface="Calibri"/>
              </a:rPr>
              <a:t>Broad, not deep</a:t>
            </a:r>
            <a:endParaRPr b="0" i="0" sz="1400" u="none" cap="none" strike="noStrike">
              <a:solidFill>
                <a:schemeClr val="dk1"/>
              </a:solidFill>
              <a:latin typeface="Calibri"/>
              <a:ea typeface="Calibri"/>
              <a:cs typeface="Calibri"/>
              <a:sym typeface="Calibri"/>
            </a:endParaRPr>
          </a:p>
        </p:txBody>
      </p:sp>
      <p:sp>
        <p:nvSpPr>
          <p:cNvPr id="138" name="Google Shape;138;p8"/>
          <p:cNvSpPr/>
          <p:nvPr/>
        </p:nvSpPr>
        <p:spPr>
          <a:xfrm>
            <a:off x="3383280" y="1691640"/>
            <a:ext cx="246888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6B6B7B"/>
              </a:buClr>
              <a:buSzPts val="1200"/>
              <a:buFont typeface="Calibri"/>
              <a:buNone/>
            </a:pPr>
            <a:r>
              <a:rPr b="0" i="0" lang="en-US" sz="1200" u="none" cap="none" strike="noStrike">
                <a:solidFill>
                  <a:srgbClr val="6B6B7B"/>
                </a:solidFill>
                <a:latin typeface="Calibri"/>
                <a:ea typeface="Calibri"/>
                <a:cs typeface="Calibri"/>
                <a:sym typeface="Calibri"/>
              </a:rPr>
              <a:t>You haven't narrowed the scope, so it covers everything at surface level.</a:t>
            </a:r>
            <a:endParaRPr b="0" i="0" sz="1200" u="none" cap="none" strike="noStrike">
              <a:solidFill>
                <a:schemeClr val="dk1"/>
              </a:solidFill>
              <a:latin typeface="Calibri"/>
              <a:ea typeface="Calibri"/>
              <a:cs typeface="Calibri"/>
              <a:sym typeface="Calibri"/>
            </a:endParaRPr>
          </a:p>
        </p:txBody>
      </p:sp>
      <p:sp>
        <p:nvSpPr>
          <p:cNvPr id="139" name="Google Shape;139;p8"/>
          <p:cNvSpPr/>
          <p:nvPr/>
        </p:nvSpPr>
        <p:spPr>
          <a:xfrm>
            <a:off x="6080760" y="1143000"/>
            <a:ext cx="2468880" cy="36576"/>
          </a:xfrm>
          <a:prstGeom prst="rect">
            <a:avLst/>
          </a:prstGeom>
          <a:solidFill>
            <a:srgbClr val="D4850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6080760" y="1325880"/>
            <a:ext cx="2468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US" sz="1400" u="none" cap="none" strike="noStrike">
                <a:solidFill>
                  <a:srgbClr val="2D2D3D"/>
                </a:solidFill>
                <a:latin typeface="Calibri"/>
                <a:ea typeface="Calibri"/>
                <a:cs typeface="Calibri"/>
                <a:sym typeface="Calibri"/>
              </a:rPr>
              <a:t>Fluent, not accurate</a:t>
            </a:r>
            <a:endParaRPr b="0" i="0" sz="1400" u="none" cap="none" strike="noStrike">
              <a:solidFill>
                <a:schemeClr val="dk1"/>
              </a:solidFill>
              <a:latin typeface="Calibri"/>
              <a:ea typeface="Calibri"/>
              <a:cs typeface="Calibri"/>
              <a:sym typeface="Calibri"/>
            </a:endParaRPr>
          </a:p>
        </p:txBody>
      </p:sp>
      <p:sp>
        <p:nvSpPr>
          <p:cNvPr id="141" name="Google Shape;141;p8"/>
          <p:cNvSpPr/>
          <p:nvPr/>
        </p:nvSpPr>
        <p:spPr>
          <a:xfrm>
            <a:off x="6080760" y="1691640"/>
            <a:ext cx="246888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6B6B7B"/>
              </a:buClr>
              <a:buSzPts val="1200"/>
              <a:buFont typeface="Calibri"/>
              <a:buNone/>
            </a:pPr>
            <a:r>
              <a:rPr b="0" i="0" lang="en-US" sz="1200" u="none" cap="none" strike="noStrike">
                <a:solidFill>
                  <a:srgbClr val="6B6B7B"/>
                </a:solidFill>
                <a:latin typeface="Calibri"/>
                <a:ea typeface="Calibri"/>
                <a:cs typeface="Calibri"/>
                <a:sym typeface="Calibri"/>
              </a:rPr>
              <a:t>It's optimized to sound right. Sounding right and being right are different things.</a:t>
            </a:r>
            <a:endParaRPr b="0" i="0" sz="1200" u="none" cap="none" strike="noStrike">
              <a:solidFill>
                <a:schemeClr val="dk1"/>
              </a:solidFill>
              <a:latin typeface="Calibri"/>
              <a:ea typeface="Calibri"/>
              <a:cs typeface="Calibri"/>
              <a:sym typeface="Calibri"/>
            </a:endParaRPr>
          </a:p>
        </p:txBody>
      </p:sp>
      <p:sp>
        <p:nvSpPr>
          <p:cNvPr id="142" name="Google Shape;142;p8"/>
          <p:cNvSpPr/>
          <p:nvPr/>
        </p:nvSpPr>
        <p:spPr>
          <a:xfrm>
            <a:off x="685800" y="3108960"/>
            <a:ext cx="7772400" cy="64008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685800" y="3108960"/>
            <a:ext cx="41148" cy="64008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868680" y="3200400"/>
            <a:ext cx="7452360" cy="45720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3D"/>
              </a:buClr>
              <a:buSzPts val="1400"/>
              <a:buFont typeface="Calibri"/>
              <a:buNone/>
            </a:pPr>
            <a:r>
              <a:rPr b="0" i="0" lang="en-US" sz="1400" u="none" cap="none" strike="noStrike">
                <a:solidFill>
                  <a:srgbClr val="2D2D3D"/>
                </a:solidFill>
                <a:latin typeface="Calibri"/>
                <a:ea typeface="Calibri"/>
                <a:cs typeface="Calibri"/>
                <a:sym typeface="Calibri"/>
              </a:rPr>
              <a:t>That's not a flaw — it's a starting point. Your job is to make it specific, make it yours, and make it right through a few rounds of conversation.</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2D3D"/>
        </a:solidFill>
      </p:bgPr>
    </p:bg>
    <p:spTree>
      <p:nvGrpSpPr>
        <p:cNvPr id="149" name="Shape 149"/>
        <p:cNvGrpSpPr/>
        <p:nvPr/>
      </p:nvGrpSpPr>
      <p:grpSpPr>
        <a:xfrm>
          <a:off x="0" y="0"/>
          <a:ext cx="0" cy="0"/>
          <a:chOff x="0" y="0"/>
          <a:chExt cx="0" cy="0"/>
        </a:xfrm>
      </p:grpSpPr>
      <p:sp>
        <p:nvSpPr>
          <p:cNvPr id="150" name="Google Shape;150;p9"/>
          <p:cNvSpPr/>
          <p:nvPr/>
        </p:nvSpPr>
        <p:spPr>
          <a:xfrm>
            <a:off x="685800" y="1371600"/>
            <a:ext cx="18288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4000"/>
              <a:buFont typeface="Georgia"/>
              <a:buNone/>
            </a:pPr>
            <a:r>
              <a:rPr b="1" i="0" lang="en-US" sz="4000" u="none" cap="none" strike="noStrike">
                <a:solidFill>
                  <a:srgbClr val="136EF6"/>
                </a:solidFill>
                <a:latin typeface="Georgia"/>
                <a:ea typeface="Georgia"/>
                <a:cs typeface="Georgia"/>
                <a:sym typeface="Georgia"/>
              </a:rPr>
              <a:t>02</a:t>
            </a:r>
            <a:endParaRPr b="0" i="0" sz="4000" u="none" cap="none" strike="noStrike">
              <a:solidFill>
                <a:schemeClr val="dk1"/>
              </a:solidFill>
              <a:latin typeface="Calibri"/>
              <a:ea typeface="Calibri"/>
              <a:cs typeface="Calibri"/>
              <a:sym typeface="Calibri"/>
            </a:endParaRPr>
          </a:p>
        </p:txBody>
      </p:sp>
      <p:cxnSp>
        <p:nvCxnSpPr>
          <p:cNvPr id="151" name="Google Shape;151;p9"/>
          <p:cNvCxnSpPr/>
          <p:nvPr/>
        </p:nvCxnSpPr>
        <p:spPr>
          <a:xfrm>
            <a:off x="685800" y="2011680"/>
            <a:ext cx="1371600" cy="0"/>
          </a:xfrm>
          <a:prstGeom prst="straightConnector1">
            <a:avLst/>
          </a:prstGeom>
          <a:noFill/>
          <a:ln cap="flat" cmpd="sng" w="25400">
            <a:solidFill>
              <a:srgbClr val="136EF6"/>
            </a:solidFill>
            <a:prstDash val="solid"/>
            <a:round/>
            <a:headEnd len="sm" w="sm" type="none"/>
            <a:tailEnd len="sm" w="sm" type="none"/>
          </a:ln>
        </p:spPr>
      </p:cxnSp>
      <p:sp>
        <p:nvSpPr>
          <p:cNvPr id="152" name="Google Shape;152;p9"/>
          <p:cNvSpPr/>
          <p:nvPr/>
        </p:nvSpPr>
        <p:spPr>
          <a:xfrm>
            <a:off x="685800" y="2286000"/>
            <a:ext cx="7772400" cy="10972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FFFFFF"/>
              </a:buClr>
              <a:buSzPts val="3000"/>
              <a:buFont typeface="Georgia"/>
              <a:buNone/>
            </a:pPr>
            <a:r>
              <a:rPr b="1" i="0" lang="en-US" sz="3000" u="none" cap="none" strike="noStrike">
                <a:solidFill>
                  <a:srgbClr val="FFFFFF"/>
                </a:solidFill>
                <a:latin typeface="Georgia"/>
                <a:ea typeface="Georgia"/>
                <a:cs typeface="Georgia"/>
                <a:sym typeface="Georgia"/>
              </a:rPr>
              <a:t>How to Judge Whether</a:t>
            </a:r>
            <a:endParaRPr b="0" i="0" sz="3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FFFFFF"/>
              </a:buClr>
              <a:buSzPts val="3000"/>
              <a:buFont typeface="Georgia"/>
              <a:buNone/>
            </a:pPr>
            <a:r>
              <a:rPr b="1" i="0" lang="en-US" sz="3000" u="none" cap="none" strike="noStrike">
                <a:solidFill>
                  <a:srgbClr val="FFFFFF"/>
                </a:solidFill>
                <a:latin typeface="Georgia"/>
                <a:ea typeface="Georgia"/>
                <a:cs typeface="Georgia"/>
                <a:sym typeface="Georgia"/>
              </a:rPr>
              <a:t>AI Got It Right</a:t>
            </a:r>
            <a:endParaRPr b="0" i="0" sz="3000" u="none" cap="none" strike="noStrike">
              <a:solidFill>
                <a:schemeClr val="dk1"/>
              </a:solidFill>
              <a:latin typeface="Calibri"/>
              <a:ea typeface="Calibri"/>
              <a:cs typeface="Calibri"/>
              <a:sym typeface="Calibri"/>
            </a:endParaRPr>
          </a:p>
        </p:txBody>
      </p:sp>
      <p:sp>
        <p:nvSpPr>
          <p:cNvPr id="153" name="Google Shape;153;p9"/>
          <p:cNvSpPr/>
          <p:nvPr/>
        </p:nvSpPr>
        <p:spPr>
          <a:xfrm>
            <a:off x="685800" y="3566160"/>
            <a:ext cx="7772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300"/>
              <a:buFont typeface="Calibri"/>
              <a:buNone/>
            </a:pPr>
            <a:r>
              <a:rPr b="0" i="0" lang="en-US" sz="1300" u="none" cap="none" strike="noStrike">
                <a:solidFill>
                  <a:srgbClr val="9999A8"/>
                </a:solidFill>
                <a:latin typeface="Calibri"/>
                <a:ea typeface="Calibri"/>
                <a:cs typeface="Calibri"/>
                <a:sym typeface="Calibri"/>
              </a:rPr>
              <a:t>The Three-Question Check  |  Red Flags  |  The Fluency Trap</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cxnSp>
        <p:nvCxnSpPr>
          <p:cNvPr id="159" name="Google Shape;159;p10"/>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160" name="Google Shape;160;p10"/>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
        <p:nvSpPr>
          <p:cNvPr id="161" name="Google Shape;161;p10"/>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162" name="Google Shape;162;p10"/>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US" sz="2000" u="none" cap="none" strike="noStrike">
                <a:solidFill>
                  <a:srgbClr val="2D2D3D"/>
                </a:solidFill>
                <a:latin typeface="Calibri"/>
                <a:ea typeface="Calibri"/>
                <a:cs typeface="Calibri"/>
                <a:sym typeface="Calibri"/>
              </a:rPr>
              <a:t>Three questions separate reliable output from plausible fiction</a:t>
            </a:r>
            <a:endParaRPr b="0" i="0" sz="2000" u="none" cap="none" strike="noStrike">
              <a:solidFill>
                <a:schemeClr val="dk1"/>
              </a:solidFill>
              <a:latin typeface="Calibri"/>
              <a:ea typeface="Calibri"/>
              <a:cs typeface="Calibri"/>
              <a:sym typeface="Calibri"/>
            </a:endParaRPr>
          </a:p>
        </p:txBody>
      </p:sp>
      <p:cxnSp>
        <p:nvCxnSpPr>
          <p:cNvPr id="163" name="Google Shape;163;p10"/>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164" name="Google Shape;164;p10"/>
          <p:cNvSpPr/>
          <p:nvPr/>
        </p:nvSpPr>
        <p:spPr>
          <a:xfrm>
            <a:off x="685800" y="1188720"/>
            <a:ext cx="3657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2800"/>
              <a:buFont typeface="Georgia"/>
              <a:buNone/>
            </a:pPr>
            <a:r>
              <a:rPr b="1" i="0" lang="en-US" sz="2800" u="none" cap="none" strike="noStrike">
                <a:solidFill>
                  <a:srgbClr val="136EF6"/>
                </a:solidFill>
                <a:latin typeface="Georgia"/>
                <a:ea typeface="Georgia"/>
                <a:cs typeface="Georgia"/>
                <a:sym typeface="Georgia"/>
              </a:rPr>
              <a:t>1</a:t>
            </a:r>
            <a:endParaRPr b="0" i="0" sz="2800" u="none" cap="none" strike="noStrike">
              <a:solidFill>
                <a:schemeClr val="dk1"/>
              </a:solidFill>
              <a:latin typeface="Calibri"/>
              <a:ea typeface="Calibri"/>
              <a:cs typeface="Calibri"/>
              <a:sym typeface="Calibri"/>
            </a:endParaRPr>
          </a:p>
        </p:txBody>
      </p:sp>
      <p:sp>
        <p:nvSpPr>
          <p:cNvPr id="165" name="Google Shape;165;p10"/>
          <p:cNvSpPr/>
          <p:nvPr/>
        </p:nvSpPr>
        <p:spPr>
          <a:xfrm>
            <a:off x="1188720" y="1188720"/>
            <a:ext cx="5029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500"/>
              <a:buFont typeface="Calibri"/>
              <a:buNone/>
            </a:pPr>
            <a:r>
              <a:rPr b="1" i="0" lang="en-US" sz="1500" u="none" cap="none" strike="noStrike">
                <a:solidFill>
                  <a:srgbClr val="2D2D3D"/>
                </a:solidFill>
                <a:latin typeface="Calibri"/>
                <a:ea typeface="Calibri"/>
                <a:cs typeface="Calibri"/>
                <a:sym typeface="Calibri"/>
              </a:rPr>
              <a:t>Did it follow my instructions?</a:t>
            </a:r>
            <a:endParaRPr b="0" i="0" sz="1500" u="none" cap="none" strike="noStrike">
              <a:solidFill>
                <a:schemeClr val="dk1"/>
              </a:solidFill>
              <a:latin typeface="Calibri"/>
              <a:ea typeface="Calibri"/>
              <a:cs typeface="Calibri"/>
              <a:sym typeface="Calibri"/>
            </a:endParaRPr>
          </a:p>
        </p:txBody>
      </p:sp>
      <p:sp>
        <p:nvSpPr>
          <p:cNvPr id="166" name="Google Shape;166;p10"/>
          <p:cNvSpPr/>
          <p:nvPr/>
        </p:nvSpPr>
        <p:spPr>
          <a:xfrm>
            <a:off x="6858000" y="1188720"/>
            <a:ext cx="1600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1100"/>
              <a:buFont typeface="Calibri"/>
              <a:buNone/>
            </a:pPr>
            <a:r>
              <a:rPr b="0" i="0" lang="en-US" sz="1100" u="none" cap="none" strike="noStrike">
                <a:solidFill>
                  <a:srgbClr val="9999A8"/>
                </a:solidFill>
                <a:latin typeface="Calibri"/>
                <a:ea typeface="Calibri"/>
                <a:cs typeface="Calibri"/>
                <a:sym typeface="Calibri"/>
              </a:rPr>
              <a:t>10 seconds</a:t>
            </a:r>
            <a:endParaRPr b="0" i="0" sz="1100" u="none" cap="none" strike="noStrike">
              <a:solidFill>
                <a:schemeClr val="dk1"/>
              </a:solidFill>
              <a:latin typeface="Calibri"/>
              <a:ea typeface="Calibri"/>
              <a:cs typeface="Calibri"/>
              <a:sym typeface="Calibri"/>
            </a:endParaRPr>
          </a:p>
        </p:txBody>
      </p:sp>
      <p:sp>
        <p:nvSpPr>
          <p:cNvPr id="167" name="Google Shape;167;p10"/>
          <p:cNvSpPr/>
          <p:nvPr/>
        </p:nvSpPr>
        <p:spPr>
          <a:xfrm>
            <a:off x="1188720" y="1508760"/>
            <a:ext cx="726948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6B6B7B"/>
              </a:buClr>
              <a:buSzPts val="1200"/>
              <a:buFont typeface="Calibri"/>
              <a:buNone/>
            </a:pPr>
            <a:r>
              <a:rPr b="0" i="0" lang="en-US" sz="1200" u="none" cap="none" strike="noStrike">
                <a:solidFill>
                  <a:srgbClr val="6B6B7B"/>
                </a:solidFill>
                <a:latin typeface="Calibri"/>
                <a:ea typeface="Calibri"/>
                <a:cs typeface="Calibri"/>
                <a:sym typeface="Calibri"/>
              </a:rPr>
              <a:t>Quick skim. Right length, format, audience, tone. If it missed the brief, send it back.</a:t>
            </a:r>
            <a:endParaRPr b="0" i="0" sz="1200" u="none" cap="none" strike="noStrike">
              <a:solidFill>
                <a:schemeClr val="dk1"/>
              </a:solidFill>
              <a:latin typeface="Calibri"/>
              <a:ea typeface="Calibri"/>
              <a:cs typeface="Calibri"/>
              <a:sym typeface="Calibri"/>
            </a:endParaRPr>
          </a:p>
        </p:txBody>
      </p:sp>
      <p:cxnSp>
        <p:nvCxnSpPr>
          <p:cNvPr id="168" name="Google Shape;168;p10"/>
          <p:cNvCxnSpPr/>
          <p:nvPr/>
        </p:nvCxnSpPr>
        <p:spPr>
          <a:xfrm>
            <a:off x="685800" y="2011680"/>
            <a:ext cx="7772400" cy="0"/>
          </a:xfrm>
          <a:prstGeom prst="straightConnector1">
            <a:avLst/>
          </a:prstGeom>
          <a:noFill/>
          <a:ln cap="flat" cmpd="sng" w="9525">
            <a:solidFill>
              <a:srgbClr val="D0D0DA"/>
            </a:solidFill>
            <a:prstDash val="solid"/>
            <a:round/>
            <a:headEnd len="sm" w="sm" type="none"/>
            <a:tailEnd len="sm" w="sm" type="none"/>
          </a:ln>
        </p:spPr>
      </p:cxnSp>
      <p:sp>
        <p:nvSpPr>
          <p:cNvPr id="169" name="Google Shape;169;p10"/>
          <p:cNvSpPr/>
          <p:nvPr/>
        </p:nvSpPr>
        <p:spPr>
          <a:xfrm>
            <a:off x="685800" y="2103120"/>
            <a:ext cx="3657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2800"/>
              <a:buFont typeface="Georgia"/>
              <a:buNone/>
            </a:pPr>
            <a:r>
              <a:rPr b="1" i="0" lang="en-US" sz="2800" u="none" cap="none" strike="noStrike">
                <a:solidFill>
                  <a:srgbClr val="136EF6"/>
                </a:solidFill>
                <a:latin typeface="Georgia"/>
                <a:ea typeface="Georgia"/>
                <a:cs typeface="Georgia"/>
                <a:sym typeface="Georgia"/>
              </a:rPr>
              <a:t>2</a:t>
            </a:r>
            <a:endParaRPr b="0" i="0" sz="2800" u="none" cap="none" strike="noStrike">
              <a:solidFill>
                <a:schemeClr val="dk1"/>
              </a:solidFill>
              <a:latin typeface="Calibri"/>
              <a:ea typeface="Calibri"/>
              <a:cs typeface="Calibri"/>
              <a:sym typeface="Calibri"/>
            </a:endParaRPr>
          </a:p>
        </p:txBody>
      </p:sp>
      <p:sp>
        <p:nvSpPr>
          <p:cNvPr id="170" name="Google Shape;170;p10"/>
          <p:cNvSpPr/>
          <p:nvPr/>
        </p:nvSpPr>
        <p:spPr>
          <a:xfrm>
            <a:off x="1188720" y="2103120"/>
            <a:ext cx="5029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500"/>
              <a:buFont typeface="Calibri"/>
              <a:buNone/>
            </a:pPr>
            <a:r>
              <a:rPr b="1" i="0" lang="en-US" sz="1500" u="none" cap="none" strike="noStrike">
                <a:solidFill>
                  <a:srgbClr val="2D2D3D"/>
                </a:solidFill>
                <a:latin typeface="Calibri"/>
                <a:ea typeface="Calibri"/>
                <a:cs typeface="Calibri"/>
                <a:sym typeface="Calibri"/>
              </a:rPr>
              <a:t>Is the substance actually right?</a:t>
            </a:r>
            <a:endParaRPr b="0" i="0" sz="1500" u="none" cap="none" strike="noStrike">
              <a:solidFill>
                <a:schemeClr val="dk1"/>
              </a:solidFill>
              <a:latin typeface="Calibri"/>
              <a:ea typeface="Calibri"/>
              <a:cs typeface="Calibri"/>
              <a:sym typeface="Calibri"/>
            </a:endParaRPr>
          </a:p>
        </p:txBody>
      </p:sp>
      <p:sp>
        <p:nvSpPr>
          <p:cNvPr id="171" name="Google Shape;171;p10"/>
          <p:cNvSpPr/>
          <p:nvPr/>
        </p:nvSpPr>
        <p:spPr>
          <a:xfrm>
            <a:off x="6858000" y="2103120"/>
            <a:ext cx="1600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1100"/>
              <a:buFont typeface="Calibri"/>
              <a:buNone/>
            </a:pPr>
            <a:r>
              <a:rPr b="0" i="0" lang="en-US" sz="1100" u="none" cap="none" strike="noStrike">
                <a:solidFill>
                  <a:srgbClr val="9999A8"/>
                </a:solidFill>
                <a:latin typeface="Calibri"/>
                <a:ea typeface="Calibri"/>
                <a:cs typeface="Calibri"/>
                <a:sym typeface="Calibri"/>
              </a:rPr>
              <a:t>60 seconds</a:t>
            </a:r>
            <a:endParaRPr b="0" i="0" sz="1100" u="none" cap="none" strike="noStrike">
              <a:solidFill>
                <a:schemeClr val="dk1"/>
              </a:solidFill>
              <a:latin typeface="Calibri"/>
              <a:ea typeface="Calibri"/>
              <a:cs typeface="Calibri"/>
              <a:sym typeface="Calibri"/>
            </a:endParaRPr>
          </a:p>
        </p:txBody>
      </p:sp>
      <p:sp>
        <p:nvSpPr>
          <p:cNvPr id="172" name="Google Shape;172;p10"/>
          <p:cNvSpPr/>
          <p:nvPr/>
        </p:nvSpPr>
        <p:spPr>
          <a:xfrm>
            <a:off x="1188720" y="2423160"/>
            <a:ext cx="726948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6B6B7B"/>
              </a:buClr>
              <a:buSzPts val="1200"/>
              <a:buFont typeface="Calibri"/>
              <a:buNone/>
            </a:pPr>
            <a:r>
              <a:rPr b="0" i="0" lang="en-US" sz="1200" u="none" cap="none" strike="noStrike">
                <a:solidFill>
                  <a:srgbClr val="6B6B7B"/>
                </a:solidFill>
                <a:latin typeface="Calibri"/>
                <a:ea typeface="Calibri"/>
                <a:cs typeface="Calibri"/>
                <a:sym typeface="Calibri"/>
              </a:rPr>
              <a:t>Spot-check 2–3 specific claims or numbers against what you know. This is where most mistakes hide.</a:t>
            </a:r>
            <a:endParaRPr b="0" i="0" sz="1200" u="none" cap="none" strike="noStrike">
              <a:solidFill>
                <a:schemeClr val="dk1"/>
              </a:solidFill>
              <a:latin typeface="Calibri"/>
              <a:ea typeface="Calibri"/>
              <a:cs typeface="Calibri"/>
              <a:sym typeface="Calibri"/>
            </a:endParaRPr>
          </a:p>
        </p:txBody>
      </p:sp>
      <p:cxnSp>
        <p:nvCxnSpPr>
          <p:cNvPr id="173" name="Google Shape;173;p10"/>
          <p:cNvCxnSpPr/>
          <p:nvPr/>
        </p:nvCxnSpPr>
        <p:spPr>
          <a:xfrm>
            <a:off x="685800" y="2926080"/>
            <a:ext cx="7772400" cy="0"/>
          </a:xfrm>
          <a:prstGeom prst="straightConnector1">
            <a:avLst/>
          </a:prstGeom>
          <a:noFill/>
          <a:ln cap="flat" cmpd="sng" w="9525">
            <a:solidFill>
              <a:srgbClr val="D0D0DA"/>
            </a:solidFill>
            <a:prstDash val="solid"/>
            <a:round/>
            <a:headEnd len="sm" w="sm" type="none"/>
            <a:tailEnd len="sm" w="sm" type="none"/>
          </a:ln>
        </p:spPr>
      </p:cxnSp>
      <p:sp>
        <p:nvSpPr>
          <p:cNvPr id="174" name="Google Shape;174;p10"/>
          <p:cNvSpPr/>
          <p:nvPr/>
        </p:nvSpPr>
        <p:spPr>
          <a:xfrm>
            <a:off x="685800" y="3017520"/>
            <a:ext cx="3657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2800"/>
              <a:buFont typeface="Georgia"/>
              <a:buNone/>
            </a:pPr>
            <a:r>
              <a:rPr b="1" i="0" lang="en-US" sz="2800" u="none" cap="none" strike="noStrike">
                <a:solidFill>
                  <a:srgbClr val="136EF6"/>
                </a:solidFill>
                <a:latin typeface="Georgia"/>
                <a:ea typeface="Georgia"/>
                <a:cs typeface="Georgia"/>
                <a:sym typeface="Georgia"/>
              </a:rPr>
              <a:t>3</a:t>
            </a:r>
            <a:endParaRPr b="0" i="0" sz="2800" u="none" cap="none" strike="noStrike">
              <a:solidFill>
                <a:schemeClr val="dk1"/>
              </a:solidFill>
              <a:latin typeface="Calibri"/>
              <a:ea typeface="Calibri"/>
              <a:cs typeface="Calibri"/>
              <a:sym typeface="Calibri"/>
            </a:endParaRPr>
          </a:p>
        </p:txBody>
      </p:sp>
      <p:sp>
        <p:nvSpPr>
          <p:cNvPr id="175" name="Google Shape;175;p10"/>
          <p:cNvSpPr/>
          <p:nvPr/>
        </p:nvSpPr>
        <p:spPr>
          <a:xfrm>
            <a:off x="1188720" y="3017520"/>
            <a:ext cx="5029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500"/>
              <a:buFont typeface="Calibri"/>
              <a:buNone/>
            </a:pPr>
            <a:r>
              <a:rPr b="1" i="0" lang="en-US" sz="1500" u="none" cap="none" strike="noStrike">
                <a:solidFill>
                  <a:srgbClr val="2D2D3D"/>
                </a:solidFill>
                <a:latin typeface="Calibri"/>
                <a:ea typeface="Calibri"/>
                <a:cs typeface="Calibri"/>
                <a:sym typeface="Calibri"/>
              </a:rPr>
              <a:t>Did it introduce anything I didn't ask for?</a:t>
            </a:r>
            <a:endParaRPr b="0" i="0" sz="1500" u="none" cap="none" strike="noStrike">
              <a:solidFill>
                <a:schemeClr val="dk1"/>
              </a:solidFill>
              <a:latin typeface="Calibri"/>
              <a:ea typeface="Calibri"/>
              <a:cs typeface="Calibri"/>
              <a:sym typeface="Calibri"/>
            </a:endParaRPr>
          </a:p>
        </p:txBody>
      </p:sp>
      <p:sp>
        <p:nvSpPr>
          <p:cNvPr id="176" name="Google Shape;176;p10"/>
          <p:cNvSpPr/>
          <p:nvPr/>
        </p:nvSpPr>
        <p:spPr>
          <a:xfrm>
            <a:off x="6858000" y="3017520"/>
            <a:ext cx="1600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1100"/>
              <a:buFont typeface="Calibri"/>
              <a:buNone/>
            </a:pPr>
            <a:r>
              <a:rPr b="0" i="0" lang="en-US" sz="1100" u="none" cap="none" strike="noStrike">
                <a:solidFill>
                  <a:srgbClr val="9999A8"/>
                </a:solidFill>
                <a:latin typeface="Calibri"/>
                <a:ea typeface="Calibri"/>
                <a:cs typeface="Calibri"/>
                <a:sym typeface="Calibri"/>
              </a:rPr>
              <a:t>30 seconds</a:t>
            </a:r>
            <a:endParaRPr b="0" i="0" sz="1100" u="none" cap="none" strike="noStrike">
              <a:solidFill>
                <a:schemeClr val="dk1"/>
              </a:solidFill>
              <a:latin typeface="Calibri"/>
              <a:ea typeface="Calibri"/>
              <a:cs typeface="Calibri"/>
              <a:sym typeface="Calibri"/>
            </a:endParaRPr>
          </a:p>
        </p:txBody>
      </p:sp>
      <p:sp>
        <p:nvSpPr>
          <p:cNvPr id="177" name="Google Shape;177;p10"/>
          <p:cNvSpPr/>
          <p:nvPr/>
        </p:nvSpPr>
        <p:spPr>
          <a:xfrm>
            <a:off x="1188720" y="3337560"/>
            <a:ext cx="726948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6B6B7B"/>
              </a:buClr>
              <a:buSzPts val="1200"/>
              <a:buFont typeface="Calibri"/>
              <a:buNone/>
            </a:pPr>
            <a:r>
              <a:rPr b="0" i="0" lang="en-US" sz="1200" u="none" cap="none" strike="noStrike">
                <a:solidFill>
                  <a:srgbClr val="6B6B7B"/>
                </a:solidFill>
                <a:latin typeface="Calibri"/>
                <a:ea typeface="Calibri"/>
                <a:cs typeface="Calibri"/>
                <a:sym typeface="Calibri"/>
              </a:rPr>
              <a:t>Scan for claims that came from AI rather than from you or your data. If you can't trace it back, flag it.</a:t>
            </a:r>
            <a:endParaRPr b="0" i="0" sz="1200" u="none" cap="none" strike="noStrike">
              <a:solidFill>
                <a:schemeClr val="dk1"/>
              </a:solidFill>
              <a:latin typeface="Calibri"/>
              <a:ea typeface="Calibri"/>
              <a:cs typeface="Calibri"/>
              <a:sym typeface="Calibri"/>
            </a:endParaRPr>
          </a:p>
        </p:txBody>
      </p:sp>
      <p:sp>
        <p:nvSpPr>
          <p:cNvPr id="178" name="Google Shape;178;p10"/>
          <p:cNvSpPr/>
          <p:nvPr/>
        </p:nvSpPr>
        <p:spPr>
          <a:xfrm>
            <a:off x="685800" y="4023360"/>
            <a:ext cx="7772400" cy="50292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0"/>
          <p:cNvSpPr/>
          <p:nvPr/>
        </p:nvSpPr>
        <p:spPr>
          <a:xfrm>
            <a:off x="685800" y="4023360"/>
            <a:ext cx="41148" cy="50292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
          <p:cNvSpPr/>
          <p:nvPr/>
        </p:nvSpPr>
        <p:spPr>
          <a:xfrm>
            <a:off x="868680" y="4114800"/>
            <a:ext cx="7452360" cy="32004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3D"/>
              </a:buClr>
              <a:buSzPts val="1300"/>
              <a:buFont typeface="Calibri"/>
              <a:buNone/>
            </a:pPr>
            <a:r>
              <a:rPr b="0" i="0" lang="en-US" sz="1300" u="none" cap="none" strike="noStrike">
                <a:solidFill>
                  <a:srgbClr val="2D2D3D"/>
                </a:solidFill>
                <a:latin typeface="Calibri"/>
                <a:ea typeface="Calibri"/>
                <a:cs typeface="Calibri"/>
                <a:sym typeface="Calibri"/>
              </a:rPr>
              <a:t>Total time: under two minutes. Worth it for anything you'll share, present, or act on.</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cxnSp>
        <p:nvCxnSpPr>
          <p:cNvPr id="186" name="Google Shape;186;p11"/>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187" name="Google Shape;187;p11"/>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
        <p:nvSpPr>
          <p:cNvPr id="188" name="Google Shape;188;p11"/>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189" name="Google Shape;189;p11"/>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US" sz="2000" u="none" cap="none" strike="noStrike">
                <a:solidFill>
                  <a:srgbClr val="2D2D3D"/>
                </a:solidFill>
                <a:latin typeface="Calibri"/>
                <a:ea typeface="Calibri"/>
                <a:cs typeface="Calibri"/>
                <a:sym typeface="Calibri"/>
              </a:rPr>
              <a:t>Four signals that AI is filling gaps with guesses</a:t>
            </a:r>
            <a:endParaRPr b="0" i="0" sz="2000" u="none" cap="none" strike="noStrike">
              <a:solidFill>
                <a:schemeClr val="dk1"/>
              </a:solidFill>
              <a:latin typeface="Calibri"/>
              <a:ea typeface="Calibri"/>
              <a:cs typeface="Calibri"/>
              <a:sym typeface="Calibri"/>
            </a:endParaRPr>
          </a:p>
        </p:txBody>
      </p:sp>
      <p:cxnSp>
        <p:nvCxnSpPr>
          <p:cNvPr id="190" name="Google Shape;190;p11"/>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191" name="Google Shape;191;p11"/>
          <p:cNvSpPr/>
          <p:nvPr/>
        </p:nvSpPr>
        <p:spPr>
          <a:xfrm>
            <a:off x="685800" y="1143000"/>
            <a:ext cx="7772400" cy="59436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a:off x="685800" y="1143000"/>
            <a:ext cx="41148" cy="594360"/>
          </a:xfrm>
          <a:prstGeom prst="rect">
            <a:avLst/>
          </a:prstGeom>
          <a:solidFill>
            <a:srgbClr val="C93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a:off x="868680" y="1234440"/>
            <a:ext cx="7452360" cy="41148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p:txBody>
      </p:sp>
      <p:sp>
        <p:nvSpPr>
          <p:cNvPr id="194" name="Google Shape;194;p11"/>
          <p:cNvSpPr/>
          <p:nvPr/>
        </p:nvSpPr>
        <p:spPr>
          <a:xfrm>
            <a:off x="868680" y="1197864"/>
            <a:ext cx="74066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US" sz="1400" u="none" cap="none" strike="noStrike">
                <a:solidFill>
                  <a:srgbClr val="2D2D3D"/>
                </a:solidFill>
                <a:latin typeface="Calibri"/>
                <a:ea typeface="Calibri"/>
                <a:cs typeface="Calibri"/>
                <a:sym typeface="Calibri"/>
              </a:rPr>
              <a:t>Suspiciously specific numbers</a:t>
            </a:r>
            <a:endParaRPr b="0" i="0" sz="1400" u="none" cap="none" strike="noStrike">
              <a:solidFill>
                <a:schemeClr val="dk1"/>
              </a:solidFill>
              <a:latin typeface="Calibri"/>
              <a:ea typeface="Calibri"/>
              <a:cs typeface="Calibri"/>
              <a:sym typeface="Calibri"/>
            </a:endParaRPr>
          </a:p>
        </p:txBody>
      </p:sp>
      <p:sp>
        <p:nvSpPr>
          <p:cNvPr id="195" name="Google Shape;195;p11"/>
          <p:cNvSpPr/>
          <p:nvPr/>
        </p:nvSpPr>
        <p:spPr>
          <a:xfrm>
            <a:off x="868680" y="1444752"/>
            <a:ext cx="7406640" cy="246888"/>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6B6B7B"/>
              </a:buClr>
              <a:buSzPts val="1100"/>
              <a:buFont typeface="Calibri"/>
              <a:buNone/>
            </a:pPr>
            <a:r>
              <a:rPr b="0" i="0" lang="en-US" sz="1100" u="none" cap="none" strike="noStrike">
                <a:solidFill>
                  <a:srgbClr val="6B6B7B"/>
                </a:solidFill>
                <a:latin typeface="Calibri"/>
                <a:ea typeface="Calibri"/>
                <a:cs typeface="Calibri"/>
                <a:sym typeface="Calibri"/>
              </a:rPr>
              <a:t>"Restaurants typically see a 23% improvement…" — Where did that come from? You didn't provide it.</a:t>
            </a:r>
            <a:endParaRPr b="0" i="0" sz="1100" u="none" cap="none" strike="noStrike">
              <a:solidFill>
                <a:schemeClr val="dk1"/>
              </a:solidFill>
              <a:latin typeface="Calibri"/>
              <a:ea typeface="Calibri"/>
              <a:cs typeface="Calibri"/>
              <a:sym typeface="Calibri"/>
            </a:endParaRPr>
          </a:p>
        </p:txBody>
      </p:sp>
      <p:sp>
        <p:nvSpPr>
          <p:cNvPr id="196" name="Google Shape;196;p11"/>
          <p:cNvSpPr/>
          <p:nvPr/>
        </p:nvSpPr>
        <p:spPr>
          <a:xfrm>
            <a:off x="685800" y="1856232"/>
            <a:ext cx="7772400" cy="59436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a:off x="685800" y="1856232"/>
            <a:ext cx="41148" cy="594360"/>
          </a:xfrm>
          <a:prstGeom prst="rect">
            <a:avLst/>
          </a:prstGeom>
          <a:solidFill>
            <a:srgbClr val="C93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1"/>
          <p:cNvSpPr/>
          <p:nvPr/>
        </p:nvSpPr>
        <p:spPr>
          <a:xfrm>
            <a:off x="868680" y="1947672"/>
            <a:ext cx="7452360" cy="41148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p:txBody>
      </p:sp>
      <p:sp>
        <p:nvSpPr>
          <p:cNvPr id="199" name="Google Shape;199;p11"/>
          <p:cNvSpPr/>
          <p:nvPr/>
        </p:nvSpPr>
        <p:spPr>
          <a:xfrm>
            <a:off x="868680" y="1911096"/>
            <a:ext cx="74066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US" sz="1400" u="none" cap="none" strike="noStrike">
                <a:solidFill>
                  <a:srgbClr val="2D2D3D"/>
                </a:solidFill>
                <a:latin typeface="Calibri"/>
                <a:ea typeface="Calibri"/>
                <a:cs typeface="Calibri"/>
                <a:sym typeface="Calibri"/>
              </a:rPr>
              <a:t>Overly clean answers with no caveats</a:t>
            </a:r>
            <a:endParaRPr b="0" i="0" sz="1400" u="none" cap="none" strike="noStrike">
              <a:solidFill>
                <a:schemeClr val="dk1"/>
              </a:solidFill>
              <a:latin typeface="Calibri"/>
              <a:ea typeface="Calibri"/>
              <a:cs typeface="Calibri"/>
              <a:sym typeface="Calibri"/>
            </a:endParaRPr>
          </a:p>
        </p:txBody>
      </p:sp>
      <p:sp>
        <p:nvSpPr>
          <p:cNvPr id="200" name="Google Shape;200;p11"/>
          <p:cNvSpPr/>
          <p:nvPr/>
        </p:nvSpPr>
        <p:spPr>
          <a:xfrm>
            <a:off x="868680" y="2157984"/>
            <a:ext cx="7406640" cy="246888"/>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6B6B7B"/>
              </a:buClr>
              <a:buSzPts val="1100"/>
              <a:buFont typeface="Calibri"/>
              <a:buNone/>
            </a:pPr>
            <a:r>
              <a:rPr b="0" i="0" lang="en-US" sz="1100" u="none" cap="none" strike="noStrike">
                <a:solidFill>
                  <a:srgbClr val="6B6B7B"/>
                </a:solidFill>
                <a:latin typeface="Calibri"/>
                <a:ea typeface="Calibri"/>
                <a:cs typeface="Calibri"/>
                <a:sym typeface="Calibri"/>
              </a:rPr>
              <a:t>Real situations have nuance. If the answer has no uncertainty, AI is probably smoothing over gaps.</a:t>
            </a:r>
            <a:endParaRPr b="0" i="0" sz="1100" u="none" cap="none" strike="noStrike">
              <a:solidFill>
                <a:schemeClr val="dk1"/>
              </a:solidFill>
              <a:latin typeface="Calibri"/>
              <a:ea typeface="Calibri"/>
              <a:cs typeface="Calibri"/>
              <a:sym typeface="Calibri"/>
            </a:endParaRPr>
          </a:p>
        </p:txBody>
      </p:sp>
      <p:sp>
        <p:nvSpPr>
          <p:cNvPr id="201" name="Google Shape;201;p11"/>
          <p:cNvSpPr/>
          <p:nvPr/>
        </p:nvSpPr>
        <p:spPr>
          <a:xfrm>
            <a:off x="685800" y="2569464"/>
            <a:ext cx="7772400" cy="59436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a:off x="685800" y="2569464"/>
            <a:ext cx="41148" cy="594360"/>
          </a:xfrm>
          <a:prstGeom prst="rect">
            <a:avLst/>
          </a:prstGeom>
          <a:solidFill>
            <a:srgbClr val="C93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1"/>
          <p:cNvSpPr/>
          <p:nvPr/>
        </p:nvSpPr>
        <p:spPr>
          <a:xfrm>
            <a:off x="868680" y="2660904"/>
            <a:ext cx="7452360" cy="41148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p:txBody>
      </p:sp>
      <p:sp>
        <p:nvSpPr>
          <p:cNvPr id="204" name="Google Shape;204;p11"/>
          <p:cNvSpPr/>
          <p:nvPr/>
        </p:nvSpPr>
        <p:spPr>
          <a:xfrm>
            <a:off x="868680" y="2624328"/>
            <a:ext cx="74066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US" sz="1400" u="none" cap="none" strike="noStrike">
                <a:solidFill>
                  <a:srgbClr val="2D2D3D"/>
                </a:solidFill>
                <a:latin typeface="Calibri"/>
                <a:ea typeface="Calibri"/>
                <a:cs typeface="Calibri"/>
                <a:sym typeface="Calibri"/>
              </a:rPr>
              <a:t>Citations you can't verify</a:t>
            </a:r>
            <a:endParaRPr b="0" i="0" sz="1400" u="none" cap="none" strike="noStrike">
              <a:solidFill>
                <a:schemeClr val="dk1"/>
              </a:solidFill>
              <a:latin typeface="Calibri"/>
              <a:ea typeface="Calibri"/>
              <a:cs typeface="Calibri"/>
              <a:sym typeface="Calibri"/>
            </a:endParaRPr>
          </a:p>
        </p:txBody>
      </p:sp>
      <p:sp>
        <p:nvSpPr>
          <p:cNvPr id="205" name="Google Shape;205;p11"/>
          <p:cNvSpPr/>
          <p:nvPr/>
        </p:nvSpPr>
        <p:spPr>
          <a:xfrm>
            <a:off x="868680" y="2871216"/>
            <a:ext cx="7406640" cy="246888"/>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6B6B7B"/>
              </a:buClr>
              <a:buSzPts val="1100"/>
              <a:buFont typeface="Calibri"/>
              <a:buNone/>
            </a:pPr>
            <a:r>
              <a:rPr b="0" i="0" lang="en-US" sz="1100" u="none" cap="none" strike="noStrike">
                <a:solidFill>
                  <a:srgbClr val="6B6B7B"/>
                </a:solidFill>
                <a:latin typeface="Calibri"/>
                <a:ea typeface="Calibri"/>
                <a:cs typeface="Calibri"/>
                <a:sym typeface="Calibri"/>
              </a:rPr>
              <a:t>AI sometimes invents studies, reports, and article titles. If it names a source, verify it exists.</a:t>
            </a:r>
            <a:endParaRPr b="0" i="0" sz="1100" u="none" cap="none" strike="noStrike">
              <a:solidFill>
                <a:schemeClr val="dk1"/>
              </a:solidFill>
              <a:latin typeface="Calibri"/>
              <a:ea typeface="Calibri"/>
              <a:cs typeface="Calibri"/>
              <a:sym typeface="Calibri"/>
            </a:endParaRPr>
          </a:p>
        </p:txBody>
      </p:sp>
      <p:sp>
        <p:nvSpPr>
          <p:cNvPr id="206" name="Google Shape;206;p11"/>
          <p:cNvSpPr/>
          <p:nvPr/>
        </p:nvSpPr>
        <p:spPr>
          <a:xfrm>
            <a:off x="685800" y="3282696"/>
            <a:ext cx="7772400" cy="59436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a:off x="685800" y="3282696"/>
            <a:ext cx="41148" cy="594360"/>
          </a:xfrm>
          <a:prstGeom prst="rect">
            <a:avLst/>
          </a:prstGeom>
          <a:solidFill>
            <a:srgbClr val="C93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1"/>
          <p:cNvSpPr/>
          <p:nvPr/>
        </p:nvSpPr>
        <p:spPr>
          <a:xfrm>
            <a:off x="868680" y="3374136"/>
            <a:ext cx="7452360" cy="41148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p:txBody>
      </p:sp>
      <p:sp>
        <p:nvSpPr>
          <p:cNvPr id="209" name="Google Shape;209;p11"/>
          <p:cNvSpPr/>
          <p:nvPr/>
        </p:nvSpPr>
        <p:spPr>
          <a:xfrm>
            <a:off x="868680" y="3337560"/>
            <a:ext cx="740664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US" sz="1400" u="none" cap="none" strike="noStrike">
                <a:solidFill>
                  <a:srgbClr val="2D2D3D"/>
                </a:solidFill>
                <a:latin typeface="Calibri"/>
                <a:ea typeface="Calibri"/>
                <a:cs typeface="Calibri"/>
                <a:sym typeface="Calibri"/>
              </a:rPr>
              <a:t>The answer perfectly matches what you hoped to hear</a:t>
            </a:r>
            <a:endParaRPr b="0" i="0" sz="1400" u="none" cap="none" strike="noStrike">
              <a:solidFill>
                <a:schemeClr val="dk1"/>
              </a:solidFill>
              <a:latin typeface="Calibri"/>
              <a:ea typeface="Calibri"/>
              <a:cs typeface="Calibri"/>
              <a:sym typeface="Calibri"/>
            </a:endParaRPr>
          </a:p>
        </p:txBody>
      </p:sp>
      <p:sp>
        <p:nvSpPr>
          <p:cNvPr id="210" name="Google Shape;210;p11"/>
          <p:cNvSpPr/>
          <p:nvPr/>
        </p:nvSpPr>
        <p:spPr>
          <a:xfrm>
            <a:off x="868680" y="3584448"/>
            <a:ext cx="7406640" cy="246888"/>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6B6B7B"/>
              </a:buClr>
              <a:buSzPts val="1100"/>
              <a:buFont typeface="Calibri"/>
              <a:buNone/>
            </a:pPr>
            <a:r>
              <a:rPr b="0" i="0" lang="en-US" sz="1100" u="none" cap="none" strike="noStrike">
                <a:solidFill>
                  <a:srgbClr val="6B6B7B"/>
                </a:solidFill>
                <a:latin typeface="Calibri"/>
                <a:ea typeface="Calibri"/>
                <a:cs typeface="Calibri"/>
                <a:sym typeface="Calibri"/>
              </a:rPr>
              <a:t>AI is trained to be agreeable. When it tells you exactly what you want, that's a signal to push harder.</a:t>
            </a:r>
            <a:endParaRPr b="0" i="0" sz="1100" u="none" cap="none" strike="noStrike">
              <a:solidFill>
                <a:schemeClr val="dk1"/>
              </a:solidFill>
              <a:latin typeface="Calibri"/>
              <a:ea typeface="Calibri"/>
              <a:cs typeface="Calibri"/>
              <a:sym typeface="Calibri"/>
            </a:endParaRPr>
          </a:p>
        </p:txBody>
      </p:sp>
      <p:sp>
        <p:nvSpPr>
          <p:cNvPr id="211" name="Google Shape;211;p11"/>
          <p:cNvSpPr/>
          <p:nvPr/>
        </p:nvSpPr>
        <p:spPr>
          <a:xfrm>
            <a:off x="685800" y="4023360"/>
            <a:ext cx="7772400" cy="50292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a:off x="685800" y="4023360"/>
            <a:ext cx="41148" cy="50292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a:off x="868680" y="4114800"/>
            <a:ext cx="7452360" cy="32004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3D"/>
              </a:buClr>
              <a:buSzPts val="1300"/>
              <a:buFont typeface="Calibri"/>
              <a:buNone/>
            </a:pPr>
            <a:r>
              <a:rPr b="0" i="0" lang="en-US" sz="1300" u="none" cap="none" strike="noStrike">
                <a:solidFill>
                  <a:srgbClr val="2D2D3D"/>
                </a:solidFill>
                <a:latin typeface="Calibri"/>
                <a:ea typeface="Calibri"/>
                <a:cs typeface="Calibri"/>
                <a:sym typeface="Calibri"/>
              </a:rPr>
              <a:t>Good writing is not evidence of good thinking. A polished paragraph with a wrong number is worse than a rough one with the right number.</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2D3D"/>
        </a:solidFill>
      </p:bgPr>
    </p:bg>
    <p:spTree>
      <p:nvGrpSpPr>
        <p:cNvPr id="218" name="Shape 218"/>
        <p:cNvGrpSpPr/>
        <p:nvPr/>
      </p:nvGrpSpPr>
      <p:grpSpPr>
        <a:xfrm>
          <a:off x="0" y="0"/>
          <a:ext cx="0" cy="0"/>
          <a:chOff x="0" y="0"/>
          <a:chExt cx="0" cy="0"/>
        </a:xfrm>
      </p:grpSpPr>
      <p:sp>
        <p:nvSpPr>
          <p:cNvPr id="219" name="Google Shape;219;p12"/>
          <p:cNvSpPr/>
          <p:nvPr/>
        </p:nvSpPr>
        <p:spPr>
          <a:xfrm>
            <a:off x="685800" y="1371600"/>
            <a:ext cx="18288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4000"/>
              <a:buFont typeface="Georgia"/>
              <a:buNone/>
            </a:pPr>
            <a:r>
              <a:rPr b="1" i="0" lang="en-US" sz="4000" u="none" cap="none" strike="noStrike">
                <a:solidFill>
                  <a:srgbClr val="136EF6"/>
                </a:solidFill>
                <a:latin typeface="Georgia"/>
                <a:ea typeface="Georgia"/>
                <a:cs typeface="Georgia"/>
                <a:sym typeface="Georgia"/>
              </a:rPr>
              <a:t>03</a:t>
            </a:r>
            <a:endParaRPr b="0" i="0" sz="4000" u="none" cap="none" strike="noStrike">
              <a:solidFill>
                <a:schemeClr val="dk1"/>
              </a:solidFill>
              <a:latin typeface="Calibri"/>
              <a:ea typeface="Calibri"/>
              <a:cs typeface="Calibri"/>
              <a:sym typeface="Calibri"/>
            </a:endParaRPr>
          </a:p>
        </p:txBody>
      </p:sp>
      <p:cxnSp>
        <p:nvCxnSpPr>
          <p:cNvPr id="220" name="Google Shape;220;p12"/>
          <p:cNvCxnSpPr/>
          <p:nvPr/>
        </p:nvCxnSpPr>
        <p:spPr>
          <a:xfrm>
            <a:off x="685800" y="2011680"/>
            <a:ext cx="1371600" cy="0"/>
          </a:xfrm>
          <a:prstGeom prst="straightConnector1">
            <a:avLst/>
          </a:prstGeom>
          <a:noFill/>
          <a:ln cap="flat" cmpd="sng" w="25400">
            <a:solidFill>
              <a:srgbClr val="136EF6"/>
            </a:solidFill>
            <a:prstDash val="solid"/>
            <a:round/>
            <a:headEnd len="sm" w="sm" type="none"/>
            <a:tailEnd len="sm" w="sm" type="none"/>
          </a:ln>
        </p:spPr>
      </p:cxnSp>
      <p:sp>
        <p:nvSpPr>
          <p:cNvPr id="221" name="Google Shape;221;p12"/>
          <p:cNvSpPr/>
          <p:nvPr/>
        </p:nvSpPr>
        <p:spPr>
          <a:xfrm>
            <a:off x="685800" y="2286000"/>
            <a:ext cx="7772400" cy="10972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FFFFFF"/>
              </a:buClr>
              <a:buSzPts val="3000"/>
              <a:buFont typeface="Georgia"/>
              <a:buNone/>
            </a:pPr>
            <a:r>
              <a:rPr b="1" i="0" lang="en-US" sz="3000" u="none" cap="none" strike="noStrike">
                <a:solidFill>
                  <a:srgbClr val="FFFFFF"/>
                </a:solidFill>
                <a:latin typeface="Georgia"/>
                <a:ea typeface="Georgia"/>
                <a:cs typeface="Georgia"/>
                <a:sym typeface="Georgia"/>
              </a:rPr>
              <a:t>Staying in the</a:t>
            </a:r>
            <a:endParaRPr b="0" i="0" sz="3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FFFFFF"/>
              </a:buClr>
              <a:buSzPts val="3000"/>
              <a:buFont typeface="Georgia"/>
              <a:buNone/>
            </a:pPr>
            <a:r>
              <a:rPr b="1" i="0" lang="en-US" sz="3000" u="none" cap="none" strike="noStrike">
                <a:solidFill>
                  <a:srgbClr val="FFFFFF"/>
                </a:solidFill>
                <a:latin typeface="Georgia"/>
                <a:ea typeface="Georgia"/>
                <a:cs typeface="Georgia"/>
                <a:sym typeface="Georgia"/>
              </a:rPr>
              <a:t>Driver's Seat</a:t>
            </a:r>
            <a:endParaRPr b="0" i="0" sz="3000" u="none" cap="none" strike="noStrike">
              <a:solidFill>
                <a:schemeClr val="dk1"/>
              </a:solidFill>
              <a:latin typeface="Calibri"/>
              <a:ea typeface="Calibri"/>
              <a:cs typeface="Calibri"/>
              <a:sym typeface="Calibri"/>
            </a:endParaRPr>
          </a:p>
        </p:txBody>
      </p:sp>
      <p:sp>
        <p:nvSpPr>
          <p:cNvPr id="222" name="Google Shape;222;p12"/>
          <p:cNvSpPr/>
          <p:nvPr/>
        </p:nvSpPr>
        <p:spPr>
          <a:xfrm>
            <a:off x="685800" y="3566160"/>
            <a:ext cx="7772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300"/>
              <a:buFont typeface="Calibri"/>
              <a:buNone/>
            </a:pPr>
            <a:r>
              <a:rPr b="0" i="0" lang="en-US" sz="1300" u="none" cap="none" strike="noStrike">
                <a:solidFill>
                  <a:srgbClr val="9999A8"/>
                </a:solidFill>
                <a:latin typeface="Calibri"/>
                <a:ea typeface="Calibri"/>
                <a:cs typeface="Calibri"/>
                <a:sym typeface="Calibri"/>
              </a:rPr>
              <a:t>Confirmation Bias  |  The Fluency Trap  |  When to Start Fresh</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 name="Shape 227"/>
        <p:cNvGrpSpPr/>
        <p:nvPr/>
      </p:nvGrpSpPr>
      <p:grpSpPr>
        <a:xfrm>
          <a:off x="0" y="0"/>
          <a:ext cx="0" cy="0"/>
          <a:chOff x="0" y="0"/>
          <a:chExt cx="0" cy="0"/>
        </a:xfrm>
      </p:grpSpPr>
      <p:cxnSp>
        <p:nvCxnSpPr>
          <p:cNvPr id="228" name="Google Shape;228;p13"/>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229" name="Google Shape;229;p13"/>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
        <p:nvSpPr>
          <p:cNvPr id="230" name="Google Shape;230;p13"/>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231" name="Google Shape;231;p13"/>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US" sz="2000" u="none" cap="none" strike="noStrike">
                <a:solidFill>
                  <a:srgbClr val="2D2D3D"/>
                </a:solidFill>
                <a:latin typeface="Calibri"/>
                <a:ea typeface="Calibri"/>
                <a:cs typeface="Calibri"/>
                <a:sym typeface="Calibri"/>
              </a:rPr>
              <a:t>AI is agreeable by design — which can reinforce what you already believe</a:t>
            </a:r>
            <a:endParaRPr b="0" i="0" sz="2000" u="none" cap="none" strike="noStrike">
              <a:solidFill>
                <a:schemeClr val="dk1"/>
              </a:solidFill>
              <a:latin typeface="Calibri"/>
              <a:ea typeface="Calibri"/>
              <a:cs typeface="Calibri"/>
              <a:sym typeface="Calibri"/>
            </a:endParaRPr>
          </a:p>
        </p:txBody>
      </p:sp>
      <p:cxnSp>
        <p:nvCxnSpPr>
          <p:cNvPr id="232" name="Google Shape;232;p13"/>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233" name="Google Shape;233;p13"/>
          <p:cNvSpPr/>
          <p:nvPr/>
        </p:nvSpPr>
        <p:spPr>
          <a:xfrm>
            <a:off x="685800" y="1143000"/>
            <a:ext cx="3840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200"/>
              <a:buFont typeface="Calibri"/>
              <a:buNone/>
            </a:pPr>
            <a:r>
              <a:rPr b="1" i="0" lang="en-US" sz="1200" u="none" cap="none" strike="noStrike">
                <a:solidFill>
                  <a:srgbClr val="136EF6"/>
                </a:solidFill>
                <a:latin typeface="Calibri"/>
                <a:ea typeface="Calibri"/>
                <a:cs typeface="Calibri"/>
                <a:sym typeface="Calibri"/>
              </a:rPr>
              <a:t>How it works</a:t>
            </a:r>
            <a:endParaRPr b="0" i="0" sz="1200" u="none" cap="none" strike="noStrike">
              <a:solidFill>
                <a:schemeClr val="dk1"/>
              </a:solidFill>
              <a:latin typeface="Calibri"/>
              <a:ea typeface="Calibri"/>
              <a:cs typeface="Calibri"/>
              <a:sym typeface="Calibri"/>
            </a:endParaRPr>
          </a:p>
        </p:txBody>
      </p:sp>
      <p:sp>
        <p:nvSpPr>
          <p:cNvPr id="234" name="Google Shape;234;p13"/>
          <p:cNvSpPr/>
          <p:nvPr/>
        </p:nvSpPr>
        <p:spPr>
          <a:xfrm>
            <a:off x="685800" y="1417320"/>
            <a:ext cx="3840480" cy="146304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3A3A4A"/>
              </a:buClr>
              <a:buSzPts val="1300"/>
              <a:buFont typeface="Calibri"/>
              <a:buNone/>
            </a:pPr>
            <a:r>
              <a:rPr b="0" i="0" lang="en-US" sz="1300" u="none" cap="none" strike="noStrike">
                <a:solidFill>
                  <a:srgbClr val="3A3A4A"/>
                </a:solidFill>
                <a:latin typeface="Calibri"/>
                <a:ea typeface="Calibri"/>
                <a:cs typeface="Calibri"/>
                <a:sym typeface="Calibri"/>
              </a:rPr>
              <a:t>AI is trained to be helpful, which in practice means agreeable. When you ask “Isn't X a good approach?” it's more likely to say yes than push back.</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3A3A4A"/>
              </a:buClr>
              <a:buSzPts val="1300"/>
              <a:buFont typeface="Calibri"/>
              <a:buNone/>
            </a:pPr>
            <a:r>
              <a:rPr b="0" i="0" lang="en-US" sz="1300" u="none" cap="none" strike="noStrike">
                <a:solidFill>
                  <a:srgbClr val="3A3A4A"/>
                </a:solidFill>
                <a:latin typeface="Calibri"/>
                <a:ea typeface="Calibri"/>
                <a:cs typeface="Calibri"/>
                <a:sym typeface="Calibri"/>
              </a:rPr>
              <a:t>When you frame a question with an assumption baked in, AI builds on that assumption rather than challenging it.</a:t>
            </a:r>
            <a:endParaRPr b="0" i="0" sz="1300" u="none" cap="none" strike="noStrike">
              <a:solidFill>
                <a:schemeClr val="dk1"/>
              </a:solidFill>
              <a:latin typeface="Calibri"/>
              <a:ea typeface="Calibri"/>
              <a:cs typeface="Calibri"/>
              <a:sym typeface="Calibri"/>
            </a:endParaRPr>
          </a:p>
        </p:txBody>
      </p:sp>
      <p:sp>
        <p:nvSpPr>
          <p:cNvPr id="235" name="Google Shape;235;p13"/>
          <p:cNvSpPr/>
          <p:nvPr/>
        </p:nvSpPr>
        <p:spPr>
          <a:xfrm>
            <a:off x="5029200" y="1143000"/>
            <a:ext cx="3429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200"/>
              <a:buFont typeface="Calibri"/>
              <a:buNone/>
            </a:pPr>
            <a:r>
              <a:rPr b="1" i="0" lang="en-US" sz="1200" u="none" cap="none" strike="noStrike">
                <a:solidFill>
                  <a:srgbClr val="136EF6"/>
                </a:solidFill>
                <a:latin typeface="Calibri"/>
                <a:ea typeface="Calibri"/>
                <a:cs typeface="Calibri"/>
                <a:sym typeface="Calibri"/>
              </a:rPr>
              <a:t>Why it matters</a:t>
            </a:r>
            <a:endParaRPr b="0" i="0" sz="1200" u="none" cap="none" strike="noStrike">
              <a:solidFill>
                <a:schemeClr val="dk1"/>
              </a:solidFill>
              <a:latin typeface="Calibri"/>
              <a:ea typeface="Calibri"/>
              <a:cs typeface="Calibri"/>
              <a:sym typeface="Calibri"/>
            </a:endParaRPr>
          </a:p>
        </p:txBody>
      </p:sp>
      <p:sp>
        <p:nvSpPr>
          <p:cNvPr id="236" name="Google Shape;236;p13"/>
          <p:cNvSpPr/>
          <p:nvPr/>
        </p:nvSpPr>
        <p:spPr>
          <a:xfrm>
            <a:off x="5029200" y="1417320"/>
            <a:ext cx="3429000" cy="146304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3A3A4A"/>
              </a:buClr>
              <a:buSzPts val="1300"/>
              <a:buFont typeface="Calibri"/>
              <a:buNone/>
            </a:pPr>
            <a:r>
              <a:rPr b="0" i="0" lang="en-US" sz="1300" u="none" cap="none" strike="noStrike">
                <a:solidFill>
                  <a:srgbClr val="3A3A4A"/>
                </a:solidFill>
                <a:latin typeface="Calibri"/>
                <a:ea typeface="Calibri"/>
                <a:cs typeface="Calibri"/>
                <a:sym typeface="Calibri"/>
              </a:rPr>
              <a:t>We all naturally seek out information that confirms what we already think. This is confirmation bias — one of the most well-documented patterns in human decision-making.</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3A3A4A"/>
              </a:buClr>
              <a:buSzPts val="1300"/>
              <a:buFont typeface="Calibri"/>
              <a:buNone/>
            </a:pPr>
            <a:r>
              <a:rPr b="0" i="0" lang="en-US" sz="1300" u="none" cap="none" strike="noStrike">
                <a:solidFill>
                  <a:srgbClr val="3A3A4A"/>
                </a:solidFill>
                <a:latin typeface="Calibri"/>
                <a:ea typeface="Calibri"/>
                <a:cs typeface="Calibri"/>
                <a:sym typeface="Calibri"/>
              </a:rPr>
              <a:t>AI makes it easier to fall into, because you now have a very articulate partner who agrees with you almost every time.</a:t>
            </a:r>
            <a:endParaRPr b="0" i="0" sz="1300" u="none" cap="none" strike="noStrike">
              <a:solidFill>
                <a:schemeClr val="dk1"/>
              </a:solidFill>
              <a:latin typeface="Calibri"/>
              <a:ea typeface="Calibri"/>
              <a:cs typeface="Calibri"/>
              <a:sym typeface="Calibri"/>
            </a:endParaRPr>
          </a:p>
        </p:txBody>
      </p:sp>
      <p:cxnSp>
        <p:nvCxnSpPr>
          <p:cNvPr id="237" name="Google Shape;237;p13"/>
          <p:cNvCxnSpPr/>
          <p:nvPr/>
        </p:nvCxnSpPr>
        <p:spPr>
          <a:xfrm>
            <a:off x="4709160" y="1143000"/>
            <a:ext cx="0" cy="1737360"/>
          </a:xfrm>
          <a:prstGeom prst="straightConnector1">
            <a:avLst/>
          </a:prstGeom>
          <a:noFill/>
          <a:ln cap="flat" cmpd="sng" w="9525">
            <a:solidFill>
              <a:srgbClr val="D0D0DA"/>
            </a:solidFill>
            <a:prstDash val="solid"/>
            <a:round/>
            <a:headEnd len="sm" w="sm" type="none"/>
            <a:tailEnd len="sm" w="sm" type="none"/>
          </a:ln>
        </p:spPr>
      </p:cxnSp>
      <p:sp>
        <p:nvSpPr>
          <p:cNvPr id="238" name="Google Shape;238;p13"/>
          <p:cNvSpPr/>
          <p:nvPr/>
        </p:nvSpPr>
        <p:spPr>
          <a:xfrm>
            <a:off x="685800" y="3474720"/>
            <a:ext cx="7772400" cy="64008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3"/>
          <p:cNvSpPr/>
          <p:nvPr/>
        </p:nvSpPr>
        <p:spPr>
          <a:xfrm>
            <a:off x="685800" y="3474720"/>
            <a:ext cx="41148" cy="64008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3"/>
          <p:cNvSpPr/>
          <p:nvPr/>
        </p:nvSpPr>
        <p:spPr>
          <a:xfrm>
            <a:off x="868680" y="3566160"/>
            <a:ext cx="7452360" cy="45720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3D"/>
              </a:buClr>
              <a:buSzPts val="1300"/>
              <a:buFont typeface="Calibri"/>
              <a:buNone/>
            </a:pPr>
            <a:r>
              <a:rPr b="0" i="0" lang="en-US" sz="1300" u="none" cap="none" strike="noStrike">
                <a:solidFill>
                  <a:srgbClr val="2D2D3D"/>
                </a:solidFill>
                <a:latin typeface="Calibri"/>
                <a:ea typeface="Calibri"/>
                <a:cs typeface="Calibri"/>
                <a:sym typeface="Calibri"/>
              </a:rPr>
              <a:t>This isn't the AI's fault. And it's not your fault. The antidote isn't suspicion — it's curiosity. A few deliberate habits make all the difference.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cxnSp>
        <p:nvCxnSpPr>
          <p:cNvPr id="246" name="Google Shape;246;p14"/>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247" name="Google Shape;247;p14"/>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
        <p:nvSpPr>
          <p:cNvPr id="248" name="Google Shape;248;p14"/>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249" name="Google Shape;249;p14"/>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US" sz="2000" u="none" cap="none" strike="noStrike">
                <a:solidFill>
                  <a:srgbClr val="2D2D3D"/>
                </a:solidFill>
                <a:latin typeface="Calibri"/>
                <a:ea typeface="Calibri"/>
                <a:cs typeface="Calibri"/>
                <a:sym typeface="Calibri"/>
              </a:rPr>
              <a:t>Four habits that keep you in the driver's seat</a:t>
            </a:r>
            <a:endParaRPr b="0" i="0" sz="2000" u="none" cap="none" strike="noStrike">
              <a:solidFill>
                <a:schemeClr val="dk1"/>
              </a:solidFill>
              <a:latin typeface="Calibri"/>
              <a:ea typeface="Calibri"/>
              <a:cs typeface="Calibri"/>
              <a:sym typeface="Calibri"/>
            </a:endParaRPr>
          </a:p>
        </p:txBody>
      </p:sp>
      <p:cxnSp>
        <p:nvCxnSpPr>
          <p:cNvPr id="250" name="Google Shape;250;p14"/>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251" name="Google Shape;251;p14"/>
          <p:cNvSpPr/>
          <p:nvPr/>
        </p:nvSpPr>
        <p:spPr>
          <a:xfrm>
            <a:off x="685800" y="1143000"/>
            <a:ext cx="7772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US" sz="1400" u="none" cap="none" strike="noStrike">
                <a:solidFill>
                  <a:srgbClr val="2D2D3D"/>
                </a:solidFill>
                <a:latin typeface="Calibri"/>
                <a:ea typeface="Calibri"/>
                <a:cs typeface="Calibri"/>
                <a:sym typeface="Calibri"/>
              </a:rPr>
              <a:t>Ask AI to challenge you</a:t>
            </a:r>
            <a:endParaRPr b="0" i="0" sz="1400" u="none" cap="none" strike="noStrike">
              <a:solidFill>
                <a:schemeClr val="dk1"/>
              </a:solidFill>
              <a:latin typeface="Calibri"/>
              <a:ea typeface="Calibri"/>
              <a:cs typeface="Calibri"/>
              <a:sym typeface="Calibri"/>
            </a:endParaRPr>
          </a:p>
        </p:txBody>
      </p:sp>
      <p:sp>
        <p:nvSpPr>
          <p:cNvPr id="252" name="Google Shape;252;p14"/>
          <p:cNvSpPr/>
          <p:nvPr/>
        </p:nvSpPr>
        <p:spPr>
          <a:xfrm>
            <a:off x="685800" y="1417320"/>
            <a:ext cx="7772400"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6B6B7B"/>
              </a:buClr>
              <a:buSzPts val="1200"/>
              <a:buFont typeface="Calibri"/>
              <a:buNone/>
            </a:pPr>
            <a:r>
              <a:rPr b="0" i="1" lang="en-US" sz="1200" u="none" cap="none" strike="noStrike">
                <a:solidFill>
                  <a:srgbClr val="6B6B7B"/>
                </a:solidFill>
                <a:latin typeface="Calibri"/>
                <a:ea typeface="Calibri"/>
                <a:cs typeface="Calibri"/>
                <a:sym typeface="Calibri"/>
              </a:rPr>
              <a:t>"What's the strongest case for Option B?"</a:t>
            </a:r>
            <a:endParaRPr b="0" i="0" sz="12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6B6B7B"/>
              </a:buClr>
              <a:buSzPts val="1200"/>
              <a:buFont typeface="Calibri"/>
              <a:buNone/>
            </a:pPr>
            <a:r>
              <a:rPr b="0" i="1" lang="en-US" sz="1200" u="none" cap="none" strike="noStrike">
                <a:solidFill>
                  <a:srgbClr val="6B6B7B"/>
                </a:solidFill>
                <a:latin typeface="Calibri"/>
                <a:ea typeface="Calibri"/>
                <a:cs typeface="Calibri"/>
                <a:sym typeface="Calibri"/>
              </a:rPr>
              <a:t>"What am I not considering here?"</a:t>
            </a:r>
            <a:endParaRPr b="0" i="0" sz="1200" u="none" cap="none" strike="noStrike">
              <a:solidFill>
                <a:schemeClr val="dk1"/>
              </a:solidFill>
              <a:latin typeface="Calibri"/>
              <a:ea typeface="Calibri"/>
              <a:cs typeface="Calibri"/>
              <a:sym typeface="Calibri"/>
            </a:endParaRPr>
          </a:p>
        </p:txBody>
      </p:sp>
      <p:cxnSp>
        <p:nvCxnSpPr>
          <p:cNvPr id="253" name="Google Shape;253;p14"/>
          <p:cNvCxnSpPr/>
          <p:nvPr/>
        </p:nvCxnSpPr>
        <p:spPr>
          <a:xfrm>
            <a:off x="685800" y="1920240"/>
            <a:ext cx="7772400" cy="0"/>
          </a:xfrm>
          <a:prstGeom prst="straightConnector1">
            <a:avLst/>
          </a:prstGeom>
          <a:noFill/>
          <a:ln cap="flat" cmpd="sng" w="9525">
            <a:solidFill>
              <a:srgbClr val="D0D0DA"/>
            </a:solidFill>
            <a:prstDash val="solid"/>
            <a:round/>
            <a:headEnd len="sm" w="sm" type="none"/>
            <a:tailEnd len="sm" w="sm" type="none"/>
          </a:ln>
        </p:spPr>
      </p:cxnSp>
      <p:sp>
        <p:nvSpPr>
          <p:cNvPr id="254" name="Google Shape;254;p14"/>
          <p:cNvSpPr/>
          <p:nvPr/>
        </p:nvSpPr>
        <p:spPr>
          <a:xfrm>
            <a:off x="685800" y="2011680"/>
            <a:ext cx="7772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US" sz="1400" u="none" cap="none" strike="noStrike">
                <a:solidFill>
                  <a:srgbClr val="2D2D3D"/>
                </a:solidFill>
                <a:latin typeface="Calibri"/>
                <a:ea typeface="Calibri"/>
                <a:cs typeface="Calibri"/>
                <a:sym typeface="Calibri"/>
              </a:rPr>
              <a:t>Watch for the "yes-and" pattern</a:t>
            </a:r>
            <a:endParaRPr b="0" i="0" sz="1400" u="none" cap="none" strike="noStrike">
              <a:solidFill>
                <a:schemeClr val="dk1"/>
              </a:solidFill>
              <a:latin typeface="Calibri"/>
              <a:ea typeface="Calibri"/>
              <a:cs typeface="Calibri"/>
              <a:sym typeface="Calibri"/>
            </a:endParaRPr>
          </a:p>
        </p:txBody>
      </p:sp>
      <p:sp>
        <p:nvSpPr>
          <p:cNvPr id="255" name="Google Shape;255;p14"/>
          <p:cNvSpPr/>
          <p:nvPr/>
        </p:nvSpPr>
        <p:spPr>
          <a:xfrm>
            <a:off x="685800" y="2286000"/>
            <a:ext cx="7772400"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6B6B7B"/>
              </a:buClr>
              <a:buSzPts val="1200"/>
              <a:buFont typeface="Calibri"/>
              <a:buNone/>
            </a:pPr>
            <a:r>
              <a:rPr b="0" i="1" lang="en-US" sz="1200" u="none" cap="none" strike="noStrike">
                <a:solidFill>
                  <a:srgbClr val="6B6B7B"/>
                </a:solidFill>
                <a:latin typeface="Calibri"/>
                <a:ea typeface="Calibri"/>
                <a:cs typeface="Calibri"/>
                <a:sym typeface="Calibri"/>
              </a:rPr>
              <a:t>If AI agrees with everything — even when you change direction — it's following you, not advising you.</a:t>
            </a:r>
            <a:endParaRPr b="0" i="0" sz="1200" u="none" cap="none" strike="noStrike">
              <a:solidFill>
                <a:schemeClr val="dk1"/>
              </a:solidFill>
              <a:latin typeface="Calibri"/>
              <a:ea typeface="Calibri"/>
              <a:cs typeface="Calibri"/>
              <a:sym typeface="Calibri"/>
            </a:endParaRPr>
          </a:p>
        </p:txBody>
      </p:sp>
      <p:cxnSp>
        <p:nvCxnSpPr>
          <p:cNvPr id="256" name="Google Shape;256;p14"/>
          <p:cNvCxnSpPr/>
          <p:nvPr/>
        </p:nvCxnSpPr>
        <p:spPr>
          <a:xfrm>
            <a:off x="685800" y="2788920"/>
            <a:ext cx="7772400" cy="0"/>
          </a:xfrm>
          <a:prstGeom prst="straightConnector1">
            <a:avLst/>
          </a:prstGeom>
          <a:noFill/>
          <a:ln cap="flat" cmpd="sng" w="9525">
            <a:solidFill>
              <a:srgbClr val="D0D0DA"/>
            </a:solidFill>
            <a:prstDash val="solid"/>
            <a:round/>
            <a:headEnd len="sm" w="sm" type="none"/>
            <a:tailEnd len="sm" w="sm" type="none"/>
          </a:ln>
        </p:spPr>
      </p:cxnSp>
      <p:sp>
        <p:nvSpPr>
          <p:cNvPr id="257" name="Google Shape;257;p14"/>
          <p:cNvSpPr/>
          <p:nvPr/>
        </p:nvSpPr>
        <p:spPr>
          <a:xfrm>
            <a:off x="685800" y="2880360"/>
            <a:ext cx="7772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US" sz="1400" u="none" cap="none" strike="noStrike">
                <a:solidFill>
                  <a:srgbClr val="2D2D3D"/>
                </a:solidFill>
                <a:latin typeface="Calibri"/>
                <a:ea typeface="Calibri"/>
                <a:cs typeface="Calibri"/>
                <a:sym typeface="Calibri"/>
              </a:rPr>
              <a:t>Apply the "new colleague" test</a:t>
            </a:r>
            <a:endParaRPr b="0" i="0" sz="1400" u="none" cap="none" strike="noStrike">
              <a:solidFill>
                <a:schemeClr val="dk1"/>
              </a:solidFill>
              <a:latin typeface="Calibri"/>
              <a:ea typeface="Calibri"/>
              <a:cs typeface="Calibri"/>
              <a:sym typeface="Calibri"/>
            </a:endParaRPr>
          </a:p>
        </p:txBody>
      </p:sp>
      <p:sp>
        <p:nvSpPr>
          <p:cNvPr id="258" name="Google Shape;258;p14"/>
          <p:cNvSpPr/>
          <p:nvPr/>
        </p:nvSpPr>
        <p:spPr>
          <a:xfrm>
            <a:off x="685800" y="3154680"/>
            <a:ext cx="7772400"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6B6B7B"/>
              </a:buClr>
              <a:buSzPts val="1200"/>
              <a:buFont typeface="Calibri"/>
              <a:buNone/>
            </a:pPr>
            <a:r>
              <a:rPr b="0" i="1" lang="en-US" sz="1200" u="none" cap="none" strike="noStrike">
                <a:solidFill>
                  <a:srgbClr val="6B6B7B"/>
                </a:solidFill>
                <a:latin typeface="Calibri"/>
                <a:ea typeface="Calibri"/>
                <a:cs typeface="Calibri"/>
                <a:sym typeface="Calibri"/>
              </a:rPr>
              <a:t>Would you send a new team member's first draft straight to a client? Give AI output the same review.</a:t>
            </a:r>
            <a:endParaRPr b="0" i="0" sz="1200" u="none" cap="none" strike="noStrike">
              <a:solidFill>
                <a:schemeClr val="dk1"/>
              </a:solidFill>
              <a:latin typeface="Calibri"/>
              <a:ea typeface="Calibri"/>
              <a:cs typeface="Calibri"/>
              <a:sym typeface="Calibri"/>
            </a:endParaRPr>
          </a:p>
        </p:txBody>
      </p:sp>
      <p:cxnSp>
        <p:nvCxnSpPr>
          <p:cNvPr id="259" name="Google Shape;259;p14"/>
          <p:cNvCxnSpPr/>
          <p:nvPr/>
        </p:nvCxnSpPr>
        <p:spPr>
          <a:xfrm>
            <a:off x="685800" y="3657600"/>
            <a:ext cx="7772400" cy="0"/>
          </a:xfrm>
          <a:prstGeom prst="straightConnector1">
            <a:avLst/>
          </a:prstGeom>
          <a:noFill/>
          <a:ln cap="flat" cmpd="sng" w="9525">
            <a:solidFill>
              <a:srgbClr val="D0D0DA"/>
            </a:solidFill>
            <a:prstDash val="solid"/>
            <a:round/>
            <a:headEnd len="sm" w="sm" type="none"/>
            <a:tailEnd len="sm" w="sm" type="none"/>
          </a:ln>
        </p:spPr>
      </p:cxnSp>
      <p:sp>
        <p:nvSpPr>
          <p:cNvPr id="260" name="Google Shape;260;p14"/>
          <p:cNvSpPr/>
          <p:nvPr/>
        </p:nvSpPr>
        <p:spPr>
          <a:xfrm>
            <a:off x="685800" y="3749040"/>
            <a:ext cx="7772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400"/>
              <a:buFont typeface="Calibri"/>
              <a:buNone/>
            </a:pPr>
            <a:r>
              <a:rPr b="1" i="0" lang="en-US" sz="1400" u="none" cap="none" strike="noStrike">
                <a:solidFill>
                  <a:srgbClr val="2D2D3D"/>
                </a:solidFill>
                <a:latin typeface="Calibri"/>
                <a:ea typeface="Calibri"/>
                <a:cs typeface="Calibri"/>
                <a:sym typeface="Calibri"/>
              </a:rPr>
              <a:t>Separate "sounds right" from "is right"</a:t>
            </a:r>
            <a:endParaRPr b="0" i="0" sz="1400" u="none" cap="none" strike="noStrike">
              <a:solidFill>
                <a:schemeClr val="dk1"/>
              </a:solidFill>
              <a:latin typeface="Calibri"/>
              <a:ea typeface="Calibri"/>
              <a:cs typeface="Calibri"/>
              <a:sym typeface="Calibri"/>
            </a:endParaRPr>
          </a:p>
        </p:txBody>
      </p:sp>
      <p:sp>
        <p:nvSpPr>
          <p:cNvPr id="261" name="Google Shape;261;p14"/>
          <p:cNvSpPr/>
          <p:nvPr/>
        </p:nvSpPr>
        <p:spPr>
          <a:xfrm>
            <a:off x="685800" y="4023360"/>
            <a:ext cx="7772400"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6B6B7B"/>
              </a:buClr>
              <a:buSzPts val="1200"/>
              <a:buFont typeface="Calibri"/>
              <a:buNone/>
            </a:pPr>
            <a:r>
              <a:rPr b="0" i="1" lang="en-US" sz="1200" u="none" cap="none" strike="noStrike">
                <a:solidFill>
                  <a:srgbClr val="6B6B7B"/>
                </a:solidFill>
                <a:latin typeface="Calibri"/>
                <a:ea typeface="Calibri"/>
                <a:cs typeface="Calibri"/>
                <a:sym typeface="Calibri"/>
              </a:rPr>
              <a:t>Polished language increases trust — researchers call this the fluency trap. Awareness is most of the battle.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6" name="Shape 266"/>
        <p:cNvGrpSpPr/>
        <p:nvPr/>
      </p:nvGrpSpPr>
      <p:grpSpPr>
        <a:xfrm>
          <a:off x="0" y="0"/>
          <a:ext cx="0" cy="0"/>
          <a:chOff x="0" y="0"/>
          <a:chExt cx="0" cy="0"/>
        </a:xfrm>
      </p:grpSpPr>
      <p:cxnSp>
        <p:nvCxnSpPr>
          <p:cNvPr id="267" name="Google Shape;267;p15"/>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268" name="Google Shape;268;p15"/>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
        <p:nvSpPr>
          <p:cNvPr id="269" name="Google Shape;269;p15"/>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270" name="Google Shape;270;p15"/>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US" sz="2000" u="none" cap="none" strike="noStrike">
                <a:solidFill>
                  <a:srgbClr val="2D2D3D"/>
                </a:solidFill>
                <a:latin typeface="Calibri"/>
                <a:ea typeface="Calibri"/>
                <a:cs typeface="Calibri"/>
                <a:sym typeface="Calibri"/>
              </a:rPr>
              <a:t>Long conversations drift — know when to start a clean session</a:t>
            </a:r>
            <a:endParaRPr b="0" i="0" sz="2000" u="none" cap="none" strike="noStrike">
              <a:solidFill>
                <a:schemeClr val="dk1"/>
              </a:solidFill>
              <a:latin typeface="Calibri"/>
              <a:ea typeface="Calibri"/>
              <a:cs typeface="Calibri"/>
              <a:sym typeface="Calibri"/>
            </a:endParaRPr>
          </a:p>
        </p:txBody>
      </p:sp>
      <p:cxnSp>
        <p:nvCxnSpPr>
          <p:cNvPr id="271" name="Google Shape;271;p15"/>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272" name="Google Shape;272;p15"/>
          <p:cNvSpPr/>
          <p:nvPr/>
        </p:nvSpPr>
        <p:spPr>
          <a:xfrm>
            <a:off x="685800" y="1097280"/>
            <a:ext cx="77724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45000"/>
              </a:lnSpc>
              <a:spcBef>
                <a:spcPts val="0"/>
              </a:spcBef>
              <a:spcAft>
                <a:spcPts val="0"/>
              </a:spcAft>
              <a:buClr>
                <a:srgbClr val="3A3A4A"/>
              </a:buClr>
              <a:buSzPts val="1400"/>
              <a:buFont typeface="Calibri"/>
              <a:buNone/>
            </a:pPr>
            <a:r>
              <a:rPr b="0" i="0" lang="en-US" sz="1400" u="none" cap="none" strike="noStrike">
                <a:solidFill>
                  <a:srgbClr val="3A3A4A"/>
                </a:solidFill>
                <a:latin typeface="Calibri"/>
                <a:ea typeface="Calibri"/>
                <a:cs typeface="Calibri"/>
                <a:sym typeface="Calibri"/>
              </a:rPr>
              <a:t>After 15–20 exchanges, AI is carrying dead ends, wrong turns, and abandoned ideas. All of that influences what it says next. It's like whiteboarding for an hour — eventually the board is too full to see clearly.</a:t>
            </a:r>
            <a:endParaRPr b="0" i="0" sz="1400" u="none" cap="none" strike="noStrike">
              <a:solidFill>
                <a:schemeClr val="dk1"/>
              </a:solidFill>
              <a:latin typeface="Calibri"/>
              <a:ea typeface="Calibri"/>
              <a:cs typeface="Calibri"/>
              <a:sym typeface="Calibri"/>
            </a:endParaRPr>
          </a:p>
        </p:txBody>
      </p:sp>
      <p:sp>
        <p:nvSpPr>
          <p:cNvPr id="273" name="Google Shape;273;p15"/>
          <p:cNvSpPr/>
          <p:nvPr/>
        </p:nvSpPr>
        <p:spPr>
          <a:xfrm>
            <a:off x="685800" y="2011680"/>
            <a:ext cx="3657600" cy="36576"/>
          </a:xfrm>
          <a:prstGeom prst="rect">
            <a:avLst/>
          </a:prstGeom>
          <a:solidFill>
            <a:srgbClr val="0096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5"/>
          <p:cNvSpPr/>
          <p:nvPr/>
        </p:nvSpPr>
        <p:spPr>
          <a:xfrm>
            <a:off x="685800" y="2194560"/>
            <a:ext cx="3657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967D"/>
              </a:buClr>
              <a:buSzPts val="1400"/>
              <a:buFont typeface="Calibri"/>
              <a:buNone/>
            </a:pPr>
            <a:r>
              <a:rPr b="1" i="0" lang="en-US" sz="1400" u="none" cap="none" strike="noStrike">
                <a:solidFill>
                  <a:srgbClr val="00967D"/>
                </a:solidFill>
                <a:latin typeface="Calibri"/>
                <a:ea typeface="Calibri"/>
                <a:cs typeface="Calibri"/>
                <a:sym typeface="Calibri"/>
              </a:rPr>
              <a:t>Phase 1: Discovery</a:t>
            </a:r>
            <a:endParaRPr b="0" i="0" sz="1400" u="none" cap="none" strike="noStrike">
              <a:solidFill>
                <a:schemeClr val="dk1"/>
              </a:solidFill>
              <a:latin typeface="Calibri"/>
              <a:ea typeface="Calibri"/>
              <a:cs typeface="Calibri"/>
              <a:sym typeface="Calibri"/>
            </a:endParaRPr>
          </a:p>
        </p:txBody>
      </p:sp>
      <p:sp>
        <p:nvSpPr>
          <p:cNvPr id="275" name="Google Shape;275;p15"/>
          <p:cNvSpPr/>
          <p:nvPr/>
        </p:nvSpPr>
        <p:spPr>
          <a:xfrm>
            <a:off x="685800" y="2560320"/>
            <a:ext cx="3657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3A3A4A"/>
              </a:buClr>
              <a:buSzPts val="1300"/>
              <a:buFont typeface="Calibri"/>
              <a:buNone/>
            </a:pPr>
            <a:r>
              <a:rPr b="0" i="0" lang="en-US" sz="1300" u="none" cap="none" strike="noStrike">
                <a:solidFill>
                  <a:srgbClr val="3A3A4A"/>
                </a:solidFill>
                <a:latin typeface="Calibri"/>
                <a:ea typeface="Calibri"/>
                <a:cs typeface="Calibri"/>
                <a:sym typeface="Calibri"/>
              </a:rPr>
              <a:t>Messy, exploratory, open-ended.</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3A3A4A"/>
              </a:buClr>
              <a:buSzPts val="1300"/>
              <a:buFont typeface="Calibri"/>
              <a:buNone/>
            </a:pPr>
            <a:r>
              <a:rPr b="0" i="0" lang="en-US" sz="1300" u="none" cap="none" strike="noStrike">
                <a:solidFill>
                  <a:srgbClr val="3A3A4A"/>
                </a:solidFill>
                <a:latin typeface="Calibri"/>
                <a:ea typeface="Calibri"/>
                <a:cs typeface="Calibri"/>
                <a:sym typeface="Calibri"/>
              </a:rPr>
              <a:t>Bounce ideas. Explore angles.</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3A3A4A"/>
              </a:buClr>
              <a:buSzPts val="1300"/>
              <a:buFont typeface="Calibri"/>
              <a:buNone/>
            </a:pPr>
            <a:r>
              <a:rPr b="0" i="0" lang="en-US" sz="1300" u="none" cap="none" strike="noStrike">
                <a:solidFill>
                  <a:srgbClr val="3A3A4A"/>
                </a:solidFill>
                <a:latin typeface="Calibri"/>
                <a:ea typeface="Calibri"/>
                <a:cs typeface="Calibri"/>
                <a:sym typeface="Calibri"/>
              </a:rPr>
              <a:t>Figure out what you actually want.</a:t>
            </a:r>
            <a:endParaRPr b="0" i="0" sz="1300" u="none" cap="none" strike="noStrike">
              <a:solidFill>
                <a:schemeClr val="dk1"/>
              </a:solidFill>
              <a:latin typeface="Calibri"/>
              <a:ea typeface="Calibri"/>
              <a:cs typeface="Calibri"/>
              <a:sym typeface="Calibri"/>
            </a:endParaRPr>
          </a:p>
        </p:txBody>
      </p:sp>
      <p:sp>
        <p:nvSpPr>
          <p:cNvPr id="276" name="Google Shape;276;p15"/>
          <p:cNvSpPr/>
          <p:nvPr/>
        </p:nvSpPr>
        <p:spPr>
          <a:xfrm>
            <a:off x="4206240" y="2468880"/>
            <a:ext cx="731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999A8"/>
              </a:buClr>
              <a:buSzPts val="2400"/>
              <a:buFont typeface="Calibri"/>
              <a:buNone/>
            </a:pPr>
            <a:r>
              <a:rPr b="0" i="0" lang="en-US" sz="2400" u="none" cap="none" strike="noStrike">
                <a:solidFill>
                  <a:srgbClr val="9999A8"/>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277" name="Google Shape;277;p15"/>
          <p:cNvSpPr/>
          <p:nvPr/>
        </p:nvSpPr>
        <p:spPr>
          <a:xfrm>
            <a:off x="4800600" y="2011680"/>
            <a:ext cx="3657600" cy="36576"/>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5"/>
          <p:cNvSpPr/>
          <p:nvPr/>
        </p:nvSpPr>
        <p:spPr>
          <a:xfrm>
            <a:off x="4800600" y="2194560"/>
            <a:ext cx="3657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400"/>
              <a:buFont typeface="Calibri"/>
              <a:buNone/>
            </a:pPr>
            <a:r>
              <a:rPr b="1" i="0" lang="en-US" sz="1400" u="none" cap="none" strike="noStrike">
                <a:solidFill>
                  <a:srgbClr val="136EF6"/>
                </a:solidFill>
                <a:latin typeface="Calibri"/>
                <a:ea typeface="Calibri"/>
                <a:cs typeface="Calibri"/>
                <a:sym typeface="Calibri"/>
              </a:rPr>
              <a:t>Phase 2: Production</a:t>
            </a:r>
            <a:endParaRPr b="0" i="0" sz="1400" u="none" cap="none" strike="noStrike">
              <a:solidFill>
                <a:schemeClr val="dk1"/>
              </a:solidFill>
              <a:latin typeface="Calibri"/>
              <a:ea typeface="Calibri"/>
              <a:cs typeface="Calibri"/>
              <a:sym typeface="Calibri"/>
            </a:endParaRPr>
          </a:p>
        </p:txBody>
      </p:sp>
      <p:sp>
        <p:nvSpPr>
          <p:cNvPr id="279" name="Google Shape;279;p15"/>
          <p:cNvSpPr/>
          <p:nvPr/>
        </p:nvSpPr>
        <p:spPr>
          <a:xfrm>
            <a:off x="4800600" y="2560320"/>
            <a:ext cx="3657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3A3A4A"/>
              </a:buClr>
              <a:buSzPts val="1300"/>
              <a:buFont typeface="Calibri"/>
              <a:buNone/>
            </a:pPr>
            <a:r>
              <a:rPr b="0" i="0" lang="en-US" sz="1300" u="none" cap="none" strike="noStrike">
                <a:solidFill>
                  <a:srgbClr val="3A3A4A"/>
                </a:solidFill>
                <a:latin typeface="Calibri"/>
                <a:ea typeface="Calibri"/>
                <a:cs typeface="Calibri"/>
                <a:sym typeface="Calibri"/>
              </a:rPr>
              <a:t>Clean, focused, specific.</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3A3A4A"/>
              </a:buClr>
              <a:buSzPts val="1300"/>
              <a:buFont typeface="Calibri"/>
              <a:buNone/>
            </a:pPr>
            <a:r>
              <a:rPr b="0" i="0" lang="en-US" sz="1300" u="none" cap="none" strike="noStrike">
                <a:solidFill>
                  <a:srgbClr val="3A3A4A"/>
                </a:solidFill>
                <a:latin typeface="Calibri"/>
                <a:ea typeface="Calibri"/>
                <a:cs typeface="Calibri"/>
                <a:sym typeface="Calibri"/>
              </a:rPr>
              <a:t>New conversation with a refined brief.</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3A3A4A"/>
              </a:buClr>
              <a:buSzPts val="1300"/>
              <a:buFont typeface="Calibri"/>
              <a:buNone/>
            </a:pPr>
            <a:r>
              <a:rPr b="0" i="0" lang="en-US" sz="1300" u="none" cap="none" strike="noStrike">
                <a:solidFill>
                  <a:srgbClr val="3A3A4A"/>
                </a:solidFill>
                <a:latin typeface="Calibri"/>
                <a:ea typeface="Calibri"/>
                <a:cs typeface="Calibri"/>
                <a:sym typeface="Calibri"/>
              </a:rPr>
              <a:t>Get the final output.</a:t>
            </a:r>
            <a:endParaRPr b="0" i="0" sz="1300" u="none" cap="none" strike="noStrike">
              <a:solidFill>
                <a:schemeClr val="dk1"/>
              </a:solidFill>
              <a:latin typeface="Calibri"/>
              <a:ea typeface="Calibri"/>
              <a:cs typeface="Calibri"/>
              <a:sym typeface="Calibri"/>
            </a:endParaRPr>
          </a:p>
        </p:txBody>
      </p:sp>
      <p:sp>
        <p:nvSpPr>
          <p:cNvPr id="280" name="Google Shape;280;p15"/>
          <p:cNvSpPr/>
          <p:nvPr/>
        </p:nvSpPr>
        <p:spPr>
          <a:xfrm>
            <a:off x="685800" y="3749040"/>
            <a:ext cx="7772400" cy="54864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5"/>
          <p:cNvSpPr/>
          <p:nvPr/>
        </p:nvSpPr>
        <p:spPr>
          <a:xfrm>
            <a:off x="685800" y="3749040"/>
            <a:ext cx="41148" cy="54864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5"/>
          <p:cNvSpPr/>
          <p:nvPr/>
        </p:nvSpPr>
        <p:spPr>
          <a:xfrm>
            <a:off x="868680" y="3840480"/>
            <a:ext cx="7452360" cy="36576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3D"/>
              </a:buClr>
              <a:buSzPts val="1300"/>
              <a:buFont typeface="Calibri"/>
              <a:buNone/>
            </a:pPr>
            <a:r>
              <a:rPr b="0" i="0" lang="en-US" sz="1300" u="none" cap="none" strike="noStrike">
                <a:solidFill>
                  <a:srgbClr val="2D2D3D"/>
                </a:solidFill>
                <a:latin typeface="Calibri"/>
                <a:ea typeface="Calibri"/>
                <a:cs typeface="Calibri"/>
                <a:sym typeface="Calibri"/>
              </a:rPr>
              <a:t>Once you've found your direction, start a new conversation. Bring your clarity into a clean session. Clean input, clean output.</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 name="Shape 287"/>
        <p:cNvGrpSpPr/>
        <p:nvPr/>
      </p:nvGrpSpPr>
      <p:grpSpPr>
        <a:xfrm>
          <a:off x="0" y="0"/>
          <a:ext cx="0" cy="0"/>
          <a:chOff x="0" y="0"/>
          <a:chExt cx="0" cy="0"/>
        </a:xfrm>
      </p:grpSpPr>
      <p:cxnSp>
        <p:nvCxnSpPr>
          <p:cNvPr id="288" name="Google Shape;288;p16"/>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289" name="Google Shape;289;p16"/>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
        <p:nvSpPr>
          <p:cNvPr id="290" name="Google Shape;290;p16"/>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291" name="Google Shape;291;p16"/>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US" sz="2000" u="none" cap="none" strike="noStrike">
                <a:solidFill>
                  <a:srgbClr val="2D2D3D"/>
                </a:solidFill>
                <a:latin typeface="Calibri"/>
                <a:ea typeface="Calibri"/>
                <a:cs typeface="Calibri"/>
                <a:sym typeface="Calibri"/>
              </a:rPr>
              <a:t>Your domain expertise is your most reliable quality filter</a:t>
            </a:r>
            <a:endParaRPr b="0" i="0" sz="2000" u="none" cap="none" strike="noStrike">
              <a:solidFill>
                <a:schemeClr val="dk1"/>
              </a:solidFill>
              <a:latin typeface="Calibri"/>
              <a:ea typeface="Calibri"/>
              <a:cs typeface="Calibri"/>
              <a:sym typeface="Calibri"/>
            </a:endParaRPr>
          </a:p>
        </p:txBody>
      </p:sp>
      <p:cxnSp>
        <p:nvCxnSpPr>
          <p:cNvPr id="292" name="Google Shape;292;p16"/>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293" name="Google Shape;293;p16"/>
          <p:cNvSpPr/>
          <p:nvPr/>
        </p:nvSpPr>
        <p:spPr>
          <a:xfrm>
            <a:off x="685800" y="1143000"/>
            <a:ext cx="777240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3A3A4A"/>
              </a:buClr>
              <a:buSzPts val="1400"/>
              <a:buFont typeface="Calibri"/>
              <a:buNone/>
            </a:pPr>
            <a:r>
              <a:rPr b="0" i="0" lang="en-US" sz="1400" u="none" cap="none" strike="noStrike">
                <a:solidFill>
                  <a:srgbClr val="3A3A4A"/>
                </a:solidFill>
                <a:latin typeface="Calibri"/>
                <a:ea typeface="Calibri"/>
                <a:cs typeface="Calibri"/>
                <a:sym typeface="Calibri"/>
              </a:rPr>
              <a:t>AI doesn't know your merchants, your market, your team dynamics, or the history behind why things are the way they are.</a:t>
            </a:r>
            <a:endParaRPr b="0" i="0" sz="1400" u="none" cap="none" strike="noStrike">
              <a:solidFill>
                <a:schemeClr val="dk1"/>
              </a:solidFill>
              <a:latin typeface="Calibri"/>
              <a:ea typeface="Calibri"/>
              <a:cs typeface="Calibri"/>
              <a:sym typeface="Calibri"/>
            </a:endParaRPr>
          </a:p>
        </p:txBody>
      </p:sp>
      <p:sp>
        <p:nvSpPr>
          <p:cNvPr id="294" name="Google Shape;294;p16"/>
          <p:cNvSpPr/>
          <p:nvPr/>
        </p:nvSpPr>
        <p:spPr>
          <a:xfrm>
            <a:off x="685800" y="1645920"/>
            <a:ext cx="7772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2200"/>
              <a:buFont typeface="Georgia"/>
              <a:buNone/>
            </a:pPr>
            <a:r>
              <a:rPr b="1" i="0" lang="en-US" sz="2200" u="none" cap="none" strike="noStrike">
                <a:solidFill>
                  <a:srgbClr val="136EF6"/>
                </a:solidFill>
                <a:latin typeface="Georgia"/>
                <a:ea typeface="Georgia"/>
                <a:cs typeface="Georgia"/>
                <a:sym typeface="Georgia"/>
              </a:rPr>
              <a:t>You do.</a:t>
            </a:r>
            <a:endParaRPr b="0" i="0" sz="2200" u="none" cap="none" strike="noStrike">
              <a:solidFill>
                <a:schemeClr val="dk1"/>
              </a:solidFill>
              <a:latin typeface="Calibri"/>
              <a:ea typeface="Calibri"/>
              <a:cs typeface="Calibri"/>
              <a:sym typeface="Calibri"/>
            </a:endParaRPr>
          </a:p>
        </p:txBody>
      </p:sp>
      <p:sp>
        <p:nvSpPr>
          <p:cNvPr id="295" name="Google Shape;295;p16"/>
          <p:cNvSpPr/>
          <p:nvPr/>
        </p:nvSpPr>
        <p:spPr>
          <a:xfrm>
            <a:off x="685800" y="2286000"/>
            <a:ext cx="7772400" cy="1188720"/>
          </a:xfrm>
          <a:prstGeom prst="rect">
            <a:avLst/>
          </a:prstGeom>
          <a:noFill/>
          <a:ln>
            <a:noFill/>
          </a:ln>
        </p:spPr>
        <p:txBody>
          <a:bodyPr anchorCtr="0" anchor="ctr" bIns="45700" lIns="91425" spcFirstLastPara="1" rIns="91425" wrap="square" tIns="45700">
            <a:noAutofit/>
          </a:bodyPr>
          <a:lstStyle/>
          <a:p>
            <a:pPr indent="0" lvl="0" marL="0" marR="0" rtl="0" algn="l">
              <a:lnSpc>
                <a:spcPct val="145000"/>
              </a:lnSpc>
              <a:spcBef>
                <a:spcPts val="0"/>
              </a:spcBef>
              <a:spcAft>
                <a:spcPts val="0"/>
              </a:spcAft>
              <a:buClr>
                <a:srgbClr val="3A3A4A"/>
              </a:buClr>
              <a:buSzPts val="1400"/>
              <a:buFont typeface="Calibri"/>
              <a:buNone/>
            </a:pPr>
            <a:r>
              <a:rPr b="0" i="0" lang="en-US" sz="1400" u="none" cap="none" strike="noStrike">
                <a:solidFill>
                  <a:srgbClr val="3A3A4A"/>
                </a:solidFill>
                <a:latin typeface="Calibri"/>
                <a:ea typeface="Calibri"/>
                <a:cs typeface="Calibri"/>
                <a:sym typeface="Calibri"/>
              </a:rPr>
              <a:t>When something in an AI response doesn't match your experience, trust your experience first and ask AI to explain the gap. More often than not, your gut was right and AI was filling in blanks.</a:t>
            </a:r>
            <a:endParaRPr b="0" i="0" sz="14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a:p>
            <a:pPr indent="0" lvl="0" marL="0" marR="0" rtl="0" algn="l">
              <a:lnSpc>
                <a:spcPct val="145000"/>
              </a:lnSpc>
              <a:spcBef>
                <a:spcPts val="0"/>
              </a:spcBef>
              <a:spcAft>
                <a:spcPts val="0"/>
              </a:spcAft>
              <a:buClr>
                <a:srgbClr val="3A3A4A"/>
              </a:buClr>
              <a:buSzPts val="1400"/>
              <a:buFont typeface="Calibri"/>
              <a:buNone/>
            </a:pPr>
            <a:r>
              <a:rPr b="0" i="0" lang="en-US" sz="1400" u="none" cap="none" strike="noStrike">
                <a:solidFill>
                  <a:srgbClr val="3A3A4A"/>
                </a:solidFill>
                <a:latin typeface="Calibri"/>
                <a:ea typeface="Calibri"/>
                <a:cs typeface="Calibri"/>
                <a:sym typeface="Calibri"/>
              </a:rPr>
              <a:t>AI output is only as trustworthy as your ability to evaluate it. In your area of expertise, that ability is high. Lean on it.</a:t>
            </a:r>
            <a:endParaRPr b="0" i="0" sz="1400" u="none" cap="none" strike="noStrike">
              <a:solidFill>
                <a:schemeClr val="dk1"/>
              </a:solidFill>
              <a:latin typeface="Calibri"/>
              <a:ea typeface="Calibri"/>
              <a:cs typeface="Calibri"/>
              <a:sym typeface="Calibri"/>
            </a:endParaRPr>
          </a:p>
        </p:txBody>
      </p:sp>
      <p:sp>
        <p:nvSpPr>
          <p:cNvPr id="296" name="Google Shape;296;p16"/>
          <p:cNvSpPr/>
          <p:nvPr/>
        </p:nvSpPr>
        <p:spPr>
          <a:xfrm>
            <a:off x="685800" y="3840480"/>
            <a:ext cx="7772400" cy="54864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6"/>
          <p:cNvSpPr/>
          <p:nvPr/>
        </p:nvSpPr>
        <p:spPr>
          <a:xfrm>
            <a:off x="685800" y="3840480"/>
            <a:ext cx="41148" cy="548640"/>
          </a:xfrm>
          <a:prstGeom prst="rect">
            <a:avLst/>
          </a:prstGeom>
          <a:solidFill>
            <a:srgbClr val="0096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6"/>
          <p:cNvSpPr/>
          <p:nvPr/>
        </p:nvSpPr>
        <p:spPr>
          <a:xfrm>
            <a:off x="868680" y="3931920"/>
            <a:ext cx="7452360" cy="36576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3D"/>
              </a:buClr>
              <a:buSzPts val="1600"/>
              <a:buFont typeface="Calibri"/>
              <a:buNone/>
            </a:pPr>
            <a:r>
              <a:rPr b="0" i="0" lang="en-US" sz="1600" u="none" cap="none" strike="noStrike">
                <a:solidFill>
                  <a:srgbClr val="2D2D3D"/>
                </a:solidFill>
                <a:latin typeface="Calibri"/>
                <a:ea typeface="Calibri"/>
                <a:cs typeface="Calibri"/>
                <a:sym typeface="Calibri"/>
              </a:rPr>
              <a:t>Use AI to augment your judgment, not replace it.</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2D3D"/>
        </a:solidFill>
      </p:bgPr>
    </p:bg>
    <p:spTree>
      <p:nvGrpSpPr>
        <p:cNvPr id="303" name="Shape 303"/>
        <p:cNvGrpSpPr/>
        <p:nvPr/>
      </p:nvGrpSpPr>
      <p:grpSpPr>
        <a:xfrm>
          <a:off x="0" y="0"/>
          <a:ext cx="0" cy="0"/>
          <a:chOff x="0" y="0"/>
          <a:chExt cx="0" cy="0"/>
        </a:xfrm>
      </p:grpSpPr>
      <p:sp>
        <p:nvSpPr>
          <p:cNvPr id="304" name="Google Shape;304;p17"/>
          <p:cNvSpPr/>
          <p:nvPr/>
        </p:nvSpPr>
        <p:spPr>
          <a:xfrm>
            <a:off x="685800" y="320040"/>
            <a:ext cx="7772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Georgia"/>
              <a:buNone/>
            </a:pPr>
            <a:r>
              <a:rPr b="1" i="0" lang="en-US" sz="2200" u="none" cap="none" strike="noStrike">
                <a:solidFill>
                  <a:srgbClr val="FFFFFF"/>
                </a:solidFill>
                <a:latin typeface="Georgia"/>
                <a:ea typeface="Georgia"/>
                <a:cs typeface="Georgia"/>
                <a:sym typeface="Georgia"/>
              </a:rPr>
              <a:t>The Five Habits</a:t>
            </a:r>
            <a:endParaRPr b="0" i="0" sz="2200" u="none" cap="none" strike="noStrike">
              <a:solidFill>
                <a:schemeClr val="dk1"/>
              </a:solidFill>
              <a:latin typeface="Calibri"/>
              <a:ea typeface="Calibri"/>
              <a:cs typeface="Calibri"/>
              <a:sym typeface="Calibri"/>
            </a:endParaRPr>
          </a:p>
        </p:txBody>
      </p:sp>
      <p:cxnSp>
        <p:nvCxnSpPr>
          <p:cNvPr id="305" name="Google Shape;305;p17"/>
          <p:cNvCxnSpPr/>
          <p:nvPr/>
        </p:nvCxnSpPr>
        <p:spPr>
          <a:xfrm>
            <a:off x="685800" y="822960"/>
            <a:ext cx="731520" cy="0"/>
          </a:xfrm>
          <a:prstGeom prst="straightConnector1">
            <a:avLst/>
          </a:prstGeom>
          <a:noFill/>
          <a:ln cap="flat" cmpd="sng" w="25400">
            <a:solidFill>
              <a:srgbClr val="136EF6"/>
            </a:solidFill>
            <a:prstDash val="solid"/>
            <a:round/>
            <a:headEnd len="sm" w="sm" type="none"/>
            <a:tailEnd len="sm" w="sm" type="none"/>
          </a:ln>
        </p:spPr>
      </p:cxnSp>
      <p:sp>
        <p:nvSpPr>
          <p:cNvPr id="306" name="Google Shape;306;p17"/>
          <p:cNvSpPr/>
          <p:nvPr/>
        </p:nvSpPr>
        <p:spPr>
          <a:xfrm>
            <a:off x="685800" y="1143000"/>
            <a:ext cx="457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600"/>
              <a:buFont typeface="Georgia"/>
              <a:buNone/>
            </a:pPr>
            <a:r>
              <a:rPr b="1" i="0" lang="en-US" sz="1600" u="none" cap="none" strike="noStrike">
                <a:solidFill>
                  <a:srgbClr val="136EF6"/>
                </a:solidFill>
                <a:latin typeface="Georgia"/>
                <a:ea typeface="Georgia"/>
                <a:cs typeface="Georgia"/>
                <a:sym typeface="Georgia"/>
              </a:rPr>
              <a:t>01</a:t>
            </a:r>
            <a:endParaRPr b="0" i="0" sz="1600" u="none" cap="none" strike="noStrike">
              <a:solidFill>
                <a:schemeClr val="dk1"/>
              </a:solidFill>
              <a:latin typeface="Calibri"/>
              <a:ea typeface="Calibri"/>
              <a:cs typeface="Calibri"/>
              <a:sym typeface="Calibri"/>
            </a:endParaRPr>
          </a:p>
        </p:txBody>
      </p:sp>
      <p:sp>
        <p:nvSpPr>
          <p:cNvPr id="307" name="Google Shape;307;p17"/>
          <p:cNvSpPr/>
          <p:nvPr/>
        </p:nvSpPr>
        <p:spPr>
          <a:xfrm>
            <a:off x="1280160" y="1097280"/>
            <a:ext cx="7178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Start the journey together</a:t>
            </a:r>
            <a:endParaRPr b="0" i="0" sz="1500" u="none" cap="none" strike="noStrike">
              <a:solidFill>
                <a:schemeClr val="dk1"/>
              </a:solidFill>
              <a:latin typeface="Calibri"/>
              <a:ea typeface="Calibri"/>
              <a:cs typeface="Calibri"/>
              <a:sym typeface="Calibri"/>
            </a:endParaRPr>
          </a:p>
        </p:txBody>
      </p:sp>
      <p:sp>
        <p:nvSpPr>
          <p:cNvPr id="308" name="Google Shape;308;p17"/>
          <p:cNvSpPr/>
          <p:nvPr/>
        </p:nvSpPr>
        <p:spPr>
          <a:xfrm>
            <a:off x="1280160" y="1399032"/>
            <a:ext cx="7178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200"/>
              <a:buFont typeface="Calibri"/>
              <a:buNone/>
            </a:pPr>
            <a:r>
              <a:rPr b="0" i="0" lang="en-US" sz="1200" u="none" cap="none" strike="noStrike">
                <a:solidFill>
                  <a:srgbClr val="9999A8"/>
                </a:solidFill>
                <a:latin typeface="Calibri"/>
                <a:ea typeface="Calibri"/>
                <a:cs typeface="Calibri"/>
                <a:sym typeface="Calibri"/>
              </a:rPr>
              <a:t>You don't need the perfect question. Let AI help you find the right direction.</a:t>
            </a:r>
            <a:endParaRPr b="0" i="0" sz="1200" u="none" cap="none" strike="noStrike">
              <a:solidFill>
                <a:schemeClr val="dk1"/>
              </a:solidFill>
              <a:latin typeface="Calibri"/>
              <a:ea typeface="Calibri"/>
              <a:cs typeface="Calibri"/>
              <a:sym typeface="Calibri"/>
            </a:endParaRPr>
          </a:p>
        </p:txBody>
      </p:sp>
      <p:cxnSp>
        <p:nvCxnSpPr>
          <p:cNvPr id="309" name="Google Shape;309;p17"/>
          <p:cNvCxnSpPr/>
          <p:nvPr/>
        </p:nvCxnSpPr>
        <p:spPr>
          <a:xfrm>
            <a:off x="685800" y="1755648"/>
            <a:ext cx="7772400" cy="0"/>
          </a:xfrm>
          <a:prstGeom prst="straightConnector1">
            <a:avLst/>
          </a:prstGeom>
          <a:noFill/>
          <a:ln cap="flat" cmpd="sng" w="9525">
            <a:solidFill>
              <a:srgbClr val="3A3A4A"/>
            </a:solidFill>
            <a:prstDash val="solid"/>
            <a:round/>
            <a:headEnd len="sm" w="sm" type="none"/>
            <a:tailEnd len="sm" w="sm" type="none"/>
          </a:ln>
        </p:spPr>
      </p:cxnSp>
      <p:sp>
        <p:nvSpPr>
          <p:cNvPr id="310" name="Google Shape;310;p17"/>
          <p:cNvSpPr/>
          <p:nvPr/>
        </p:nvSpPr>
        <p:spPr>
          <a:xfrm>
            <a:off x="685800" y="1892808"/>
            <a:ext cx="457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600"/>
              <a:buFont typeface="Georgia"/>
              <a:buNone/>
            </a:pPr>
            <a:r>
              <a:rPr b="1" i="0" lang="en-US" sz="1600" u="none" cap="none" strike="noStrike">
                <a:solidFill>
                  <a:srgbClr val="136EF6"/>
                </a:solidFill>
                <a:latin typeface="Georgia"/>
                <a:ea typeface="Georgia"/>
                <a:cs typeface="Georgia"/>
                <a:sym typeface="Georgia"/>
              </a:rPr>
              <a:t>02</a:t>
            </a:r>
            <a:endParaRPr b="0" i="0" sz="1600" u="none" cap="none" strike="noStrike">
              <a:solidFill>
                <a:schemeClr val="dk1"/>
              </a:solidFill>
              <a:latin typeface="Calibri"/>
              <a:ea typeface="Calibri"/>
              <a:cs typeface="Calibri"/>
              <a:sym typeface="Calibri"/>
            </a:endParaRPr>
          </a:p>
        </p:txBody>
      </p:sp>
      <p:sp>
        <p:nvSpPr>
          <p:cNvPr id="311" name="Google Shape;311;p17"/>
          <p:cNvSpPr/>
          <p:nvPr/>
        </p:nvSpPr>
        <p:spPr>
          <a:xfrm>
            <a:off x="1280160" y="1847088"/>
            <a:ext cx="7178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Iterate, don't retype</a:t>
            </a:r>
            <a:endParaRPr b="0" i="0" sz="1500" u="none" cap="none" strike="noStrike">
              <a:solidFill>
                <a:schemeClr val="dk1"/>
              </a:solidFill>
              <a:latin typeface="Calibri"/>
              <a:ea typeface="Calibri"/>
              <a:cs typeface="Calibri"/>
              <a:sym typeface="Calibri"/>
            </a:endParaRPr>
          </a:p>
        </p:txBody>
      </p:sp>
      <p:sp>
        <p:nvSpPr>
          <p:cNvPr id="312" name="Google Shape;312;p17"/>
          <p:cNvSpPr/>
          <p:nvPr/>
        </p:nvSpPr>
        <p:spPr>
          <a:xfrm>
            <a:off x="1280160" y="2148840"/>
            <a:ext cx="7178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200"/>
              <a:buFont typeface="Calibri"/>
              <a:buNone/>
            </a:pPr>
            <a:r>
              <a:rPr b="0" i="0" lang="en-US" sz="1200" u="none" cap="none" strike="noStrike">
                <a:solidFill>
                  <a:srgbClr val="9999A8"/>
                </a:solidFill>
                <a:latin typeface="Calibri"/>
                <a:ea typeface="Calibri"/>
                <a:cs typeface="Calibri"/>
                <a:sym typeface="Calibri"/>
              </a:rPr>
              <a:t>Tell AI what to fix. Three focused iterations beat ten fresh starts.</a:t>
            </a:r>
            <a:endParaRPr b="0" i="0" sz="1200" u="none" cap="none" strike="noStrike">
              <a:solidFill>
                <a:schemeClr val="dk1"/>
              </a:solidFill>
              <a:latin typeface="Calibri"/>
              <a:ea typeface="Calibri"/>
              <a:cs typeface="Calibri"/>
              <a:sym typeface="Calibri"/>
            </a:endParaRPr>
          </a:p>
        </p:txBody>
      </p:sp>
      <p:cxnSp>
        <p:nvCxnSpPr>
          <p:cNvPr id="313" name="Google Shape;313;p17"/>
          <p:cNvCxnSpPr/>
          <p:nvPr/>
        </p:nvCxnSpPr>
        <p:spPr>
          <a:xfrm>
            <a:off x="685800" y="2505456"/>
            <a:ext cx="7772400" cy="0"/>
          </a:xfrm>
          <a:prstGeom prst="straightConnector1">
            <a:avLst/>
          </a:prstGeom>
          <a:noFill/>
          <a:ln cap="flat" cmpd="sng" w="9525">
            <a:solidFill>
              <a:srgbClr val="3A3A4A"/>
            </a:solidFill>
            <a:prstDash val="solid"/>
            <a:round/>
            <a:headEnd len="sm" w="sm" type="none"/>
            <a:tailEnd len="sm" w="sm" type="none"/>
          </a:ln>
        </p:spPr>
      </p:cxnSp>
      <p:sp>
        <p:nvSpPr>
          <p:cNvPr id="314" name="Google Shape;314;p17"/>
          <p:cNvSpPr/>
          <p:nvPr/>
        </p:nvSpPr>
        <p:spPr>
          <a:xfrm>
            <a:off x="685800" y="2642616"/>
            <a:ext cx="457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600"/>
              <a:buFont typeface="Georgia"/>
              <a:buNone/>
            </a:pPr>
            <a:r>
              <a:rPr b="1" i="0" lang="en-US" sz="1600" u="none" cap="none" strike="noStrike">
                <a:solidFill>
                  <a:srgbClr val="136EF6"/>
                </a:solidFill>
                <a:latin typeface="Georgia"/>
                <a:ea typeface="Georgia"/>
                <a:cs typeface="Georgia"/>
                <a:sym typeface="Georgia"/>
              </a:rPr>
              <a:t>03</a:t>
            </a:r>
            <a:endParaRPr b="0" i="0" sz="1600" u="none" cap="none" strike="noStrike">
              <a:solidFill>
                <a:schemeClr val="dk1"/>
              </a:solidFill>
              <a:latin typeface="Calibri"/>
              <a:ea typeface="Calibri"/>
              <a:cs typeface="Calibri"/>
              <a:sym typeface="Calibri"/>
            </a:endParaRPr>
          </a:p>
        </p:txBody>
      </p:sp>
      <p:sp>
        <p:nvSpPr>
          <p:cNvPr id="315" name="Google Shape;315;p17"/>
          <p:cNvSpPr/>
          <p:nvPr/>
        </p:nvSpPr>
        <p:spPr>
          <a:xfrm>
            <a:off x="1280160" y="2596896"/>
            <a:ext cx="7178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Check the substance, not just the surface</a:t>
            </a:r>
            <a:endParaRPr b="0" i="0" sz="1500" u="none" cap="none" strike="noStrike">
              <a:solidFill>
                <a:schemeClr val="dk1"/>
              </a:solidFill>
              <a:latin typeface="Calibri"/>
              <a:ea typeface="Calibri"/>
              <a:cs typeface="Calibri"/>
              <a:sym typeface="Calibri"/>
            </a:endParaRPr>
          </a:p>
        </p:txBody>
      </p:sp>
      <p:sp>
        <p:nvSpPr>
          <p:cNvPr id="316" name="Google Shape;316;p17"/>
          <p:cNvSpPr/>
          <p:nvPr/>
        </p:nvSpPr>
        <p:spPr>
          <a:xfrm>
            <a:off x="1280160" y="2898648"/>
            <a:ext cx="7178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200"/>
              <a:buFont typeface="Calibri"/>
              <a:buNone/>
            </a:pPr>
            <a:r>
              <a:rPr b="0" i="0" lang="en-US" sz="1200" u="none" cap="none" strike="noStrike">
                <a:solidFill>
                  <a:srgbClr val="9999A8"/>
                </a:solidFill>
                <a:latin typeface="Calibri"/>
                <a:ea typeface="Calibri"/>
                <a:cs typeface="Calibri"/>
                <a:sym typeface="Calibri"/>
              </a:rPr>
              <a:t>Did it follow instructions? Is the content right? Did it add anything it shouldn't?</a:t>
            </a:r>
            <a:endParaRPr b="0" i="0" sz="1200" u="none" cap="none" strike="noStrike">
              <a:solidFill>
                <a:schemeClr val="dk1"/>
              </a:solidFill>
              <a:latin typeface="Calibri"/>
              <a:ea typeface="Calibri"/>
              <a:cs typeface="Calibri"/>
              <a:sym typeface="Calibri"/>
            </a:endParaRPr>
          </a:p>
        </p:txBody>
      </p:sp>
      <p:cxnSp>
        <p:nvCxnSpPr>
          <p:cNvPr id="317" name="Google Shape;317;p17"/>
          <p:cNvCxnSpPr/>
          <p:nvPr/>
        </p:nvCxnSpPr>
        <p:spPr>
          <a:xfrm>
            <a:off x="685800" y="3255264"/>
            <a:ext cx="7772400" cy="0"/>
          </a:xfrm>
          <a:prstGeom prst="straightConnector1">
            <a:avLst/>
          </a:prstGeom>
          <a:noFill/>
          <a:ln cap="flat" cmpd="sng" w="9525">
            <a:solidFill>
              <a:srgbClr val="3A3A4A"/>
            </a:solidFill>
            <a:prstDash val="solid"/>
            <a:round/>
            <a:headEnd len="sm" w="sm" type="none"/>
            <a:tailEnd len="sm" w="sm" type="none"/>
          </a:ln>
        </p:spPr>
      </p:cxnSp>
      <p:sp>
        <p:nvSpPr>
          <p:cNvPr id="318" name="Google Shape;318;p17"/>
          <p:cNvSpPr/>
          <p:nvPr/>
        </p:nvSpPr>
        <p:spPr>
          <a:xfrm>
            <a:off x="685800" y="3392424"/>
            <a:ext cx="457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600"/>
              <a:buFont typeface="Georgia"/>
              <a:buNone/>
            </a:pPr>
            <a:r>
              <a:rPr b="1" i="0" lang="en-US" sz="1600" u="none" cap="none" strike="noStrike">
                <a:solidFill>
                  <a:srgbClr val="136EF6"/>
                </a:solidFill>
                <a:latin typeface="Georgia"/>
                <a:ea typeface="Georgia"/>
                <a:cs typeface="Georgia"/>
                <a:sym typeface="Georgia"/>
              </a:rPr>
              <a:t>04</a:t>
            </a:r>
            <a:endParaRPr b="0" i="0" sz="1600" u="none" cap="none" strike="noStrike">
              <a:solidFill>
                <a:schemeClr val="dk1"/>
              </a:solidFill>
              <a:latin typeface="Calibri"/>
              <a:ea typeface="Calibri"/>
              <a:cs typeface="Calibri"/>
              <a:sym typeface="Calibri"/>
            </a:endParaRPr>
          </a:p>
        </p:txBody>
      </p:sp>
      <p:sp>
        <p:nvSpPr>
          <p:cNvPr id="319" name="Google Shape;319;p17"/>
          <p:cNvSpPr/>
          <p:nvPr/>
        </p:nvSpPr>
        <p:spPr>
          <a:xfrm>
            <a:off x="1280160" y="3346704"/>
            <a:ext cx="7178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Ask it to challenge you</a:t>
            </a:r>
            <a:endParaRPr b="0" i="0" sz="1500" u="none" cap="none" strike="noStrike">
              <a:solidFill>
                <a:schemeClr val="dk1"/>
              </a:solidFill>
              <a:latin typeface="Calibri"/>
              <a:ea typeface="Calibri"/>
              <a:cs typeface="Calibri"/>
              <a:sym typeface="Calibri"/>
            </a:endParaRPr>
          </a:p>
        </p:txBody>
      </p:sp>
      <p:sp>
        <p:nvSpPr>
          <p:cNvPr id="320" name="Google Shape;320;p17"/>
          <p:cNvSpPr/>
          <p:nvPr/>
        </p:nvSpPr>
        <p:spPr>
          <a:xfrm>
            <a:off x="1280160" y="3648456"/>
            <a:ext cx="7178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200"/>
              <a:buFont typeface="Calibri"/>
              <a:buNone/>
            </a:pPr>
            <a:r>
              <a:rPr b="0" i="0" lang="en-US" sz="1200" u="none" cap="none" strike="noStrike">
                <a:solidFill>
                  <a:srgbClr val="9999A8"/>
                </a:solidFill>
                <a:latin typeface="Calibri"/>
                <a:ea typeface="Calibri"/>
                <a:cs typeface="Calibri"/>
                <a:sym typeface="Calibri"/>
              </a:rPr>
              <a:t>"What's the other side of this?" — the simplest way to break the confirmation bias loop.</a:t>
            </a:r>
            <a:endParaRPr b="0" i="0" sz="1200" u="none" cap="none" strike="noStrike">
              <a:solidFill>
                <a:schemeClr val="dk1"/>
              </a:solidFill>
              <a:latin typeface="Calibri"/>
              <a:ea typeface="Calibri"/>
              <a:cs typeface="Calibri"/>
              <a:sym typeface="Calibri"/>
            </a:endParaRPr>
          </a:p>
        </p:txBody>
      </p:sp>
      <p:cxnSp>
        <p:nvCxnSpPr>
          <p:cNvPr id="321" name="Google Shape;321;p17"/>
          <p:cNvCxnSpPr/>
          <p:nvPr/>
        </p:nvCxnSpPr>
        <p:spPr>
          <a:xfrm>
            <a:off x="685800" y="4005072"/>
            <a:ext cx="7772400" cy="0"/>
          </a:xfrm>
          <a:prstGeom prst="straightConnector1">
            <a:avLst/>
          </a:prstGeom>
          <a:noFill/>
          <a:ln cap="flat" cmpd="sng" w="9525">
            <a:solidFill>
              <a:srgbClr val="3A3A4A"/>
            </a:solidFill>
            <a:prstDash val="solid"/>
            <a:round/>
            <a:headEnd len="sm" w="sm" type="none"/>
            <a:tailEnd len="sm" w="sm" type="none"/>
          </a:ln>
        </p:spPr>
      </p:cxnSp>
      <p:sp>
        <p:nvSpPr>
          <p:cNvPr id="322" name="Google Shape;322;p17"/>
          <p:cNvSpPr/>
          <p:nvPr/>
        </p:nvSpPr>
        <p:spPr>
          <a:xfrm>
            <a:off x="685800" y="4142232"/>
            <a:ext cx="457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600"/>
              <a:buFont typeface="Georgia"/>
              <a:buNone/>
            </a:pPr>
            <a:r>
              <a:rPr b="1" i="0" lang="en-US" sz="1600" u="none" cap="none" strike="noStrike">
                <a:solidFill>
                  <a:srgbClr val="136EF6"/>
                </a:solidFill>
                <a:latin typeface="Georgia"/>
                <a:ea typeface="Georgia"/>
                <a:cs typeface="Georgia"/>
                <a:sym typeface="Georgia"/>
              </a:rPr>
              <a:t>05</a:t>
            </a:r>
            <a:endParaRPr b="0" i="0" sz="1600" u="none" cap="none" strike="noStrike">
              <a:solidFill>
                <a:schemeClr val="dk1"/>
              </a:solidFill>
              <a:latin typeface="Calibri"/>
              <a:ea typeface="Calibri"/>
              <a:cs typeface="Calibri"/>
              <a:sym typeface="Calibri"/>
            </a:endParaRPr>
          </a:p>
        </p:txBody>
      </p:sp>
      <p:sp>
        <p:nvSpPr>
          <p:cNvPr id="323" name="Google Shape;323;p17"/>
          <p:cNvSpPr/>
          <p:nvPr/>
        </p:nvSpPr>
        <p:spPr>
          <a:xfrm>
            <a:off x="1280160" y="4096512"/>
            <a:ext cx="7178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Fresh conversation for the final product</a:t>
            </a:r>
            <a:endParaRPr b="0" i="0" sz="1500" u="none" cap="none" strike="noStrike">
              <a:solidFill>
                <a:schemeClr val="dk1"/>
              </a:solidFill>
              <a:latin typeface="Calibri"/>
              <a:ea typeface="Calibri"/>
              <a:cs typeface="Calibri"/>
              <a:sym typeface="Calibri"/>
            </a:endParaRPr>
          </a:p>
        </p:txBody>
      </p:sp>
      <p:sp>
        <p:nvSpPr>
          <p:cNvPr id="324" name="Google Shape;324;p17"/>
          <p:cNvSpPr/>
          <p:nvPr/>
        </p:nvSpPr>
        <p:spPr>
          <a:xfrm>
            <a:off x="1280160" y="4398264"/>
            <a:ext cx="7178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200"/>
              <a:buFont typeface="Calibri"/>
              <a:buNone/>
            </a:pPr>
            <a:r>
              <a:rPr b="0" i="0" lang="en-US" sz="1200" u="none" cap="none" strike="noStrike">
                <a:solidFill>
                  <a:srgbClr val="9999A8"/>
                </a:solidFill>
                <a:latin typeface="Calibri"/>
                <a:ea typeface="Calibri"/>
                <a:cs typeface="Calibri"/>
                <a:sym typeface="Calibri"/>
              </a:rPr>
              <a:t>Explore in one conversation. Produce in a new one. Clean input, clean output.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2D3D"/>
        </a:solidFill>
      </p:bgPr>
    </p:bg>
    <p:spTree>
      <p:nvGrpSpPr>
        <p:cNvPr id="329" name="Shape 329"/>
        <p:cNvGrpSpPr/>
        <p:nvPr/>
      </p:nvGrpSpPr>
      <p:grpSpPr>
        <a:xfrm>
          <a:off x="0" y="0"/>
          <a:ext cx="0" cy="0"/>
          <a:chOff x="0" y="0"/>
          <a:chExt cx="0" cy="0"/>
        </a:xfrm>
      </p:grpSpPr>
      <p:sp>
        <p:nvSpPr>
          <p:cNvPr id="330" name="Google Shape;330;p18"/>
          <p:cNvSpPr/>
          <p:nvPr/>
        </p:nvSpPr>
        <p:spPr>
          <a:xfrm>
            <a:off x="0" y="0"/>
            <a:ext cx="9144000" cy="36576"/>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8"/>
          <p:cNvSpPr/>
          <p:nvPr/>
        </p:nvSpPr>
        <p:spPr>
          <a:xfrm>
            <a:off x="685800" y="1188720"/>
            <a:ext cx="7772400" cy="91440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The best AI users aren't the ones</a:t>
            </a:r>
            <a:endParaRPr b="0" i="0" sz="26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who write perfect prompts.</a:t>
            </a:r>
            <a:endParaRPr b="0" i="0" sz="2600" u="none" cap="none" strike="noStrike">
              <a:solidFill>
                <a:schemeClr val="dk1"/>
              </a:solidFill>
              <a:latin typeface="Calibri"/>
              <a:ea typeface="Calibri"/>
              <a:cs typeface="Calibri"/>
              <a:sym typeface="Calibri"/>
            </a:endParaRPr>
          </a:p>
        </p:txBody>
      </p:sp>
      <p:sp>
        <p:nvSpPr>
          <p:cNvPr id="332" name="Google Shape;332;p18"/>
          <p:cNvSpPr/>
          <p:nvPr/>
        </p:nvSpPr>
        <p:spPr>
          <a:xfrm>
            <a:off x="685800" y="2194560"/>
            <a:ext cx="77724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36EF6"/>
              </a:buClr>
              <a:buSzPts val="2400"/>
              <a:buFont typeface="Georgia"/>
              <a:buNone/>
            </a:pPr>
            <a:r>
              <a:rPr b="1" i="0" lang="en-US" sz="2400" u="none" cap="none" strike="noStrike">
                <a:solidFill>
                  <a:srgbClr val="136EF6"/>
                </a:solidFill>
                <a:latin typeface="Georgia"/>
                <a:ea typeface="Georgia"/>
                <a:cs typeface="Georgia"/>
                <a:sym typeface="Georgia"/>
              </a:rPr>
              <a:t>They're the ones who iterate well.</a:t>
            </a:r>
            <a:endParaRPr b="0" i="0" sz="2400" u="none" cap="none" strike="noStrike">
              <a:solidFill>
                <a:schemeClr val="dk1"/>
              </a:solidFill>
              <a:latin typeface="Calibri"/>
              <a:ea typeface="Calibri"/>
              <a:cs typeface="Calibri"/>
              <a:sym typeface="Calibri"/>
            </a:endParaRPr>
          </a:p>
        </p:txBody>
      </p:sp>
      <p:cxnSp>
        <p:nvCxnSpPr>
          <p:cNvPr id="333" name="Google Shape;333;p18"/>
          <p:cNvCxnSpPr/>
          <p:nvPr/>
        </p:nvCxnSpPr>
        <p:spPr>
          <a:xfrm>
            <a:off x="3657600" y="2834640"/>
            <a:ext cx="1828800" cy="0"/>
          </a:xfrm>
          <a:prstGeom prst="straightConnector1">
            <a:avLst/>
          </a:prstGeom>
          <a:noFill/>
          <a:ln cap="flat" cmpd="sng" w="9525">
            <a:solidFill>
              <a:srgbClr val="9999A8"/>
            </a:solidFill>
            <a:prstDash val="solid"/>
            <a:round/>
            <a:headEnd len="sm" w="sm" type="none"/>
            <a:tailEnd len="sm" w="sm" type="none"/>
          </a:ln>
        </p:spPr>
      </p:cxnSp>
      <p:sp>
        <p:nvSpPr>
          <p:cNvPr id="334" name="Google Shape;334;p18"/>
          <p:cNvSpPr/>
          <p:nvPr/>
        </p:nvSpPr>
        <p:spPr>
          <a:xfrm>
            <a:off x="685800" y="3108960"/>
            <a:ext cx="7772400" cy="640080"/>
          </a:xfrm>
          <a:prstGeom prst="rect">
            <a:avLst/>
          </a:prstGeom>
          <a:noFill/>
          <a:ln>
            <a:noFill/>
          </a:ln>
        </p:spPr>
        <p:txBody>
          <a:bodyPr anchorCtr="0" anchor="ctr" bIns="45700" lIns="91425" spcFirstLastPara="1" rIns="91425" wrap="square" tIns="45700">
            <a:noAutofit/>
          </a:bodyPr>
          <a:lstStyle/>
          <a:p>
            <a:pPr indent="0" lvl="0" marL="0" marR="0" rtl="0" algn="ctr">
              <a:lnSpc>
                <a:spcPct val="140000"/>
              </a:lnSpc>
              <a:spcBef>
                <a:spcPts val="0"/>
              </a:spcBef>
              <a:spcAft>
                <a:spcPts val="0"/>
              </a:spcAft>
              <a:buClr>
                <a:srgbClr val="9999A8"/>
              </a:buClr>
              <a:buSzPts val="1600"/>
              <a:buFont typeface="Calibri"/>
              <a:buNone/>
            </a:pPr>
            <a:r>
              <a:rPr b="0" i="0" lang="en-US" sz="1600" u="none" cap="none" strike="noStrike">
                <a:solidFill>
                  <a:srgbClr val="9999A8"/>
                </a:solidFill>
                <a:latin typeface="Calibri"/>
                <a:ea typeface="Calibri"/>
                <a:cs typeface="Calibri"/>
                <a:sym typeface="Calibri"/>
              </a:rPr>
              <a:t>You stay the expert.</a:t>
            </a:r>
            <a:endParaRPr b="0" i="0" sz="1600" u="none" cap="none" strike="noStrike">
              <a:solidFill>
                <a:schemeClr val="dk1"/>
              </a:solidFill>
              <a:latin typeface="Calibri"/>
              <a:ea typeface="Calibri"/>
              <a:cs typeface="Calibri"/>
              <a:sym typeface="Calibri"/>
            </a:endParaRPr>
          </a:p>
          <a:p>
            <a:pPr indent="0" lvl="0" marL="0" marR="0" rtl="0" algn="ctr">
              <a:lnSpc>
                <a:spcPct val="140000"/>
              </a:lnSpc>
              <a:spcBef>
                <a:spcPts val="0"/>
              </a:spcBef>
              <a:spcAft>
                <a:spcPts val="0"/>
              </a:spcAft>
              <a:buClr>
                <a:srgbClr val="9999A8"/>
              </a:buClr>
              <a:buSzPts val="1600"/>
              <a:buFont typeface="Calibri"/>
              <a:buNone/>
            </a:pPr>
            <a:r>
              <a:rPr b="0" i="0" lang="en-US" sz="1600" u="none" cap="none" strike="noStrike">
                <a:solidFill>
                  <a:srgbClr val="9999A8"/>
                </a:solidFill>
                <a:latin typeface="Calibri"/>
                <a:ea typeface="Calibri"/>
                <a:cs typeface="Calibri"/>
                <a:sym typeface="Calibri"/>
              </a:rPr>
              <a:t>AI stays the tool.</a:t>
            </a:r>
            <a:endParaRPr b="0" i="0" sz="1600" u="none" cap="none" strike="noStrike">
              <a:solidFill>
                <a:schemeClr val="dk1"/>
              </a:solidFill>
              <a:latin typeface="Calibri"/>
              <a:ea typeface="Calibri"/>
              <a:cs typeface="Calibri"/>
              <a:sym typeface="Calibri"/>
            </a:endParaRPr>
          </a:p>
        </p:txBody>
      </p:sp>
      <p:sp>
        <p:nvSpPr>
          <p:cNvPr id="335" name="Google Shape;335;p18"/>
          <p:cNvSpPr/>
          <p:nvPr/>
        </p:nvSpPr>
        <p:spPr>
          <a:xfrm>
            <a:off x="685800" y="4572000"/>
            <a:ext cx="7772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1100"/>
              <a:buFont typeface="Calibri"/>
              <a:buNone/>
            </a:pPr>
            <a:r>
              <a:rPr b="0" i="0" lang="en-US" sz="1100" u="none" cap="none" strike="noStrike">
                <a:solidFill>
                  <a:srgbClr val="9999A8"/>
                </a:solidFill>
                <a:latin typeface="Calibri"/>
                <a:ea typeface="Calibri"/>
                <a:cs typeface="Calibri"/>
                <a:sym typeface="Calibri"/>
              </a:rPr>
              <a:t>Shift4 Payments  |  AI Fundamentals Series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0" name="Shape 340"/>
        <p:cNvGrpSpPr/>
        <p:nvPr/>
      </p:nvGrpSpPr>
      <p:grpSpPr>
        <a:xfrm>
          <a:off x="0" y="0"/>
          <a:ext cx="0" cy="0"/>
          <a:chOff x="0" y="0"/>
          <a:chExt cx="0" cy="0"/>
        </a:xfrm>
      </p:grpSpPr>
      <p:cxnSp>
        <p:nvCxnSpPr>
          <p:cNvPr id="341" name="Google Shape;341;p19"/>
          <p:cNvCxnSpPr/>
          <p:nvPr/>
        </p:nvCxnSpPr>
        <p:spPr>
          <a:xfrm>
            <a:off x="685800" y="4800600"/>
            <a:ext cx="7772400" cy="0"/>
          </a:xfrm>
          <a:prstGeom prst="straightConnector1">
            <a:avLst/>
          </a:prstGeom>
          <a:noFill/>
          <a:ln cap="flat" cmpd="sng" w="9525">
            <a:solidFill>
              <a:srgbClr val="D0D0DA"/>
            </a:solidFill>
            <a:prstDash val="solid"/>
            <a:round/>
            <a:headEnd len="sm" w="sm" type="none"/>
            <a:tailEnd len="sm" w="sm" type="none"/>
          </a:ln>
        </p:spPr>
      </p:cxnSp>
      <p:sp>
        <p:nvSpPr>
          <p:cNvPr id="342" name="Google Shape;342;p19"/>
          <p:cNvSpPr/>
          <p:nvPr/>
        </p:nvSpPr>
        <p:spPr>
          <a:xfrm>
            <a:off x="8229600" y="4846320"/>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
        <p:nvSpPr>
          <p:cNvPr id="343" name="Google Shape;343;p19"/>
          <p:cNvSpPr/>
          <p:nvPr/>
        </p:nvSpPr>
        <p:spPr>
          <a:xfrm>
            <a:off x="685800" y="4846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999A8"/>
              </a:buClr>
              <a:buSzPts val="900"/>
              <a:buFont typeface="Calibri"/>
              <a:buNone/>
            </a:pPr>
            <a:r>
              <a:rPr b="0" i="0" lang="en-US" sz="900" u="none" cap="none" strike="noStrike">
                <a:solidFill>
                  <a:srgbClr val="9999A8"/>
                </a:solidFill>
                <a:latin typeface="Calibri"/>
                <a:ea typeface="Calibri"/>
                <a:cs typeface="Calibri"/>
                <a:sym typeface="Calibri"/>
              </a:rPr>
              <a:t>Shift4  |  AI Fundamentals</a:t>
            </a:r>
            <a:endParaRPr b="0" i="0" sz="900" u="none" cap="none" strike="noStrike">
              <a:solidFill>
                <a:schemeClr val="dk1"/>
              </a:solidFill>
              <a:latin typeface="Calibri"/>
              <a:ea typeface="Calibri"/>
              <a:cs typeface="Calibri"/>
              <a:sym typeface="Calibri"/>
            </a:endParaRPr>
          </a:p>
        </p:txBody>
      </p:sp>
      <p:sp>
        <p:nvSpPr>
          <p:cNvPr id="344" name="Google Shape;344;p19"/>
          <p:cNvSpPr/>
          <p:nvPr/>
        </p:nvSpPr>
        <p:spPr>
          <a:xfrm>
            <a:off x="685800" y="32004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3D"/>
              </a:buClr>
              <a:buSzPts val="2000"/>
              <a:buFont typeface="Calibri"/>
              <a:buNone/>
            </a:pPr>
            <a:r>
              <a:rPr b="1" i="0" lang="en-US" sz="2000" u="none" cap="none" strike="noStrike">
                <a:solidFill>
                  <a:srgbClr val="2D2D3D"/>
                </a:solidFill>
                <a:latin typeface="Calibri"/>
                <a:ea typeface="Calibri"/>
                <a:cs typeface="Calibri"/>
                <a:sym typeface="Calibri"/>
              </a:rPr>
              <a:t>Homework: apply the five habits to one real task this week</a:t>
            </a:r>
            <a:endParaRPr b="0" i="0" sz="2000" u="none" cap="none" strike="noStrike">
              <a:solidFill>
                <a:schemeClr val="dk1"/>
              </a:solidFill>
              <a:latin typeface="Calibri"/>
              <a:ea typeface="Calibri"/>
              <a:cs typeface="Calibri"/>
              <a:sym typeface="Calibri"/>
            </a:endParaRPr>
          </a:p>
        </p:txBody>
      </p:sp>
      <p:cxnSp>
        <p:nvCxnSpPr>
          <p:cNvPr id="345" name="Google Shape;345;p19"/>
          <p:cNvCxnSpPr/>
          <p:nvPr/>
        </p:nvCxnSpPr>
        <p:spPr>
          <a:xfrm>
            <a:off x="685800" y="868680"/>
            <a:ext cx="731520" cy="0"/>
          </a:xfrm>
          <a:prstGeom prst="straightConnector1">
            <a:avLst/>
          </a:prstGeom>
          <a:noFill/>
          <a:ln cap="flat" cmpd="sng" w="31750">
            <a:solidFill>
              <a:srgbClr val="136EF6"/>
            </a:solidFill>
            <a:prstDash val="solid"/>
            <a:round/>
            <a:headEnd len="sm" w="sm" type="none"/>
            <a:tailEnd len="sm" w="sm" type="none"/>
          </a:ln>
        </p:spPr>
      </p:cxnSp>
      <p:sp>
        <p:nvSpPr>
          <p:cNvPr id="346" name="Google Shape;346;p19"/>
          <p:cNvSpPr/>
          <p:nvPr/>
        </p:nvSpPr>
        <p:spPr>
          <a:xfrm>
            <a:off x="685800" y="1143000"/>
            <a:ext cx="7772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3D"/>
              </a:buClr>
              <a:buSzPts val="1600"/>
              <a:buFont typeface="Calibri"/>
              <a:buNone/>
            </a:pPr>
            <a:r>
              <a:rPr b="1" i="0" lang="en-US" sz="1600" u="none" cap="none" strike="noStrike">
                <a:solidFill>
                  <a:srgbClr val="2D2D3D"/>
                </a:solidFill>
                <a:latin typeface="Calibri"/>
                <a:ea typeface="Calibri"/>
                <a:cs typeface="Calibri"/>
                <a:sym typeface="Calibri"/>
              </a:rPr>
              <a:t>Pick one real task.</a:t>
            </a:r>
            <a:endParaRPr b="0" i="0" sz="1600" u="none" cap="none" strike="noStrike">
              <a:solidFill>
                <a:schemeClr val="dk1"/>
              </a:solidFill>
              <a:latin typeface="Calibri"/>
              <a:ea typeface="Calibri"/>
              <a:cs typeface="Calibri"/>
              <a:sym typeface="Calibri"/>
            </a:endParaRPr>
          </a:p>
        </p:txBody>
      </p:sp>
      <p:sp>
        <p:nvSpPr>
          <p:cNvPr id="347" name="Google Shape;347;p19"/>
          <p:cNvSpPr/>
          <p:nvPr/>
        </p:nvSpPr>
        <p:spPr>
          <a:xfrm>
            <a:off x="685800" y="1645920"/>
            <a:ext cx="320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400"/>
              <a:buFont typeface="Georgia"/>
              <a:buNone/>
            </a:pPr>
            <a:r>
              <a:rPr b="1" i="0" lang="en-US" sz="1400" u="none" cap="none" strike="noStrike">
                <a:solidFill>
                  <a:srgbClr val="136EF6"/>
                </a:solidFill>
                <a:latin typeface="Georgia"/>
                <a:ea typeface="Georgia"/>
                <a:cs typeface="Georgia"/>
                <a:sym typeface="Georgia"/>
              </a:rPr>
              <a:t>1</a:t>
            </a:r>
            <a:endParaRPr b="0" i="0" sz="1400" u="none" cap="none" strike="noStrike">
              <a:solidFill>
                <a:schemeClr val="dk1"/>
              </a:solidFill>
              <a:latin typeface="Calibri"/>
              <a:ea typeface="Calibri"/>
              <a:cs typeface="Calibri"/>
              <a:sym typeface="Calibri"/>
            </a:endParaRPr>
          </a:p>
        </p:txBody>
      </p:sp>
      <p:sp>
        <p:nvSpPr>
          <p:cNvPr id="348" name="Google Shape;348;p19"/>
          <p:cNvSpPr/>
          <p:nvPr/>
        </p:nvSpPr>
        <p:spPr>
          <a:xfrm>
            <a:off x="1097280" y="1645920"/>
            <a:ext cx="7360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4A"/>
              </a:buClr>
              <a:buSzPts val="1400"/>
              <a:buFont typeface="Calibri"/>
              <a:buNone/>
            </a:pPr>
            <a:r>
              <a:rPr b="0" i="0" lang="en-US" sz="1400" u="none" cap="none" strike="noStrike">
                <a:solidFill>
                  <a:srgbClr val="3A3A4A"/>
                </a:solidFill>
                <a:latin typeface="Calibri"/>
                <a:ea typeface="Calibri"/>
                <a:cs typeface="Calibri"/>
                <a:sym typeface="Calibri"/>
              </a:rPr>
              <a:t>Start messy — use AI to explore and find your direction</a:t>
            </a:r>
            <a:endParaRPr b="0" i="0" sz="1400" u="none" cap="none" strike="noStrike">
              <a:solidFill>
                <a:schemeClr val="dk1"/>
              </a:solidFill>
              <a:latin typeface="Calibri"/>
              <a:ea typeface="Calibri"/>
              <a:cs typeface="Calibri"/>
              <a:sym typeface="Calibri"/>
            </a:endParaRPr>
          </a:p>
        </p:txBody>
      </p:sp>
      <p:cxnSp>
        <p:nvCxnSpPr>
          <p:cNvPr id="349" name="Google Shape;349;p19"/>
          <p:cNvCxnSpPr/>
          <p:nvPr/>
        </p:nvCxnSpPr>
        <p:spPr>
          <a:xfrm>
            <a:off x="685800" y="2029968"/>
            <a:ext cx="7772400" cy="0"/>
          </a:xfrm>
          <a:prstGeom prst="straightConnector1">
            <a:avLst/>
          </a:prstGeom>
          <a:noFill/>
          <a:ln cap="flat" cmpd="sng" w="9525">
            <a:solidFill>
              <a:srgbClr val="D0D0DA"/>
            </a:solidFill>
            <a:prstDash val="solid"/>
            <a:round/>
            <a:headEnd len="sm" w="sm" type="none"/>
            <a:tailEnd len="sm" w="sm" type="none"/>
          </a:ln>
        </p:spPr>
      </p:cxnSp>
      <p:sp>
        <p:nvSpPr>
          <p:cNvPr id="350" name="Google Shape;350;p19"/>
          <p:cNvSpPr/>
          <p:nvPr/>
        </p:nvSpPr>
        <p:spPr>
          <a:xfrm>
            <a:off x="685800" y="2121408"/>
            <a:ext cx="320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400"/>
              <a:buFont typeface="Georgia"/>
              <a:buNone/>
            </a:pPr>
            <a:r>
              <a:rPr b="1" i="0" lang="en-US" sz="1400" u="none" cap="none" strike="noStrike">
                <a:solidFill>
                  <a:srgbClr val="136EF6"/>
                </a:solidFill>
                <a:latin typeface="Georgia"/>
                <a:ea typeface="Georgia"/>
                <a:cs typeface="Georgia"/>
                <a:sym typeface="Georgia"/>
              </a:rPr>
              <a:t>2</a:t>
            </a:r>
            <a:endParaRPr b="0" i="0" sz="1400" u="none" cap="none" strike="noStrike">
              <a:solidFill>
                <a:schemeClr val="dk1"/>
              </a:solidFill>
              <a:latin typeface="Calibri"/>
              <a:ea typeface="Calibri"/>
              <a:cs typeface="Calibri"/>
              <a:sym typeface="Calibri"/>
            </a:endParaRPr>
          </a:p>
        </p:txBody>
      </p:sp>
      <p:sp>
        <p:nvSpPr>
          <p:cNvPr id="351" name="Google Shape;351;p19"/>
          <p:cNvSpPr/>
          <p:nvPr/>
        </p:nvSpPr>
        <p:spPr>
          <a:xfrm>
            <a:off x="1097280" y="2121408"/>
            <a:ext cx="7360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4A"/>
              </a:buClr>
              <a:buSzPts val="1400"/>
              <a:buFont typeface="Calibri"/>
              <a:buNone/>
            </a:pPr>
            <a:r>
              <a:rPr b="0" i="0" lang="en-US" sz="1400" u="none" cap="none" strike="noStrike">
                <a:solidFill>
                  <a:srgbClr val="3A3A4A"/>
                </a:solidFill>
                <a:latin typeface="Calibri"/>
                <a:ea typeface="Calibri"/>
                <a:cs typeface="Calibri"/>
                <a:sym typeface="Calibri"/>
              </a:rPr>
              <a:t>Once you know what you want, start a fresh conversation</a:t>
            </a:r>
            <a:endParaRPr b="0" i="0" sz="1400" u="none" cap="none" strike="noStrike">
              <a:solidFill>
                <a:schemeClr val="dk1"/>
              </a:solidFill>
              <a:latin typeface="Calibri"/>
              <a:ea typeface="Calibri"/>
              <a:cs typeface="Calibri"/>
              <a:sym typeface="Calibri"/>
            </a:endParaRPr>
          </a:p>
        </p:txBody>
      </p:sp>
      <p:cxnSp>
        <p:nvCxnSpPr>
          <p:cNvPr id="352" name="Google Shape;352;p19"/>
          <p:cNvCxnSpPr/>
          <p:nvPr/>
        </p:nvCxnSpPr>
        <p:spPr>
          <a:xfrm>
            <a:off x="685800" y="2505456"/>
            <a:ext cx="7772400" cy="0"/>
          </a:xfrm>
          <a:prstGeom prst="straightConnector1">
            <a:avLst/>
          </a:prstGeom>
          <a:noFill/>
          <a:ln cap="flat" cmpd="sng" w="9525">
            <a:solidFill>
              <a:srgbClr val="D0D0DA"/>
            </a:solidFill>
            <a:prstDash val="solid"/>
            <a:round/>
            <a:headEnd len="sm" w="sm" type="none"/>
            <a:tailEnd len="sm" w="sm" type="none"/>
          </a:ln>
        </p:spPr>
      </p:cxnSp>
      <p:sp>
        <p:nvSpPr>
          <p:cNvPr id="353" name="Google Shape;353;p19"/>
          <p:cNvSpPr/>
          <p:nvPr/>
        </p:nvSpPr>
        <p:spPr>
          <a:xfrm>
            <a:off x="685800" y="2596896"/>
            <a:ext cx="320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400"/>
              <a:buFont typeface="Georgia"/>
              <a:buNone/>
            </a:pPr>
            <a:r>
              <a:rPr b="1" i="0" lang="en-US" sz="1400" u="none" cap="none" strike="noStrike">
                <a:solidFill>
                  <a:srgbClr val="136EF6"/>
                </a:solidFill>
                <a:latin typeface="Georgia"/>
                <a:ea typeface="Georgia"/>
                <a:cs typeface="Georgia"/>
                <a:sym typeface="Georgia"/>
              </a:rPr>
              <a:t>3</a:t>
            </a:r>
            <a:endParaRPr b="0" i="0" sz="1400" u="none" cap="none" strike="noStrike">
              <a:solidFill>
                <a:schemeClr val="dk1"/>
              </a:solidFill>
              <a:latin typeface="Calibri"/>
              <a:ea typeface="Calibri"/>
              <a:cs typeface="Calibri"/>
              <a:sym typeface="Calibri"/>
            </a:endParaRPr>
          </a:p>
        </p:txBody>
      </p:sp>
      <p:sp>
        <p:nvSpPr>
          <p:cNvPr id="354" name="Google Shape;354;p19"/>
          <p:cNvSpPr/>
          <p:nvPr/>
        </p:nvSpPr>
        <p:spPr>
          <a:xfrm>
            <a:off x="1097280" y="2596896"/>
            <a:ext cx="7360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4A"/>
              </a:buClr>
              <a:buSzPts val="1400"/>
              <a:buFont typeface="Calibri"/>
              <a:buNone/>
            </a:pPr>
            <a:r>
              <a:rPr b="0" i="0" lang="en-US" sz="1400" u="none" cap="none" strike="noStrike">
                <a:solidFill>
                  <a:srgbClr val="3A3A4A"/>
                </a:solidFill>
                <a:latin typeface="Calibri"/>
                <a:ea typeface="Calibri"/>
                <a:cs typeface="Calibri"/>
                <a:sym typeface="Calibri"/>
              </a:rPr>
              <a:t>Iterate at least 3 turns before you accept the output</a:t>
            </a:r>
            <a:endParaRPr b="0" i="0" sz="1400" u="none" cap="none" strike="noStrike">
              <a:solidFill>
                <a:schemeClr val="dk1"/>
              </a:solidFill>
              <a:latin typeface="Calibri"/>
              <a:ea typeface="Calibri"/>
              <a:cs typeface="Calibri"/>
              <a:sym typeface="Calibri"/>
            </a:endParaRPr>
          </a:p>
        </p:txBody>
      </p:sp>
      <p:cxnSp>
        <p:nvCxnSpPr>
          <p:cNvPr id="355" name="Google Shape;355;p19"/>
          <p:cNvCxnSpPr/>
          <p:nvPr/>
        </p:nvCxnSpPr>
        <p:spPr>
          <a:xfrm>
            <a:off x="685800" y="2980944"/>
            <a:ext cx="7772400" cy="0"/>
          </a:xfrm>
          <a:prstGeom prst="straightConnector1">
            <a:avLst/>
          </a:prstGeom>
          <a:noFill/>
          <a:ln cap="flat" cmpd="sng" w="9525">
            <a:solidFill>
              <a:srgbClr val="D0D0DA"/>
            </a:solidFill>
            <a:prstDash val="solid"/>
            <a:round/>
            <a:headEnd len="sm" w="sm" type="none"/>
            <a:tailEnd len="sm" w="sm" type="none"/>
          </a:ln>
        </p:spPr>
      </p:cxnSp>
      <p:sp>
        <p:nvSpPr>
          <p:cNvPr id="356" name="Google Shape;356;p19"/>
          <p:cNvSpPr/>
          <p:nvPr/>
        </p:nvSpPr>
        <p:spPr>
          <a:xfrm>
            <a:off x="685800" y="3072384"/>
            <a:ext cx="320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6EF6"/>
              </a:buClr>
              <a:buSzPts val="1400"/>
              <a:buFont typeface="Georgia"/>
              <a:buNone/>
            </a:pPr>
            <a:r>
              <a:rPr b="1" i="0" lang="en-US" sz="1400" u="none" cap="none" strike="noStrike">
                <a:solidFill>
                  <a:srgbClr val="136EF6"/>
                </a:solidFill>
                <a:latin typeface="Georgia"/>
                <a:ea typeface="Georgia"/>
                <a:cs typeface="Georgia"/>
                <a:sym typeface="Georgia"/>
              </a:rPr>
              <a:t>4</a:t>
            </a:r>
            <a:endParaRPr b="0" i="0" sz="1400" u="none" cap="none" strike="noStrike">
              <a:solidFill>
                <a:schemeClr val="dk1"/>
              </a:solidFill>
              <a:latin typeface="Calibri"/>
              <a:ea typeface="Calibri"/>
              <a:cs typeface="Calibri"/>
              <a:sym typeface="Calibri"/>
            </a:endParaRPr>
          </a:p>
        </p:txBody>
      </p:sp>
      <p:sp>
        <p:nvSpPr>
          <p:cNvPr id="357" name="Google Shape;357;p19"/>
          <p:cNvSpPr/>
          <p:nvPr/>
        </p:nvSpPr>
        <p:spPr>
          <a:xfrm>
            <a:off x="1097280" y="3072384"/>
            <a:ext cx="7360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A4A"/>
              </a:buClr>
              <a:buSzPts val="1400"/>
              <a:buFont typeface="Calibri"/>
              <a:buNone/>
            </a:pPr>
            <a:r>
              <a:rPr b="0" i="0" lang="en-US" sz="1400" u="none" cap="none" strike="noStrike">
                <a:solidFill>
                  <a:srgbClr val="3A3A4A"/>
                </a:solidFill>
                <a:latin typeface="Calibri"/>
                <a:ea typeface="Calibri"/>
                <a:cs typeface="Calibri"/>
                <a:sym typeface="Calibri"/>
              </a:rPr>
              <a:t>Run the three-question check before you use it</a:t>
            </a:r>
            <a:endParaRPr b="0" i="0" sz="1400" u="none" cap="none" strike="noStrike">
              <a:solidFill>
                <a:schemeClr val="dk1"/>
              </a:solidFill>
              <a:latin typeface="Calibri"/>
              <a:ea typeface="Calibri"/>
              <a:cs typeface="Calibri"/>
              <a:sym typeface="Calibri"/>
            </a:endParaRPr>
          </a:p>
        </p:txBody>
      </p:sp>
      <p:sp>
        <p:nvSpPr>
          <p:cNvPr id="358" name="Google Shape;358;p19"/>
          <p:cNvSpPr/>
          <p:nvPr/>
        </p:nvSpPr>
        <p:spPr>
          <a:xfrm>
            <a:off x="685800" y="3657600"/>
            <a:ext cx="7772400" cy="548640"/>
          </a:xfrm>
          <a:prstGeom prst="rect">
            <a:avLst/>
          </a:prstGeom>
          <a:solidFill>
            <a:srgbClr val="F7F7FA"/>
          </a:solidFill>
          <a:ln cap="flat" cmpd="sng" w="12700">
            <a:solidFill>
              <a:srgbClr val="F7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9"/>
          <p:cNvSpPr/>
          <p:nvPr/>
        </p:nvSpPr>
        <p:spPr>
          <a:xfrm>
            <a:off x="685800" y="3657600"/>
            <a:ext cx="41148" cy="548640"/>
          </a:xfrm>
          <a:prstGeom prst="rect">
            <a:avLst/>
          </a:prstGeom>
          <a:solidFill>
            <a:srgbClr val="136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9"/>
          <p:cNvSpPr/>
          <p:nvPr/>
        </p:nvSpPr>
        <p:spPr>
          <a:xfrm>
            <a:off x="868680" y="3749040"/>
            <a:ext cx="7452360" cy="36576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D2D3D"/>
              </a:buClr>
              <a:buSzPts val="1300"/>
              <a:buFont typeface="Calibri"/>
              <a:buNone/>
            </a:pPr>
            <a:r>
              <a:rPr b="0" i="0" lang="en-US" sz="1300" u="none" cap="none" strike="noStrike">
                <a:solidFill>
                  <a:srgbClr val="2D2D3D"/>
                </a:solidFill>
                <a:latin typeface="Calibri"/>
                <a:ea typeface="Calibri"/>
                <a:cs typeface="Calibri"/>
                <a:sym typeface="Calibri"/>
              </a:rPr>
              <a:t>Bring both conversations to the next session — the messy discovery and the clean final product. We'll compare.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