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3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1618D651-47AD-407E-8F31-C19179B90897}">
  <a:tblStyle styleId="{1618D651-47AD-407E-8F31-C19179B90897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5" Type="http://schemas.openxmlformats.org/officeDocument/2006/relationships/slideMaster" Target="slideMasters/slideMaster1.xml"/><Relationship Id="rId6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30" Type="http://schemas.openxmlformats.org/officeDocument/2006/relationships/slide" Target="slides/slide2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9" Type="http://schemas.openxmlformats.org/officeDocument/2006/relationships/slide" Target="slides/slide12.xml"/><Relationship Id="rId18" Type="http://schemas.openxmlformats.org/officeDocument/2006/relationships/slide" Target="slides/slide1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de77727e6f_2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g3de77727e6f_2_75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g3de77727e6f_2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1" name="Google Shape;161;g3de77727e6f_2_109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de77727e6f_2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9" name="Google Shape;169;g3de77727e6f_2_116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g3de77727e6f_2_1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g3de77727e6f_2_126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g3de77727e6f_2_1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g3de77727e6f_2_137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de77727e6f_2_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g3de77727e6f_2_145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g3de77727e6f_2_1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g3de77727e6f_2_160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de77727e6f_2_1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g3de77727e6f_2_181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de77727e6f_2_1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g3de77727e6f_2_198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3de77727e6f_2_2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g3de77727e6f_2_208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3de77727e6f_2_2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g3de77727e6f_2_216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de77727e6f_2_2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6" name="Google Shape;286;g3de77727e6f_2_224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g3de77727e6f_2_2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8" name="Google Shape;308;g3de77727e6f_2_245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de77727e6f_2_25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6" name="Google Shape;316;g3de77727e6f_2_252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de77727e6f_2_2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5" name="Google Shape;345;g3de77727e6f_2_280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g3de77727e6f_2_2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g3de77727e6f_2_299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g3de77727e6f_2_3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g3de77727e6f_2_328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de77727e6f_2_3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g3de77727e6f_2_343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de77727e6f_2_3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7" name="Google Shape;427;g3de77727e6f_2_358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8" name="Shape 4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9" name="Google Shape;449;g3de77727e6f_2_3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0" name="Google Shape;450;g3de77727e6f_2_380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g3de77727e6f_2_3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1" name="Google Shape;461;g3de77727e6f_2_390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7" name="Shape 4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8" name="Google Shape;488;g3de77727e6f_2_4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9" name="Google Shape;489;g3de77727e6f_2_417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de77727e6f_2_4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7" name="Google Shape;517;g3de77727e6f_2_444:notes"/>
          <p:cNvSpPr/>
          <p:nvPr>
            <p:ph idx="2" type="sldImg"/>
          </p:nvPr>
        </p:nvSpPr>
        <p:spPr>
          <a:xfrm>
            <a:off x="1142630" y="685800"/>
            <a:ext cx="4573416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4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4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Google Shape;59;p14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5"/>
          <p:cNvSpPr txBox="1"/>
          <p:nvPr>
            <p:ph type="ctrTitle"/>
          </p:nvPr>
        </p:nvSpPr>
        <p:spPr>
          <a:xfrm>
            <a:off x="514484" y="1597819"/>
            <a:ext cx="5830818" cy="1102519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2" name="Google Shape;62;p15"/>
          <p:cNvSpPr txBox="1"/>
          <p:nvPr>
            <p:ph idx="1" type="subTitle"/>
          </p:nvPr>
        </p:nvSpPr>
        <p:spPr>
          <a:xfrm>
            <a:off x="1028968" y="2914650"/>
            <a:ext cx="4801850" cy="1314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ctr"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1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63" name="Google Shape;63;p15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5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5" name="Google Shape;65;p15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 txBox="1"/>
          <p:nvPr>
            <p:ph type="title"/>
          </p:nvPr>
        </p:nvSpPr>
        <p:spPr>
          <a:xfrm>
            <a:off x="342989" y="205978"/>
            <a:ext cx="617380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6"/>
          <p:cNvSpPr txBox="1"/>
          <p:nvPr>
            <p:ph idx="1" type="body"/>
          </p:nvPr>
        </p:nvSpPr>
        <p:spPr>
          <a:xfrm>
            <a:off x="342989" y="1200150"/>
            <a:ext cx="61738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69" name="Google Shape;69;p16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Google Shape;70;p16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1" name="Google Shape;71;p16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/>
          <p:nvPr>
            <p:ph type="title"/>
          </p:nvPr>
        </p:nvSpPr>
        <p:spPr>
          <a:xfrm>
            <a:off x="541876" y="3305175"/>
            <a:ext cx="5830818" cy="102155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000"/>
              <a:buFont typeface="Calibri"/>
              <a:buNone/>
              <a:defRPr b="1" sz="3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4" name="Google Shape;74;p17"/>
          <p:cNvSpPr txBox="1"/>
          <p:nvPr>
            <p:ph idx="1" type="body"/>
          </p:nvPr>
        </p:nvSpPr>
        <p:spPr>
          <a:xfrm>
            <a:off x="541876" y="2180035"/>
            <a:ext cx="5830818" cy="112514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75" name="Google Shape;75;p17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Google Shape;76;p17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17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8"/>
          <p:cNvSpPr txBox="1"/>
          <p:nvPr>
            <p:ph type="title"/>
          </p:nvPr>
        </p:nvSpPr>
        <p:spPr>
          <a:xfrm>
            <a:off x="342989" y="205978"/>
            <a:ext cx="617380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0" name="Google Shape;80;p18"/>
          <p:cNvSpPr txBox="1"/>
          <p:nvPr>
            <p:ph idx="1" type="body"/>
          </p:nvPr>
        </p:nvSpPr>
        <p:spPr>
          <a:xfrm>
            <a:off x="342989" y="1200150"/>
            <a:ext cx="3029739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1" name="Google Shape;81;p18"/>
          <p:cNvSpPr txBox="1"/>
          <p:nvPr>
            <p:ph idx="2" type="body"/>
          </p:nvPr>
        </p:nvSpPr>
        <p:spPr>
          <a:xfrm>
            <a:off x="3487058" y="1200150"/>
            <a:ext cx="3029739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6195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1pPr>
            <a:lvl2pPr indent="-3429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2pPr>
            <a:lvl3pPr indent="-32385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9pPr>
          </a:lstStyle>
          <a:p/>
        </p:txBody>
      </p:sp>
      <p:sp>
        <p:nvSpPr>
          <p:cNvPr id="82" name="Google Shape;82;p18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3" name="Google Shape;83;p18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4" name="Google Shape;84;p18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9"/>
          <p:cNvSpPr txBox="1"/>
          <p:nvPr>
            <p:ph type="title"/>
          </p:nvPr>
        </p:nvSpPr>
        <p:spPr>
          <a:xfrm>
            <a:off x="342989" y="205978"/>
            <a:ext cx="617380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7" name="Google Shape;87;p19"/>
          <p:cNvSpPr txBox="1"/>
          <p:nvPr>
            <p:ph idx="1" type="body"/>
          </p:nvPr>
        </p:nvSpPr>
        <p:spPr>
          <a:xfrm>
            <a:off x="342989" y="1151335"/>
            <a:ext cx="3030930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88" name="Google Shape;88;p19"/>
          <p:cNvSpPr txBox="1"/>
          <p:nvPr>
            <p:ph idx="2" type="body"/>
          </p:nvPr>
        </p:nvSpPr>
        <p:spPr>
          <a:xfrm>
            <a:off x="342989" y="1631156"/>
            <a:ext cx="3030930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89" name="Google Shape;89;p19"/>
          <p:cNvSpPr txBox="1"/>
          <p:nvPr>
            <p:ph idx="3" type="body"/>
          </p:nvPr>
        </p:nvSpPr>
        <p:spPr>
          <a:xfrm>
            <a:off x="3484676" y="1151335"/>
            <a:ext cx="3032121" cy="479822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b="1" sz="1400"/>
            </a:lvl3pPr>
            <a:lvl4pPr indent="-2286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90" name="Google Shape;90;p19"/>
          <p:cNvSpPr txBox="1"/>
          <p:nvPr>
            <p:ph idx="4" type="body"/>
          </p:nvPr>
        </p:nvSpPr>
        <p:spPr>
          <a:xfrm>
            <a:off x="3484676" y="1631156"/>
            <a:ext cx="3032121" cy="296346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42900" lvl="0" marL="457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1pPr>
            <a:lvl2pPr indent="-32385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3pPr>
            <a:lvl4pPr indent="-304800" lvl="3" marL="1828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4pPr>
            <a:lvl5pPr indent="-304800" lvl="4" marL="22860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»"/>
              <a:defRPr sz="1200"/>
            </a:lvl5pPr>
            <a:lvl6pPr indent="-304800" lvl="5" marL="2743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6pPr>
            <a:lvl7pPr indent="-304800" lvl="6" marL="3200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7pPr>
            <a:lvl8pPr indent="-304800" lvl="7" marL="3657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8pPr>
            <a:lvl9pPr indent="-304800" lvl="8" marL="411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9pPr>
          </a:lstStyle>
          <a:p/>
        </p:txBody>
      </p:sp>
      <p:sp>
        <p:nvSpPr>
          <p:cNvPr id="91" name="Google Shape;91;p19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2" name="Google Shape;92;p19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3" name="Google Shape;93;p19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0"/>
          <p:cNvSpPr txBox="1"/>
          <p:nvPr>
            <p:ph type="title"/>
          </p:nvPr>
        </p:nvSpPr>
        <p:spPr>
          <a:xfrm>
            <a:off x="342989" y="205978"/>
            <a:ext cx="617380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6" name="Google Shape;96;p20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7" name="Google Shape;97;p20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98" name="Google Shape;98;p20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42989" y="204788"/>
            <a:ext cx="2256822" cy="871538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2681986" y="204788"/>
            <a:ext cx="3834811" cy="438983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–"/>
              <a:defRPr sz="2100"/>
            </a:lvl2pPr>
            <a:lvl3pPr indent="-3429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–"/>
              <a:defRPr sz="1500"/>
            </a:lvl4pPr>
            <a:lvl5pPr indent="-32385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»"/>
              <a:defRPr sz="1500"/>
            </a:lvl5pPr>
            <a:lvl6pPr indent="-32385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102" name="Google Shape;102;p21"/>
          <p:cNvSpPr txBox="1"/>
          <p:nvPr>
            <p:ph idx="2" type="body"/>
          </p:nvPr>
        </p:nvSpPr>
        <p:spPr>
          <a:xfrm>
            <a:off x="342989" y="1076325"/>
            <a:ext cx="2256822" cy="351829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03" name="Google Shape;103;p21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4" name="Google Shape;104;p21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5" name="Google Shape;105;p21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2"/>
          <p:cNvSpPr txBox="1"/>
          <p:nvPr>
            <p:ph type="title"/>
          </p:nvPr>
        </p:nvSpPr>
        <p:spPr>
          <a:xfrm>
            <a:off x="1344566" y="3600450"/>
            <a:ext cx="4115872" cy="425054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Calibri"/>
              <a:buNone/>
              <a:defRPr b="1" sz="1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08" name="Google Shape;108;p22"/>
          <p:cNvSpPr/>
          <p:nvPr>
            <p:ph idx="2" type="pic"/>
          </p:nvPr>
        </p:nvSpPr>
        <p:spPr>
          <a:xfrm>
            <a:off x="1344566" y="459581"/>
            <a:ext cx="4115872" cy="3086100"/>
          </a:xfrm>
          <a:prstGeom prst="rect">
            <a:avLst/>
          </a:prstGeom>
          <a:noFill/>
          <a:ln>
            <a:noFill/>
          </a:ln>
        </p:spPr>
      </p:sp>
      <p:sp>
        <p:nvSpPr>
          <p:cNvPr id="109" name="Google Shape;109;p22"/>
          <p:cNvSpPr txBox="1"/>
          <p:nvPr>
            <p:ph idx="1" type="body"/>
          </p:nvPr>
        </p:nvSpPr>
        <p:spPr>
          <a:xfrm>
            <a:off x="1344566" y="4025503"/>
            <a:ext cx="4115872" cy="603647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228600" lvl="0" marL="4572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  <p:sp>
        <p:nvSpPr>
          <p:cNvPr id="110" name="Google Shape;110;p22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1" name="Google Shape;111;p22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type="title"/>
          </p:nvPr>
        </p:nvSpPr>
        <p:spPr>
          <a:xfrm>
            <a:off x="342989" y="205978"/>
            <a:ext cx="617380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 rot="5400000">
            <a:off x="1732657" y="-189518"/>
            <a:ext cx="3394472" cy="61738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7" name="Google Shape;117;p23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18" name="Google Shape;118;p23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4"/>
          <p:cNvSpPr txBox="1"/>
          <p:nvPr>
            <p:ph type="title"/>
          </p:nvPr>
        </p:nvSpPr>
        <p:spPr>
          <a:xfrm rot="5400000">
            <a:off x="3550749" y="1628574"/>
            <a:ext cx="4388644" cy="154345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1" name="Google Shape;121;p24"/>
          <p:cNvSpPr txBox="1"/>
          <p:nvPr>
            <p:ph idx="1" type="body"/>
          </p:nvPr>
        </p:nvSpPr>
        <p:spPr>
          <a:xfrm rot="5400000">
            <a:off x="406680" y="142287"/>
            <a:ext cx="4388644" cy="451602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17500" lvl="0" marL="457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indent="-317500" lvl="6" marL="32004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indent="-317500" lvl="7" marL="36576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indent="-317500" lvl="8" marL="41148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122" name="Google Shape;122;p24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3" name="Google Shape;123;p24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24" name="Google Shape;124;p24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42989" y="205978"/>
            <a:ext cx="6173808" cy="85725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42989" y="1200150"/>
            <a:ext cx="6173808" cy="3394472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rmAutofit/>
          </a:bodyPr>
          <a:lstStyle>
            <a:lvl1pPr indent="-381000" lvl="0" marL="457200" marR="0" rtl="0" algn="l"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6195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–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23850" lvl="3" marL="1828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–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23850" lvl="4" marL="22860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»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23850" lvl="5" marL="27432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23850" lvl="6" marL="32004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23850" lvl="7" marL="36576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23850" lvl="8" marL="4114800" marR="0" rtl="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0" type="dt"/>
          </p:nvPr>
        </p:nvSpPr>
        <p:spPr>
          <a:xfrm>
            <a:off x="342989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1" type="ftr"/>
          </p:nvPr>
        </p:nvSpPr>
        <p:spPr>
          <a:xfrm>
            <a:off x="2343760" y="4767263"/>
            <a:ext cx="2172266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100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5" name="Google Shape;55;p13"/>
          <p:cNvSpPr txBox="1"/>
          <p:nvPr>
            <p:ph idx="12" type="sldNum"/>
          </p:nvPr>
        </p:nvSpPr>
        <p:spPr>
          <a:xfrm>
            <a:off x="4916180" y="4767263"/>
            <a:ext cx="1600617" cy="27384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5"/>
          <p:cNvSpPr/>
          <p:nvPr/>
        </p:nvSpPr>
        <p:spPr>
          <a:xfrm>
            <a:off x="0" y="0"/>
            <a:ext cx="82317" cy="514350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25"/>
          <p:cNvSpPr/>
          <p:nvPr/>
        </p:nvSpPr>
        <p:spPr>
          <a:xfrm>
            <a:off x="82317" y="0"/>
            <a:ext cx="9061778" cy="54864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25"/>
          <p:cNvSpPr txBox="1"/>
          <p:nvPr/>
        </p:nvSpPr>
        <p:spPr>
          <a:xfrm>
            <a:off x="480185" y="1234440"/>
            <a:ext cx="7888754" cy="9601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39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Code Skills</a:t>
            </a:r>
            <a:endParaRPr sz="1100"/>
          </a:p>
        </p:txBody>
      </p:sp>
      <p:sp>
        <p:nvSpPr>
          <p:cNvPr id="132" name="Google Shape;132;p25"/>
          <p:cNvSpPr/>
          <p:nvPr/>
        </p:nvSpPr>
        <p:spPr>
          <a:xfrm>
            <a:off x="480185" y="2228850"/>
            <a:ext cx="2743915" cy="48006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25"/>
          <p:cNvSpPr txBox="1"/>
          <p:nvPr/>
        </p:nvSpPr>
        <p:spPr>
          <a:xfrm>
            <a:off x="480185" y="2366010"/>
            <a:ext cx="7545765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What They Are, How to Build Them, and How to Make Them Self-Improving</a:t>
            </a:r>
            <a:endParaRPr sz="1100"/>
          </a:p>
        </p:txBody>
      </p:sp>
      <p:sp>
        <p:nvSpPr>
          <p:cNvPr id="134" name="Google Shape;134;p25"/>
          <p:cNvSpPr txBox="1"/>
          <p:nvPr/>
        </p:nvSpPr>
        <p:spPr>
          <a:xfrm>
            <a:off x="480185" y="4526280"/>
            <a:ext cx="7545765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Based on official Anthropic docs + community tutorials</a:t>
            </a:r>
            <a:endParaRPr sz="1100"/>
          </a:p>
        </p:txBody>
      </p:sp>
      <p:sp>
        <p:nvSpPr>
          <p:cNvPr id="135" name="Google Shape;135;p25"/>
          <p:cNvSpPr/>
          <p:nvPr/>
        </p:nvSpPr>
        <p:spPr>
          <a:xfrm>
            <a:off x="7202776" y="342900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25"/>
          <p:cNvSpPr/>
          <p:nvPr/>
        </p:nvSpPr>
        <p:spPr>
          <a:xfrm>
            <a:off x="7463448" y="342900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25"/>
          <p:cNvSpPr/>
          <p:nvPr/>
        </p:nvSpPr>
        <p:spPr>
          <a:xfrm>
            <a:off x="7724119" y="342900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25"/>
          <p:cNvSpPr/>
          <p:nvPr/>
        </p:nvSpPr>
        <p:spPr>
          <a:xfrm>
            <a:off x="7984791" y="342900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25"/>
          <p:cNvSpPr/>
          <p:nvPr/>
        </p:nvSpPr>
        <p:spPr>
          <a:xfrm>
            <a:off x="8245463" y="342900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0" name="Google Shape;140;p25"/>
          <p:cNvSpPr/>
          <p:nvPr/>
        </p:nvSpPr>
        <p:spPr>
          <a:xfrm>
            <a:off x="8506135" y="342900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1" name="Google Shape;141;p25"/>
          <p:cNvSpPr/>
          <p:nvPr/>
        </p:nvSpPr>
        <p:spPr>
          <a:xfrm>
            <a:off x="7202776" y="603504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25"/>
          <p:cNvSpPr/>
          <p:nvPr/>
        </p:nvSpPr>
        <p:spPr>
          <a:xfrm>
            <a:off x="7463448" y="603504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25"/>
          <p:cNvSpPr/>
          <p:nvPr/>
        </p:nvSpPr>
        <p:spPr>
          <a:xfrm>
            <a:off x="7724119" y="603504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25"/>
          <p:cNvSpPr/>
          <p:nvPr/>
        </p:nvSpPr>
        <p:spPr>
          <a:xfrm>
            <a:off x="7984791" y="603504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25"/>
          <p:cNvSpPr/>
          <p:nvPr/>
        </p:nvSpPr>
        <p:spPr>
          <a:xfrm>
            <a:off x="8245463" y="603504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25"/>
          <p:cNvSpPr/>
          <p:nvPr/>
        </p:nvSpPr>
        <p:spPr>
          <a:xfrm>
            <a:off x="8506135" y="603504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25"/>
          <p:cNvSpPr/>
          <p:nvPr/>
        </p:nvSpPr>
        <p:spPr>
          <a:xfrm>
            <a:off x="7202776" y="864108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25"/>
          <p:cNvSpPr/>
          <p:nvPr/>
        </p:nvSpPr>
        <p:spPr>
          <a:xfrm>
            <a:off x="7463448" y="864108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25"/>
          <p:cNvSpPr/>
          <p:nvPr/>
        </p:nvSpPr>
        <p:spPr>
          <a:xfrm>
            <a:off x="7724119" y="864108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25"/>
          <p:cNvSpPr/>
          <p:nvPr/>
        </p:nvSpPr>
        <p:spPr>
          <a:xfrm>
            <a:off x="7984791" y="864108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25"/>
          <p:cNvSpPr/>
          <p:nvPr/>
        </p:nvSpPr>
        <p:spPr>
          <a:xfrm>
            <a:off x="8245463" y="864108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25"/>
          <p:cNvSpPr/>
          <p:nvPr/>
        </p:nvSpPr>
        <p:spPr>
          <a:xfrm>
            <a:off x="8506135" y="864108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25"/>
          <p:cNvSpPr/>
          <p:nvPr/>
        </p:nvSpPr>
        <p:spPr>
          <a:xfrm>
            <a:off x="7202776" y="1124712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4" name="Google Shape;154;p25"/>
          <p:cNvSpPr/>
          <p:nvPr/>
        </p:nvSpPr>
        <p:spPr>
          <a:xfrm>
            <a:off x="7463448" y="1124712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25"/>
          <p:cNvSpPr/>
          <p:nvPr/>
        </p:nvSpPr>
        <p:spPr>
          <a:xfrm>
            <a:off x="7724119" y="1124712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25"/>
          <p:cNvSpPr/>
          <p:nvPr/>
        </p:nvSpPr>
        <p:spPr>
          <a:xfrm>
            <a:off x="7984791" y="1124712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25"/>
          <p:cNvSpPr/>
          <p:nvPr/>
        </p:nvSpPr>
        <p:spPr>
          <a:xfrm>
            <a:off x="8245463" y="1124712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25"/>
          <p:cNvSpPr/>
          <p:nvPr/>
        </p:nvSpPr>
        <p:spPr>
          <a:xfrm>
            <a:off x="8506135" y="1124712"/>
            <a:ext cx="68598" cy="68580"/>
          </a:xfrm>
          <a:prstGeom prst="rect">
            <a:avLst/>
          </a:prstGeom>
          <a:solidFill>
            <a:srgbClr val="283C5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6EF6"/>
        </a:solidFill>
      </p:bgPr>
    </p:bg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26"/>
          <p:cNvSpPr/>
          <p:nvPr/>
        </p:nvSpPr>
        <p:spPr>
          <a:xfrm>
            <a:off x="0" y="0"/>
            <a:ext cx="2881110" cy="5143500"/>
          </a:xfrm>
          <a:prstGeom prst="rect">
            <a:avLst/>
          </a:prstGeom>
          <a:solidFill>
            <a:srgbClr val="0C46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26"/>
          <p:cNvSpPr txBox="1"/>
          <p:nvPr/>
        </p:nvSpPr>
        <p:spPr>
          <a:xfrm>
            <a:off x="240093" y="1028700"/>
            <a:ext cx="24009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0" u="none" cap="none" strike="noStrike">
                <a:solidFill>
                  <a:srgbClr val="0A3C96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165" name="Google Shape;165;p26"/>
          <p:cNvSpPr txBox="1"/>
          <p:nvPr/>
        </p:nvSpPr>
        <p:spPr>
          <a:xfrm>
            <a:off x="3155502" y="1508760"/>
            <a:ext cx="5487829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B4D2FF"/>
                </a:solidFill>
                <a:latin typeface="Calibri"/>
                <a:ea typeface="Calibri"/>
                <a:cs typeface="Calibri"/>
                <a:sym typeface="Calibri"/>
              </a:rPr>
              <a:t>SECTION 1</a:t>
            </a:r>
            <a:endParaRPr sz="1100"/>
          </a:p>
        </p:txBody>
      </p:sp>
      <p:sp>
        <p:nvSpPr>
          <p:cNvPr id="166" name="Google Shape;166;p26"/>
          <p:cNvSpPr txBox="1"/>
          <p:nvPr/>
        </p:nvSpPr>
        <p:spPr>
          <a:xfrm>
            <a:off x="3155502" y="1954530"/>
            <a:ext cx="562502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What Are Skills</a:t>
            </a:r>
            <a:b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and How to Make Them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7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27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27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174" name="Google Shape;174;p27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You're Re-Explaining Yourself Every Session</a:t>
            </a:r>
            <a:endParaRPr sz="1100"/>
          </a:p>
        </p:txBody>
      </p:sp>
      <p:sp>
        <p:nvSpPr>
          <p:cNvPr id="175" name="Google Shape;175;p27"/>
          <p:cNvSpPr txBox="1"/>
          <p:nvPr/>
        </p:nvSpPr>
        <p:spPr>
          <a:xfrm>
            <a:off x="377288" y="1131570"/>
            <a:ext cx="7888754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Your commit message style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Your code review checklist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Your brand voice and tone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7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How you like things formatted</a:t>
            </a:r>
            <a:endParaRPr sz="1100"/>
          </a:p>
        </p:txBody>
      </p:sp>
      <p:sp>
        <p:nvSpPr>
          <p:cNvPr id="176" name="Google Shape;176;p27"/>
          <p:cNvSpPr/>
          <p:nvPr/>
        </p:nvSpPr>
        <p:spPr>
          <a:xfrm>
            <a:off x="377288" y="3566160"/>
            <a:ext cx="8300342" cy="617220"/>
          </a:xfrm>
          <a:prstGeom prst="rect">
            <a:avLst/>
          </a:prstGeom>
          <a:solidFill>
            <a:srgbClr val="0E46A0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27"/>
          <p:cNvSpPr txBox="1"/>
          <p:nvPr/>
        </p:nvSpPr>
        <p:spPr>
          <a:xfrm>
            <a:off x="500764" y="3648456"/>
            <a:ext cx="8053389" cy="45262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fix this.  Write it once.  Claude applies it automatically — forever.</a:t>
            </a:r>
            <a:endParaRPr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8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28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28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185" name="Google Shape;185;p28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 Skill Is a Markdown File That Teaches Claude Once</a:t>
            </a:r>
            <a:endParaRPr sz="1100"/>
          </a:p>
        </p:txBody>
      </p:sp>
      <p:sp>
        <p:nvSpPr>
          <p:cNvPr id="186" name="Google Shape;186;p28"/>
          <p:cNvSpPr txBox="1"/>
          <p:nvPr/>
        </p:nvSpPr>
        <p:spPr>
          <a:xfrm>
            <a:off x="377288" y="1131570"/>
            <a:ext cx="466465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Claude reads the description, recognises the situation, and loads the instructions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Think of it as an SOP for your AI agent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Skills can run scripts, call APIs, create files, spin up sub-agents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Skills can call other skills</a:t>
            </a:r>
            <a:endParaRPr sz="1100"/>
          </a:p>
        </p:txBody>
      </p:sp>
      <p:sp>
        <p:nvSpPr>
          <p:cNvPr id="187" name="Google Shape;187;p28"/>
          <p:cNvSpPr txBox="1"/>
          <p:nvPr/>
        </p:nvSpPr>
        <p:spPr>
          <a:xfrm>
            <a:off x="5213438" y="1062990"/>
            <a:ext cx="3567089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File structure</a:t>
            </a:r>
            <a:endParaRPr sz="1100"/>
          </a:p>
        </p:txBody>
      </p:sp>
      <p:sp>
        <p:nvSpPr>
          <p:cNvPr id="188" name="Google Shape;188;p28"/>
          <p:cNvSpPr/>
          <p:nvPr/>
        </p:nvSpPr>
        <p:spPr>
          <a:xfrm>
            <a:off x="5213438" y="1337310"/>
            <a:ext cx="3498491" cy="150876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8"/>
          <p:cNvSpPr txBox="1"/>
          <p:nvPr/>
        </p:nvSpPr>
        <p:spPr>
          <a:xfrm>
            <a:off x="5350633" y="1440180"/>
            <a:ext cx="3224100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.claude/skills/commit-messages/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skill.md          ← the brain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├── examples.md       ← optional ref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└── scripts/          ← optional</a:t>
            </a:r>
            <a:endParaRPr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9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29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29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197" name="Google Shape;197;p29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Know When to Use Each</a:t>
            </a:r>
            <a:endParaRPr sz="1100"/>
          </a:p>
        </p:txBody>
      </p:sp>
      <p:graphicFrame>
        <p:nvGraphicFramePr>
          <p:cNvPr id="198" name="Google Shape;198;p29"/>
          <p:cNvGraphicFramePr/>
          <p:nvPr/>
        </p:nvGraphicFramePr>
        <p:xfrm>
          <a:off x="377288" y="1165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{1618D651-47AD-407E-8F31-C19179B90897}</a:tableStyleId>
              </a:tblPr>
              <a:tblGrid>
                <a:gridCol w="1371950"/>
                <a:gridCol w="2057925"/>
                <a:gridCol w="2469525"/>
                <a:gridCol w="2057925"/>
              </a:tblGrid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Feature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CLAUDE.md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Slash Command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When it loads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Every conversation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On-demand when matched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Only when you type it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Best for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Hard rules, always-on context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Repeatable workflows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One-off explicit invocations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Context cost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Always burns tokens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Lightweight — YAML only until matched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Zero until invoked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0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30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30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206" name="Google Shape;206;p30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Personal vs. Project Skills</a:t>
            </a:r>
            <a:endParaRPr sz="1100"/>
          </a:p>
        </p:txBody>
      </p:sp>
      <p:sp>
        <p:nvSpPr>
          <p:cNvPr id="207" name="Google Shape;207;p30"/>
          <p:cNvSpPr/>
          <p:nvPr/>
        </p:nvSpPr>
        <p:spPr>
          <a:xfrm>
            <a:off x="377288" y="1165860"/>
            <a:ext cx="4047274" cy="308610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30"/>
          <p:cNvSpPr txBox="1"/>
          <p:nvPr/>
        </p:nvSpPr>
        <p:spPr>
          <a:xfrm>
            <a:off x="514484" y="1268730"/>
            <a:ext cx="37728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~/.claude/skills/   Personal</a:t>
            </a:r>
            <a:endParaRPr sz="1100"/>
          </a:p>
        </p:txBody>
      </p:sp>
      <p:sp>
        <p:nvSpPr>
          <p:cNvPr id="209" name="Google Shape;209;p30"/>
          <p:cNvSpPr/>
          <p:nvPr/>
        </p:nvSpPr>
        <p:spPr>
          <a:xfrm>
            <a:off x="514484" y="1632204"/>
            <a:ext cx="3772883" cy="27432"/>
          </a:xfrm>
          <a:prstGeom prst="rect">
            <a:avLst/>
          </a:prstGeom>
          <a:solidFill>
            <a:srgbClr val="3241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30"/>
          <p:cNvSpPr txBox="1"/>
          <p:nvPr/>
        </p:nvSpPr>
        <p:spPr>
          <a:xfrm>
            <a:off x="514484" y="1714500"/>
            <a:ext cx="3772883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Follows you across ALL projects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Your preferences, tone, and style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Example: how you like commits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Example: how you like code explained</a:t>
            </a:r>
            <a:endParaRPr sz="1100"/>
          </a:p>
        </p:txBody>
      </p:sp>
      <p:sp>
        <p:nvSpPr>
          <p:cNvPr id="211" name="Google Shape;211;p30"/>
          <p:cNvSpPr/>
          <p:nvPr/>
        </p:nvSpPr>
        <p:spPr>
          <a:xfrm>
            <a:off x="4733253" y="1165860"/>
            <a:ext cx="4047274" cy="308610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30"/>
          <p:cNvSpPr txBox="1"/>
          <p:nvPr/>
        </p:nvSpPr>
        <p:spPr>
          <a:xfrm>
            <a:off x="4870448" y="1268730"/>
            <a:ext cx="3772883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.claude/skills/   Project</a:t>
            </a:r>
            <a:endParaRPr sz="1100"/>
          </a:p>
        </p:txBody>
      </p:sp>
      <p:sp>
        <p:nvSpPr>
          <p:cNvPr id="213" name="Google Shape;213;p30"/>
          <p:cNvSpPr/>
          <p:nvPr/>
        </p:nvSpPr>
        <p:spPr>
          <a:xfrm>
            <a:off x="4870448" y="1632204"/>
            <a:ext cx="3772883" cy="27432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30"/>
          <p:cNvSpPr txBox="1"/>
          <p:nvPr/>
        </p:nvSpPr>
        <p:spPr>
          <a:xfrm>
            <a:off x="4870448" y="1714500"/>
            <a:ext cx="3772883" cy="21945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Only in this repo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Anyone who clones it gets these skills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Example: team standards, brand guidelines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Example: CI workflows</a:t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p31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31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31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222" name="Google Shape;222;p31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Claude Doesn't Read Everything — It's Efficient</a:t>
            </a:r>
            <a:endParaRPr sz="1100"/>
          </a:p>
        </p:txBody>
      </p:sp>
      <p:sp>
        <p:nvSpPr>
          <p:cNvPr id="223" name="Google Shape;223;p31"/>
          <p:cNvSpPr/>
          <p:nvPr/>
        </p:nvSpPr>
        <p:spPr>
          <a:xfrm>
            <a:off x="377288" y="1200150"/>
            <a:ext cx="123476" cy="58293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4" name="Google Shape;224;p31"/>
          <p:cNvSpPr/>
          <p:nvPr/>
        </p:nvSpPr>
        <p:spPr>
          <a:xfrm>
            <a:off x="500764" y="1200150"/>
            <a:ext cx="7820156" cy="58293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31"/>
          <p:cNvSpPr txBox="1"/>
          <p:nvPr/>
        </p:nvSpPr>
        <p:spPr>
          <a:xfrm>
            <a:off x="651680" y="1255014"/>
            <a:ext cx="205793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Level 1 — Always</a:t>
            </a:r>
            <a:endParaRPr sz="1100"/>
          </a:p>
        </p:txBody>
      </p:sp>
      <p:sp>
        <p:nvSpPr>
          <p:cNvPr id="226" name="Google Shape;226;p31"/>
          <p:cNvSpPr txBox="1"/>
          <p:nvPr/>
        </p:nvSpPr>
        <p:spPr>
          <a:xfrm>
            <a:off x="2812512" y="1255014"/>
            <a:ext cx="5350633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Scans YAML front matter only  (~100 tokens per skill)</a:t>
            </a:r>
            <a:endParaRPr sz="1100"/>
          </a:p>
        </p:txBody>
      </p:sp>
      <p:sp>
        <p:nvSpPr>
          <p:cNvPr id="227" name="Google Shape;227;p31"/>
          <p:cNvSpPr/>
          <p:nvPr/>
        </p:nvSpPr>
        <p:spPr>
          <a:xfrm>
            <a:off x="377288" y="1988820"/>
            <a:ext cx="123476" cy="582930"/>
          </a:xfrm>
          <a:prstGeom prst="rect">
            <a:avLst/>
          </a:prstGeom>
          <a:solidFill>
            <a:srgbClr val="50A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31"/>
          <p:cNvSpPr/>
          <p:nvPr/>
        </p:nvSpPr>
        <p:spPr>
          <a:xfrm>
            <a:off x="500764" y="1988820"/>
            <a:ext cx="7820156" cy="58293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9" name="Google Shape;229;p31"/>
          <p:cNvSpPr txBox="1"/>
          <p:nvPr/>
        </p:nvSpPr>
        <p:spPr>
          <a:xfrm>
            <a:off x="651680" y="2043684"/>
            <a:ext cx="205793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50A0FF"/>
                </a:solidFill>
                <a:latin typeface="Calibri"/>
                <a:ea typeface="Calibri"/>
                <a:cs typeface="Calibri"/>
                <a:sym typeface="Calibri"/>
              </a:rPr>
              <a:t>Level 2 — If matched</a:t>
            </a:r>
            <a:endParaRPr sz="1100"/>
          </a:p>
        </p:txBody>
      </p:sp>
      <p:sp>
        <p:nvSpPr>
          <p:cNvPr id="230" name="Google Shape;230;p31"/>
          <p:cNvSpPr txBox="1"/>
          <p:nvPr/>
        </p:nvSpPr>
        <p:spPr>
          <a:xfrm>
            <a:off x="2812512" y="2043684"/>
            <a:ext cx="5350633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Reads full skill.md body  (~1,000–2,000 tokens)</a:t>
            </a:r>
            <a:endParaRPr sz="1100"/>
          </a:p>
        </p:txBody>
      </p:sp>
      <p:sp>
        <p:nvSpPr>
          <p:cNvPr id="231" name="Google Shape;231;p31"/>
          <p:cNvSpPr/>
          <p:nvPr/>
        </p:nvSpPr>
        <p:spPr>
          <a:xfrm>
            <a:off x="377288" y="2777490"/>
            <a:ext cx="123476" cy="582930"/>
          </a:xfrm>
          <a:prstGeom prst="rect">
            <a:avLst/>
          </a:prstGeom>
          <a:solidFill>
            <a:srgbClr val="63A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31"/>
          <p:cNvSpPr/>
          <p:nvPr/>
        </p:nvSpPr>
        <p:spPr>
          <a:xfrm>
            <a:off x="500764" y="2777490"/>
            <a:ext cx="7820156" cy="58293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31"/>
          <p:cNvSpPr txBox="1"/>
          <p:nvPr/>
        </p:nvSpPr>
        <p:spPr>
          <a:xfrm>
            <a:off x="651680" y="2832354"/>
            <a:ext cx="2057936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Level 3 — If needed</a:t>
            </a:r>
            <a:endParaRPr sz="1100"/>
          </a:p>
        </p:txBody>
      </p:sp>
      <p:sp>
        <p:nvSpPr>
          <p:cNvPr id="234" name="Google Shape;234;p31"/>
          <p:cNvSpPr txBox="1"/>
          <p:nvPr/>
        </p:nvSpPr>
        <p:spPr>
          <a:xfrm>
            <a:off x="2812512" y="2832354"/>
            <a:ext cx="5350633" cy="26060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Loads reference files and scripts</a:t>
            </a:r>
            <a:endParaRPr sz="1100"/>
          </a:p>
        </p:txBody>
      </p:sp>
      <p:sp>
        <p:nvSpPr>
          <p:cNvPr id="235" name="Google Shape;235;p31"/>
          <p:cNvSpPr/>
          <p:nvPr/>
        </p:nvSpPr>
        <p:spPr>
          <a:xfrm>
            <a:off x="377288" y="3634740"/>
            <a:ext cx="8300342" cy="562356"/>
          </a:xfrm>
          <a:prstGeom prst="rect">
            <a:avLst/>
          </a:prstGeom>
          <a:solidFill>
            <a:srgbClr val="0E46A0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31"/>
          <p:cNvSpPr txBox="1"/>
          <p:nvPr/>
        </p:nvSpPr>
        <p:spPr>
          <a:xfrm>
            <a:off x="500764" y="3717036"/>
            <a:ext cx="8053389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Your YAML description is the most important line in the skill.  Get it wrong and the skill never fires.</a:t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32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32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3" name="Google Shape;243;p32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244" name="Google Shape;244;p32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Explicit or Natural Language</a:t>
            </a:r>
            <a:endParaRPr sz="1100"/>
          </a:p>
        </p:txBody>
      </p:sp>
      <p:sp>
        <p:nvSpPr>
          <p:cNvPr id="245" name="Google Shape;245;p32"/>
          <p:cNvSpPr/>
          <p:nvPr/>
        </p:nvSpPr>
        <p:spPr>
          <a:xfrm>
            <a:off x="377288" y="1165860"/>
            <a:ext cx="4047274" cy="301752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32"/>
          <p:cNvSpPr txBox="1"/>
          <p:nvPr/>
        </p:nvSpPr>
        <p:spPr>
          <a:xfrm>
            <a:off x="514484" y="1268730"/>
            <a:ext cx="377288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Explicit — slash command</a:t>
            </a:r>
            <a:endParaRPr sz="1100"/>
          </a:p>
        </p:txBody>
      </p:sp>
      <p:sp>
        <p:nvSpPr>
          <p:cNvPr id="247" name="Google Shape;247;p32"/>
          <p:cNvSpPr/>
          <p:nvPr/>
        </p:nvSpPr>
        <p:spPr>
          <a:xfrm>
            <a:off x="514484" y="1645920"/>
            <a:ext cx="3772883" cy="51435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32"/>
          <p:cNvSpPr txBox="1"/>
          <p:nvPr/>
        </p:nvSpPr>
        <p:spPr>
          <a:xfrm>
            <a:off x="651680" y="1748790"/>
            <a:ext cx="3498491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/commit-messages</a:t>
            </a:r>
            <a:endParaRPr sz="1100"/>
          </a:p>
        </p:txBody>
      </p:sp>
      <p:sp>
        <p:nvSpPr>
          <p:cNvPr id="249" name="Google Shape;249;p32"/>
          <p:cNvSpPr txBox="1"/>
          <p:nvPr/>
        </p:nvSpPr>
        <p:spPr>
          <a:xfrm>
            <a:off x="514484" y="2297430"/>
            <a:ext cx="377288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You type the exact slash command.</a:t>
            </a:r>
            <a:endParaRPr sz="1100"/>
          </a:p>
        </p:txBody>
      </p:sp>
      <p:sp>
        <p:nvSpPr>
          <p:cNvPr id="250" name="Google Shape;250;p32"/>
          <p:cNvSpPr/>
          <p:nvPr/>
        </p:nvSpPr>
        <p:spPr>
          <a:xfrm>
            <a:off x="4733253" y="1165860"/>
            <a:ext cx="4047274" cy="301752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32"/>
          <p:cNvSpPr txBox="1"/>
          <p:nvPr/>
        </p:nvSpPr>
        <p:spPr>
          <a:xfrm>
            <a:off x="4870448" y="1268730"/>
            <a:ext cx="377288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Natural language — automatic</a:t>
            </a:r>
            <a:endParaRPr sz="1100"/>
          </a:p>
        </p:txBody>
      </p:sp>
      <p:sp>
        <p:nvSpPr>
          <p:cNvPr id="252" name="Google Shape;252;p32"/>
          <p:cNvSpPr/>
          <p:nvPr/>
        </p:nvSpPr>
        <p:spPr>
          <a:xfrm>
            <a:off x="4870448" y="1645920"/>
            <a:ext cx="3772883" cy="75438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32"/>
          <p:cNvSpPr txBox="1"/>
          <p:nvPr/>
        </p:nvSpPr>
        <p:spPr>
          <a:xfrm>
            <a:off x="5007644" y="1748790"/>
            <a:ext cx="3498491" cy="5486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"write a commit message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for this change"</a:t>
            </a:r>
            <a:endParaRPr sz="1100"/>
          </a:p>
        </p:txBody>
      </p:sp>
      <p:sp>
        <p:nvSpPr>
          <p:cNvPr id="254" name="Google Shape;254;p32"/>
          <p:cNvSpPr txBox="1"/>
          <p:nvPr/>
        </p:nvSpPr>
        <p:spPr>
          <a:xfrm>
            <a:off x="4870448" y="2503170"/>
            <a:ext cx="377288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Claude matches the request to skill descriptions automatically.</a:t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3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33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33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262" name="Google Shape;262;p33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skill.md Structure</a:t>
            </a:r>
            <a:endParaRPr sz="1100"/>
          </a:p>
        </p:txBody>
      </p:sp>
      <p:sp>
        <p:nvSpPr>
          <p:cNvPr id="263" name="Google Shape;263;p33"/>
          <p:cNvSpPr txBox="1"/>
          <p:nvPr/>
        </p:nvSpPr>
        <p:spPr>
          <a:xfrm>
            <a:off x="5968013" y="582930"/>
            <a:ext cx="2881110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FF7850"/>
                </a:solidFill>
                <a:latin typeface="Calibri"/>
                <a:ea typeface="Calibri"/>
                <a:cs typeface="Calibri"/>
                <a:sym typeface="Calibri"/>
              </a:rPr>
              <a:t>Keep skill.md under 500 lines</a:t>
            </a:r>
            <a:endParaRPr sz="1100"/>
          </a:p>
        </p:txBody>
      </p:sp>
      <p:sp>
        <p:nvSpPr>
          <p:cNvPr id="264" name="Google Shape;264;p33"/>
          <p:cNvSpPr/>
          <p:nvPr/>
        </p:nvSpPr>
        <p:spPr>
          <a:xfrm>
            <a:off x="377288" y="1062990"/>
            <a:ext cx="8368939" cy="380619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5" name="Google Shape;265;p33"/>
          <p:cNvSpPr txBox="1"/>
          <p:nvPr/>
        </p:nvSpPr>
        <p:spPr>
          <a:xfrm>
            <a:off x="514484" y="1165860"/>
            <a:ext cx="8094548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name: commit-messages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description: Format git commit messages using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conventional commits — use when writing or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reviewing any commit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---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96A0B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## Goal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Produce a well-structured commit message every time.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64C8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## Process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1. Read the staged diff or change description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2. Identify the type: feat / fix / chore / docs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3. Write subject line under 72 chars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64C8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## Rules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- Never use past tense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- Never exceed 72 characters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t/>
            </a:r>
            <a:endParaRPr b="0" i="0" sz="1000" u="none" cap="none" strike="noStrike">
              <a:solidFill>
                <a:srgbClr val="64C864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## Reference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See ./examples.md for approved examples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34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1" name="Google Shape;271;p34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2" name="Google Shape;272;p34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273" name="Google Shape;273;p34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Six Steps from Blank File to Working Skill</a:t>
            </a:r>
            <a:endParaRPr sz="1100"/>
          </a:p>
        </p:txBody>
      </p:sp>
      <p:graphicFrame>
        <p:nvGraphicFramePr>
          <p:cNvPr id="274" name="Google Shape;274;p34"/>
          <p:cNvGraphicFramePr/>
          <p:nvPr/>
        </p:nvGraphicFramePr>
        <p:xfrm>
          <a:off x="377288" y="1165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{1618D651-47AD-407E-8F31-C19179B90897}</a:tableStyleId>
              </a:tblPr>
              <a:tblGrid>
                <a:gridCol w="2195125"/>
                <a:gridCol w="5830800"/>
              </a:tblGrid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Focus Question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 · Name &amp; Trigger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is it called? What natural language fires it?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 · Goal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One sentence: what does it accomplish? What is the output?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 · Process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Step-by-step: exactly what happens in what order?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 · Reference Files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context does it need? Style guides, brand assets?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 · Rules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What could go wrong? Build in guardrails.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 · Self-Improvement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How will you test and iterate?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35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1" name="Google Shape;281;p35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282" name="Google Shape;282;p35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When Things Go Wrong</a:t>
            </a:r>
            <a:endParaRPr sz="1100"/>
          </a:p>
        </p:txBody>
      </p:sp>
      <p:graphicFrame>
        <p:nvGraphicFramePr>
          <p:cNvPr id="283" name="Google Shape;283;p35"/>
          <p:cNvGraphicFramePr/>
          <p:nvPr/>
        </p:nvGraphicFramePr>
        <p:xfrm>
          <a:off x="377288" y="1165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{1618D651-47AD-407E-8F31-C19179B90897}</a:tableStyleId>
              </a:tblPr>
              <a:tblGrid>
                <a:gridCol w="3429875"/>
                <a:gridCol w="4596050"/>
              </a:tblGrid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Symptom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1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Wrong steps or wrong order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Edit skill.md instructions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tone, style, or context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reference files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Same mistake repeating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Add a rule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Struggles with a tool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Create a reference doc for the tool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isn't triggering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Fix the YAML description — make it more specific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Skill triggers too often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1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Set  disable model invocation: true  in YAML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6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9" name="Google Shape;289;p36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0" name="Google Shape;290;p36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291" name="Google Shape;291;p36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The First Version Is Always a Draft</a:t>
            </a:r>
            <a:endParaRPr sz="1100"/>
          </a:p>
        </p:txBody>
      </p:sp>
      <p:sp>
        <p:nvSpPr>
          <p:cNvPr id="292" name="Google Shape;292;p36"/>
          <p:cNvSpPr/>
          <p:nvPr/>
        </p:nvSpPr>
        <p:spPr>
          <a:xfrm>
            <a:off x="377288" y="1200150"/>
            <a:ext cx="2675317" cy="85725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3" name="Google Shape;293;p36"/>
          <p:cNvSpPr txBox="1"/>
          <p:nvPr/>
        </p:nvSpPr>
        <p:spPr>
          <a:xfrm>
            <a:off x="480185" y="1337310"/>
            <a:ext cx="2469523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1 · Invoke skill</a:t>
            </a:r>
            <a:endParaRPr sz="1100"/>
          </a:p>
        </p:txBody>
      </p:sp>
      <p:sp>
        <p:nvSpPr>
          <p:cNvPr id="294" name="Google Shape;294;p36"/>
          <p:cNvSpPr/>
          <p:nvPr/>
        </p:nvSpPr>
        <p:spPr>
          <a:xfrm>
            <a:off x="3224100" y="1200150"/>
            <a:ext cx="2675317" cy="85725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36"/>
          <p:cNvSpPr txBox="1"/>
          <p:nvPr/>
        </p:nvSpPr>
        <p:spPr>
          <a:xfrm>
            <a:off x="3326996" y="1337310"/>
            <a:ext cx="2469523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2 · Watch it work (don't skip this)</a:t>
            </a:r>
            <a:endParaRPr sz="1100"/>
          </a:p>
        </p:txBody>
      </p:sp>
      <p:sp>
        <p:nvSpPr>
          <p:cNvPr id="296" name="Google Shape;296;p36"/>
          <p:cNvSpPr/>
          <p:nvPr/>
        </p:nvSpPr>
        <p:spPr>
          <a:xfrm>
            <a:off x="6070911" y="1200150"/>
            <a:ext cx="2675317" cy="85725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36"/>
          <p:cNvSpPr txBox="1"/>
          <p:nvPr/>
        </p:nvSpPr>
        <p:spPr>
          <a:xfrm>
            <a:off x="6173808" y="1337310"/>
            <a:ext cx="2469523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3 · Spot something wrong</a:t>
            </a:r>
            <a:endParaRPr sz="1100"/>
          </a:p>
        </p:txBody>
      </p:sp>
      <p:sp>
        <p:nvSpPr>
          <p:cNvPr id="298" name="Google Shape;298;p36"/>
          <p:cNvSpPr/>
          <p:nvPr/>
        </p:nvSpPr>
        <p:spPr>
          <a:xfrm>
            <a:off x="377288" y="2228850"/>
            <a:ext cx="2675317" cy="85725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36"/>
          <p:cNvSpPr txBox="1"/>
          <p:nvPr/>
        </p:nvSpPr>
        <p:spPr>
          <a:xfrm>
            <a:off x="480185" y="2366010"/>
            <a:ext cx="2469523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4 · Tell Claude: 'That's wrong because X — fix the skill'</a:t>
            </a:r>
            <a:endParaRPr sz="1100"/>
          </a:p>
        </p:txBody>
      </p:sp>
      <p:sp>
        <p:nvSpPr>
          <p:cNvPr id="300" name="Google Shape;300;p36"/>
          <p:cNvSpPr/>
          <p:nvPr/>
        </p:nvSpPr>
        <p:spPr>
          <a:xfrm>
            <a:off x="3224100" y="2228850"/>
            <a:ext cx="2675317" cy="85725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1" name="Google Shape;301;p36"/>
          <p:cNvSpPr txBox="1"/>
          <p:nvPr/>
        </p:nvSpPr>
        <p:spPr>
          <a:xfrm>
            <a:off x="3326996" y="2366010"/>
            <a:ext cx="2469523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5 · Claude edits skill.md</a:t>
            </a:r>
            <a:endParaRPr sz="1100"/>
          </a:p>
        </p:txBody>
      </p:sp>
      <p:sp>
        <p:nvSpPr>
          <p:cNvPr id="302" name="Google Shape;302;p36"/>
          <p:cNvSpPr/>
          <p:nvPr/>
        </p:nvSpPr>
        <p:spPr>
          <a:xfrm>
            <a:off x="6070911" y="2228850"/>
            <a:ext cx="2675317" cy="85725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36"/>
          <p:cNvSpPr txBox="1"/>
          <p:nvPr/>
        </p:nvSpPr>
        <p:spPr>
          <a:xfrm>
            <a:off x="6173808" y="2366010"/>
            <a:ext cx="2469523" cy="58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6 · Run again → repeat for 20–30 runs</a:t>
            </a:r>
            <a:endParaRPr sz="1100"/>
          </a:p>
        </p:txBody>
      </p:sp>
      <p:sp>
        <p:nvSpPr>
          <p:cNvPr id="304" name="Google Shape;304;p36"/>
          <p:cNvSpPr/>
          <p:nvPr/>
        </p:nvSpPr>
        <p:spPr>
          <a:xfrm>
            <a:off x="377288" y="3463290"/>
            <a:ext cx="8300342" cy="445770"/>
          </a:xfrm>
          <a:prstGeom prst="rect">
            <a:avLst/>
          </a:prstGeom>
          <a:solidFill>
            <a:srgbClr val="0E46A0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6"/>
          <p:cNvSpPr txBox="1"/>
          <p:nvPr/>
        </p:nvSpPr>
        <p:spPr>
          <a:xfrm>
            <a:off x="500764" y="3545586"/>
            <a:ext cx="8053389" cy="28117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By run 20–30, the skill is highly refined.</a:t>
            </a:r>
            <a:endParaRPr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36EF6"/>
        </a:solidFill>
      </p:bgPr>
    </p:bg>
    <p:spTree>
      <p:nvGrpSpPr>
        <p:cNvPr id="309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37"/>
          <p:cNvSpPr/>
          <p:nvPr/>
        </p:nvSpPr>
        <p:spPr>
          <a:xfrm>
            <a:off x="0" y="0"/>
            <a:ext cx="2881110" cy="5143500"/>
          </a:xfrm>
          <a:prstGeom prst="rect">
            <a:avLst/>
          </a:prstGeom>
          <a:solidFill>
            <a:srgbClr val="0C46AA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37"/>
          <p:cNvSpPr txBox="1"/>
          <p:nvPr/>
        </p:nvSpPr>
        <p:spPr>
          <a:xfrm>
            <a:off x="240093" y="1028700"/>
            <a:ext cx="24009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500" u="none" cap="none" strike="noStrike">
                <a:solidFill>
                  <a:srgbClr val="0A3C96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312" name="Google Shape;312;p37"/>
          <p:cNvSpPr txBox="1"/>
          <p:nvPr/>
        </p:nvSpPr>
        <p:spPr>
          <a:xfrm>
            <a:off x="3155502" y="1508760"/>
            <a:ext cx="5487829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B4D2FF"/>
                </a:solidFill>
                <a:latin typeface="Calibri"/>
                <a:ea typeface="Calibri"/>
                <a:cs typeface="Calibri"/>
                <a:sym typeface="Calibri"/>
              </a:rPr>
              <a:t>SECTION 2</a:t>
            </a:r>
            <a:endParaRPr sz="1100"/>
          </a:p>
        </p:txBody>
      </p:sp>
      <p:sp>
        <p:nvSpPr>
          <p:cNvPr id="313" name="Google Shape;313;p37"/>
          <p:cNvSpPr txBox="1"/>
          <p:nvPr/>
        </p:nvSpPr>
        <p:spPr>
          <a:xfrm>
            <a:off x="3155502" y="1954530"/>
            <a:ext cx="5625024" cy="10972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Auto-Improve</a:t>
            </a:r>
            <a:endParaRPr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38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38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38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321" name="Google Shape;321;p38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Manual Improvement Plateaus at 'Pretty Good'</a:t>
            </a:r>
            <a:endParaRPr sz="1100"/>
          </a:p>
        </p:txBody>
      </p:sp>
      <p:sp>
        <p:nvSpPr>
          <p:cNvPr id="322" name="Google Shape;322;p38"/>
          <p:cNvSpPr txBox="1"/>
          <p:nvPr/>
        </p:nvSpPr>
        <p:spPr>
          <a:xfrm>
            <a:off x="377288" y="1131570"/>
            <a:ext cx="8231744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The slow loop:</a:t>
            </a:r>
            <a:endParaRPr sz="1100"/>
          </a:p>
        </p:txBody>
      </p:sp>
      <p:sp>
        <p:nvSpPr>
          <p:cNvPr id="323" name="Google Shape;323;p38"/>
          <p:cNvSpPr/>
          <p:nvPr/>
        </p:nvSpPr>
        <p:spPr>
          <a:xfrm>
            <a:off x="377288" y="1440180"/>
            <a:ext cx="1269060" cy="48006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4" name="Google Shape;324;p38"/>
          <p:cNvSpPr txBox="1"/>
          <p:nvPr/>
        </p:nvSpPr>
        <p:spPr>
          <a:xfrm>
            <a:off x="411587" y="1474470"/>
            <a:ext cx="120046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Run skill</a:t>
            </a:r>
            <a:endParaRPr sz="1100"/>
          </a:p>
        </p:txBody>
      </p:sp>
      <p:sp>
        <p:nvSpPr>
          <p:cNvPr id="325" name="Google Shape;325;p38"/>
          <p:cNvSpPr txBox="1"/>
          <p:nvPr/>
        </p:nvSpPr>
        <p:spPr>
          <a:xfrm>
            <a:off x="1646349" y="1508760"/>
            <a:ext cx="1371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326" name="Google Shape;326;p38"/>
          <p:cNvSpPr/>
          <p:nvPr/>
        </p:nvSpPr>
        <p:spPr>
          <a:xfrm>
            <a:off x="1783544" y="1440180"/>
            <a:ext cx="1269060" cy="48006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7" name="Google Shape;327;p38"/>
          <p:cNvSpPr txBox="1"/>
          <p:nvPr/>
        </p:nvSpPr>
        <p:spPr>
          <a:xfrm>
            <a:off x="1817843" y="1474470"/>
            <a:ext cx="120046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Spot something wrong</a:t>
            </a:r>
            <a:endParaRPr sz="1100"/>
          </a:p>
        </p:txBody>
      </p:sp>
      <p:sp>
        <p:nvSpPr>
          <p:cNvPr id="328" name="Google Shape;328;p38"/>
          <p:cNvSpPr txBox="1"/>
          <p:nvPr/>
        </p:nvSpPr>
        <p:spPr>
          <a:xfrm>
            <a:off x="3052604" y="1508760"/>
            <a:ext cx="1371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329" name="Google Shape;329;p38"/>
          <p:cNvSpPr/>
          <p:nvPr/>
        </p:nvSpPr>
        <p:spPr>
          <a:xfrm>
            <a:off x="3189800" y="1440180"/>
            <a:ext cx="1269060" cy="48006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0" name="Google Shape;330;p38"/>
          <p:cNvSpPr txBox="1"/>
          <p:nvPr/>
        </p:nvSpPr>
        <p:spPr>
          <a:xfrm>
            <a:off x="3224099" y="1474470"/>
            <a:ext cx="120046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Edit skill.md</a:t>
            </a:r>
            <a:endParaRPr sz="1100"/>
          </a:p>
        </p:txBody>
      </p:sp>
      <p:sp>
        <p:nvSpPr>
          <p:cNvPr id="331" name="Google Shape;331;p38"/>
          <p:cNvSpPr txBox="1"/>
          <p:nvPr/>
        </p:nvSpPr>
        <p:spPr>
          <a:xfrm>
            <a:off x="4458860" y="1508760"/>
            <a:ext cx="1371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332" name="Google Shape;332;p38"/>
          <p:cNvSpPr/>
          <p:nvPr/>
        </p:nvSpPr>
        <p:spPr>
          <a:xfrm>
            <a:off x="4596056" y="1440180"/>
            <a:ext cx="1269060" cy="48006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3" name="Google Shape;333;p38"/>
          <p:cNvSpPr txBox="1"/>
          <p:nvPr/>
        </p:nvSpPr>
        <p:spPr>
          <a:xfrm>
            <a:off x="4630355" y="1474470"/>
            <a:ext cx="120046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Run again</a:t>
            </a:r>
            <a:endParaRPr sz="1100"/>
          </a:p>
        </p:txBody>
      </p:sp>
      <p:sp>
        <p:nvSpPr>
          <p:cNvPr id="334" name="Google Shape;334;p38"/>
          <p:cNvSpPr txBox="1"/>
          <p:nvPr/>
        </p:nvSpPr>
        <p:spPr>
          <a:xfrm>
            <a:off x="5865117" y="1508760"/>
            <a:ext cx="1371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335" name="Google Shape;335;p38"/>
          <p:cNvSpPr/>
          <p:nvPr/>
        </p:nvSpPr>
        <p:spPr>
          <a:xfrm>
            <a:off x="6002313" y="1440180"/>
            <a:ext cx="1269060" cy="48006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6" name="Google Shape;336;p38"/>
          <p:cNvSpPr txBox="1"/>
          <p:nvPr/>
        </p:nvSpPr>
        <p:spPr>
          <a:xfrm>
            <a:off x="6036612" y="1474470"/>
            <a:ext cx="120046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sz="1100"/>
          </a:p>
        </p:txBody>
      </p:sp>
      <p:sp>
        <p:nvSpPr>
          <p:cNvPr id="337" name="Google Shape;337;p38"/>
          <p:cNvSpPr txBox="1"/>
          <p:nvPr/>
        </p:nvSpPr>
        <p:spPr>
          <a:xfrm>
            <a:off x="7271374" y="1508760"/>
            <a:ext cx="137196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4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→</a:t>
            </a:r>
            <a:endParaRPr sz="1100"/>
          </a:p>
        </p:txBody>
      </p:sp>
      <p:sp>
        <p:nvSpPr>
          <p:cNvPr id="338" name="Google Shape;338;p38"/>
          <p:cNvSpPr/>
          <p:nvPr/>
        </p:nvSpPr>
        <p:spPr>
          <a:xfrm>
            <a:off x="7408569" y="1440180"/>
            <a:ext cx="1269060" cy="48006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39" name="Google Shape;339;p38"/>
          <p:cNvSpPr txBox="1"/>
          <p:nvPr/>
        </p:nvSpPr>
        <p:spPr>
          <a:xfrm>
            <a:off x="7442868" y="1474470"/>
            <a:ext cx="120046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Eventually stops</a:t>
            </a:r>
            <a:endParaRPr sz="1100"/>
          </a:p>
        </p:txBody>
      </p:sp>
      <p:sp>
        <p:nvSpPr>
          <p:cNvPr id="340" name="Google Shape;340;p38"/>
          <p:cNvSpPr/>
          <p:nvPr/>
        </p:nvSpPr>
        <p:spPr>
          <a:xfrm>
            <a:off x="377288" y="2263140"/>
            <a:ext cx="8300342" cy="1097280"/>
          </a:xfrm>
          <a:prstGeom prst="rect">
            <a:avLst/>
          </a:prstGeom>
          <a:solidFill>
            <a:srgbClr val="1E283A"/>
          </a:solidFill>
          <a:ln cap="flat" cmpd="sng" w="254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1" name="Google Shape;341;p38"/>
          <p:cNvSpPr txBox="1"/>
          <p:nvPr/>
        </p:nvSpPr>
        <p:spPr>
          <a:xfrm>
            <a:off x="583082" y="2345436"/>
            <a:ext cx="102896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Karpathy Insight</a:t>
            </a:r>
            <a:endParaRPr sz="1100"/>
          </a:p>
        </p:txBody>
      </p:sp>
      <p:sp>
        <p:nvSpPr>
          <p:cNvPr id="342" name="Google Shape;342;p38"/>
          <p:cNvSpPr txBox="1"/>
          <p:nvPr/>
        </p:nvSpPr>
        <p:spPr>
          <a:xfrm>
            <a:off x="583082" y="2640330"/>
            <a:ext cx="7614363" cy="6172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"Give a system something to improve + one clear binary metric. It loops overnight while you sleep."</a:t>
            </a:r>
            <a:endParaRPr sz="110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39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8" name="Google Shape;348;p39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39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350" name="Google Shape;350;p39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Fix Triggering, Then Fix Output</a:t>
            </a:r>
            <a:endParaRPr sz="1100"/>
          </a:p>
        </p:txBody>
      </p:sp>
      <p:sp>
        <p:nvSpPr>
          <p:cNvPr id="351" name="Google Shape;351;p39"/>
          <p:cNvSpPr/>
          <p:nvPr/>
        </p:nvSpPr>
        <p:spPr>
          <a:xfrm>
            <a:off x="377288" y="1165860"/>
            <a:ext cx="4081573" cy="3086100"/>
          </a:xfrm>
          <a:prstGeom prst="rect">
            <a:avLst/>
          </a:prstGeom>
          <a:solidFill>
            <a:srgbClr val="1E283A"/>
          </a:solidFill>
          <a:ln cap="flat" cmpd="sng" w="2540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2" name="Google Shape;352;p39"/>
          <p:cNvSpPr txBox="1"/>
          <p:nvPr/>
        </p:nvSpPr>
        <p:spPr>
          <a:xfrm>
            <a:off x="514484" y="1268730"/>
            <a:ext cx="377288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sz="1100"/>
          </a:p>
        </p:txBody>
      </p:sp>
      <p:sp>
        <p:nvSpPr>
          <p:cNvPr id="353" name="Google Shape;353;p39"/>
          <p:cNvSpPr txBox="1"/>
          <p:nvPr/>
        </p:nvSpPr>
        <p:spPr>
          <a:xfrm>
            <a:off x="514484" y="1577340"/>
            <a:ext cx="37728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Description Loop</a:t>
            </a:r>
            <a:endParaRPr sz="1100"/>
          </a:p>
        </p:txBody>
      </p:sp>
      <p:sp>
        <p:nvSpPr>
          <p:cNvPr id="354" name="Google Shape;354;p39"/>
          <p:cNvSpPr/>
          <p:nvPr/>
        </p:nvSpPr>
        <p:spPr>
          <a:xfrm>
            <a:off x="514484" y="2023110"/>
            <a:ext cx="3772883" cy="27432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5" name="Google Shape;355;p39"/>
          <p:cNvSpPr txBox="1"/>
          <p:nvPr/>
        </p:nvSpPr>
        <p:spPr>
          <a:xfrm>
            <a:off x="514484" y="2091690"/>
            <a:ext cx="3772883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→ Fixes whether the skill TRIGGERS correctly</a:t>
            </a:r>
            <a:endParaRPr sz="1100"/>
          </a:p>
        </p:txBody>
      </p:sp>
      <p:sp>
        <p:nvSpPr>
          <p:cNvPr id="356" name="Google Shape;356;p39"/>
          <p:cNvSpPr txBox="1"/>
          <p:nvPr/>
        </p:nvSpPr>
        <p:spPr>
          <a:xfrm>
            <a:off x="514484" y="2571750"/>
            <a:ext cx="377288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Already built into the Skill Creator</a:t>
            </a:r>
            <a:br>
              <a:rPr b="0" i="0" lang="en" sz="11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Activation rate was as low as 20% with vague descriptions</a:t>
            </a:r>
            <a:endParaRPr sz="1100"/>
          </a:p>
        </p:txBody>
      </p:sp>
      <p:sp>
        <p:nvSpPr>
          <p:cNvPr id="357" name="Google Shape;357;p39"/>
          <p:cNvSpPr/>
          <p:nvPr/>
        </p:nvSpPr>
        <p:spPr>
          <a:xfrm>
            <a:off x="4698954" y="1165860"/>
            <a:ext cx="4081573" cy="3086100"/>
          </a:xfrm>
          <a:prstGeom prst="rect">
            <a:avLst/>
          </a:prstGeom>
          <a:solidFill>
            <a:srgbClr val="1E283A"/>
          </a:solidFill>
          <a:ln cap="flat" cmpd="sng" w="25400">
            <a:solidFill>
              <a:srgbClr val="50C878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58" name="Google Shape;358;p39"/>
          <p:cNvSpPr txBox="1"/>
          <p:nvPr/>
        </p:nvSpPr>
        <p:spPr>
          <a:xfrm>
            <a:off x="4836149" y="1268730"/>
            <a:ext cx="3772883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0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sz="1100"/>
          </a:p>
        </p:txBody>
      </p:sp>
      <p:sp>
        <p:nvSpPr>
          <p:cNvPr id="359" name="Google Shape;359;p39"/>
          <p:cNvSpPr txBox="1"/>
          <p:nvPr/>
        </p:nvSpPr>
        <p:spPr>
          <a:xfrm>
            <a:off x="4836149" y="1577340"/>
            <a:ext cx="3772883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7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Assertion Loop</a:t>
            </a:r>
            <a:endParaRPr sz="1100"/>
          </a:p>
        </p:txBody>
      </p:sp>
      <p:sp>
        <p:nvSpPr>
          <p:cNvPr id="360" name="Google Shape;360;p39"/>
          <p:cNvSpPr/>
          <p:nvPr/>
        </p:nvSpPr>
        <p:spPr>
          <a:xfrm>
            <a:off x="4836149" y="2023110"/>
            <a:ext cx="3772883" cy="27432"/>
          </a:xfrm>
          <a:prstGeom prst="rect">
            <a:avLst/>
          </a:prstGeom>
          <a:solidFill>
            <a:srgbClr val="50C8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1" name="Google Shape;361;p39"/>
          <p:cNvSpPr txBox="1"/>
          <p:nvPr/>
        </p:nvSpPr>
        <p:spPr>
          <a:xfrm>
            <a:off x="4836149" y="2091690"/>
            <a:ext cx="3772883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→ Fixes whether the skill OUTPUT is correct</a:t>
            </a:r>
            <a:endParaRPr sz="1100"/>
          </a:p>
        </p:txBody>
      </p:sp>
      <p:sp>
        <p:nvSpPr>
          <p:cNvPr id="362" name="Google Shape;362;p39"/>
          <p:cNvSpPr txBox="1"/>
          <p:nvPr/>
        </p:nvSpPr>
        <p:spPr>
          <a:xfrm>
            <a:off x="4836149" y="2571750"/>
            <a:ext cx="3772883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Karpathy-inspired binary scoring</a:t>
            </a:r>
            <a:br>
              <a:rPr b="0" i="0" lang="en" sz="11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Runs overnight autonomously</a:t>
            </a:r>
            <a:endParaRPr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40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8" name="Google Shape;368;p40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9" name="Google Shape;369;p40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370" name="Google Shape;370;p40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Already Done For You — Just Use It</a:t>
            </a:r>
            <a:endParaRPr sz="1100"/>
          </a:p>
        </p:txBody>
      </p:sp>
      <p:sp>
        <p:nvSpPr>
          <p:cNvPr id="371" name="Google Shape;371;p40"/>
          <p:cNvSpPr/>
          <p:nvPr/>
        </p:nvSpPr>
        <p:spPr>
          <a:xfrm>
            <a:off x="377288" y="1234440"/>
            <a:ext cx="377288" cy="37719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2" name="Google Shape;372;p40"/>
          <p:cNvSpPr txBox="1"/>
          <p:nvPr/>
        </p:nvSpPr>
        <p:spPr>
          <a:xfrm>
            <a:off x="377288" y="1220724"/>
            <a:ext cx="377288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373" name="Google Shape;373;p40"/>
          <p:cNvSpPr txBox="1"/>
          <p:nvPr/>
        </p:nvSpPr>
        <p:spPr>
          <a:xfrm>
            <a:off x="891772" y="1220724"/>
            <a:ext cx="240092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Run test queries</a:t>
            </a:r>
            <a:endParaRPr sz="1100"/>
          </a:p>
        </p:txBody>
      </p:sp>
      <p:sp>
        <p:nvSpPr>
          <p:cNvPr id="374" name="Google Shape;374;p40"/>
          <p:cNvSpPr txBox="1"/>
          <p:nvPr/>
        </p:nvSpPr>
        <p:spPr>
          <a:xfrm>
            <a:off x="3429893" y="1220724"/>
            <a:ext cx="528203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Some should trigger, some shouldn't</a:t>
            </a:r>
            <a:endParaRPr sz="1100"/>
          </a:p>
        </p:txBody>
      </p:sp>
      <p:sp>
        <p:nvSpPr>
          <p:cNvPr id="375" name="Google Shape;375;p40"/>
          <p:cNvSpPr/>
          <p:nvPr/>
        </p:nvSpPr>
        <p:spPr>
          <a:xfrm>
            <a:off x="377288" y="1837944"/>
            <a:ext cx="377288" cy="37719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6" name="Google Shape;376;p40"/>
          <p:cNvSpPr txBox="1"/>
          <p:nvPr/>
        </p:nvSpPr>
        <p:spPr>
          <a:xfrm>
            <a:off x="377288" y="1824228"/>
            <a:ext cx="377288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377" name="Google Shape;377;p40"/>
          <p:cNvSpPr txBox="1"/>
          <p:nvPr/>
        </p:nvSpPr>
        <p:spPr>
          <a:xfrm>
            <a:off x="891772" y="1824228"/>
            <a:ext cx="240092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Measure trigger accuracy</a:t>
            </a:r>
            <a:endParaRPr sz="1100"/>
          </a:p>
        </p:txBody>
      </p:sp>
      <p:sp>
        <p:nvSpPr>
          <p:cNvPr id="378" name="Google Shape;378;p40"/>
          <p:cNvSpPr txBox="1"/>
          <p:nvPr/>
        </p:nvSpPr>
        <p:spPr>
          <a:xfrm>
            <a:off x="3429893" y="1824228"/>
            <a:ext cx="528203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Count true positives + true negatives</a:t>
            </a:r>
            <a:endParaRPr sz="1100"/>
          </a:p>
        </p:txBody>
      </p:sp>
      <p:sp>
        <p:nvSpPr>
          <p:cNvPr id="379" name="Google Shape;379;p40"/>
          <p:cNvSpPr/>
          <p:nvPr/>
        </p:nvSpPr>
        <p:spPr>
          <a:xfrm>
            <a:off x="377288" y="2441448"/>
            <a:ext cx="377288" cy="37719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0" name="Google Shape;380;p40"/>
          <p:cNvSpPr txBox="1"/>
          <p:nvPr/>
        </p:nvSpPr>
        <p:spPr>
          <a:xfrm>
            <a:off x="377288" y="2427732"/>
            <a:ext cx="377288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381" name="Google Shape;381;p40"/>
          <p:cNvSpPr txBox="1"/>
          <p:nvPr/>
        </p:nvSpPr>
        <p:spPr>
          <a:xfrm>
            <a:off x="891772" y="2427732"/>
            <a:ext cx="240092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Propose a better description</a:t>
            </a:r>
            <a:endParaRPr sz="1100"/>
          </a:p>
        </p:txBody>
      </p:sp>
      <p:sp>
        <p:nvSpPr>
          <p:cNvPr id="382" name="Google Shape;382;p40"/>
          <p:cNvSpPr txBox="1"/>
          <p:nvPr/>
        </p:nvSpPr>
        <p:spPr>
          <a:xfrm>
            <a:off x="3429893" y="2427732"/>
            <a:ext cx="528203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If accuracy is low, rewrite the YAML</a:t>
            </a:r>
            <a:endParaRPr sz="1100"/>
          </a:p>
        </p:txBody>
      </p:sp>
      <p:sp>
        <p:nvSpPr>
          <p:cNvPr id="383" name="Google Shape;383;p40"/>
          <p:cNvSpPr/>
          <p:nvPr/>
        </p:nvSpPr>
        <p:spPr>
          <a:xfrm>
            <a:off x="377288" y="3044952"/>
            <a:ext cx="377288" cy="37719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4" name="Google Shape;384;p40"/>
          <p:cNvSpPr txBox="1"/>
          <p:nvPr/>
        </p:nvSpPr>
        <p:spPr>
          <a:xfrm>
            <a:off x="377288" y="3031236"/>
            <a:ext cx="377288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385" name="Google Shape;385;p40"/>
          <p:cNvSpPr txBox="1"/>
          <p:nvPr/>
        </p:nvSpPr>
        <p:spPr>
          <a:xfrm>
            <a:off x="891772" y="3031236"/>
            <a:ext cx="240092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Retest</a:t>
            </a:r>
            <a:endParaRPr sz="1100"/>
          </a:p>
        </p:txBody>
      </p:sp>
      <p:sp>
        <p:nvSpPr>
          <p:cNvPr id="386" name="Google Shape;386;p40"/>
          <p:cNvSpPr txBox="1"/>
          <p:nvPr/>
        </p:nvSpPr>
        <p:spPr>
          <a:xfrm>
            <a:off x="3429893" y="3031236"/>
            <a:ext cx="528203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Run the same queries again</a:t>
            </a:r>
            <a:endParaRPr sz="1100"/>
          </a:p>
        </p:txBody>
      </p:sp>
      <p:sp>
        <p:nvSpPr>
          <p:cNvPr id="387" name="Google Shape;387;p40"/>
          <p:cNvSpPr/>
          <p:nvPr/>
        </p:nvSpPr>
        <p:spPr>
          <a:xfrm>
            <a:off x="377288" y="3648456"/>
            <a:ext cx="377288" cy="37719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0"/>
          <p:cNvSpPr txBox="1"/>
          <p:nvPr/>
        </p:nvSpPr>
        <p:spPr>
          <a:xfrm>
            <a:off x="377288" y="3634740"/>
            <a:ext cx="377288" cy="39776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sp>
        <p:nvSpPr>
          <p:cNvPr id="389" name="Google Shape;389;p40"/>
          <p:cNvSpPr txBox="1"/>
          <p:nvPr/>
        </p:nvSpPr>
        <p:spPr>
          <a:xfrm>
            <a:off x="891772" y="3634740"/>
            <a:ext cx="2400925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3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Repeat</a:t>
            </a:r>
            <a:endParaRPr sz="1100"/>
          </a:p>
        </p:txBody>
      </p:sp>
      <p:sp>
        <p:nvSpPr>
          <p:cNvPr id="390" name="Google Shape;390;p40"/>
          <p:cNvSpPr txBox="1"/>
          <p:nvPr/>
        </p:nvSpPr>
        <p:spPr>
          <a:xfrm>
            <a:off x="3429893" y="3634740"/>
            <a:ext cx="5282036" cy="37719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Until activation rate is acceptable</a:t>
            </a:r>
            <a:endParaRPr sz="1100"/>
          </a:p>
        </p:txBody>
      </p:sp>
      <p:sp>
        <p:nvSpPr>
          <p:cNvPr id="391" name="Google Shape;391;p40"/>
          <p:cNvSpPr/>
          <p:nvPr/>
        </p:nvSpPr>
        <p:spPr>
          <a:xfrm>
            <a:off x="377288" y="4217670"/>
            <a:ext cx="8300342" cy="41148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0"/>
          <p:cNvSpPr txBox="1"/>
          <p:nvPr/>
        </p:nvSpPr>
        <p:spPr>
          <a:xfrm>
            <a:off x="500764" y="4299966"/>
            <a:ext cx="8053389" cy="246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This is inside the Skill Creator skill.  Run  /skill-creator  to access it.</a:t>
            </a:r>
            <a:endParaRPr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396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41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1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1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400" name="Google Shape;400;p41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Only Use True/False Assertions</a:t>
            </a:r>
            <a:endParaRPr sz="1100"/>
          </a:p>
        </p:txBody>
      </p:sp>
      <p:sp>
        <p:nvSpPr>
          <p:cNvPr id="401" name="Google Shape;401;p41"/>
          <p:cNvSpPr/>
          <p:nvPr/>
        </p:nvSpPr>
        <p:spPr>
          <a:xfrm>
            <a:off x="377288" y="1165860"/>
            <a:ext cx="3910078" cy="301752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3CB450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1"/>
          <p:cNvSpPr txBox="1"/>
          <p:nvPr/>
        </p:nvSpPr>
        <p:spPr>
          <a:xfrm>
            <a:off x="514484" y="1248156"/>
            <a:ext cx="363568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50C864"/>
                </a:solidFill>
                <a:latin typeface="Calibri"/>
                <a:ea typeface="Calibri"/>
                <a:cs typeface="Calibri"/>
                <a:sym typeface="Calibri"/>
              </a:rPr>
              <a:t>Works  (binary assertions)</a:t>
            </a:r>
            <a:endParaRPr sz="1100"/>
          </a:p>
        </p:txBody>
      </p:sp>
      <p:sp>
        <p:nvSpPr>
          <p:cNvPr id="403" name="Google Shape;403;p41"/>
          <p:cNvSpPr txBox="1"/>
          <p:nvPr/>
        </p:nvSpPr>
        <p:spPr>
          <a:xfrm>
            <a:off x="514484" y="1632204"/>
            <a:ext cx="3635687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"does not contain em dashes"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"under 300 words"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"final line is a question"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"subject line is under 72 chars"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"contains a bullet list"</a:t>
            </a:r>
            <a:endParaRPr sz="1100"/>
          </a:p>
        </p:txBody>
      </p:sp>
      <p:sp>
        <p:nvSpPr>
          <p:cNvPr id="404" name="Google Shape;404;p41"/>
          <p:cNvSpPr/>
          <p:nvPr/>
        </p:nvSpPr>
        <p:spPr>
          <a:xfrm>
            <a:off x="4733253" y="1165860"/>
            <a:ext cx="3910078" cy="301752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DC464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1"/>
          <p:cNvSpPr txBox="1"/>
          <p:nvPr/>
        </p:nvSpPr>
        <p:spPr>
          <a:xfrm>
            <a:off x="4870448" y="1248156"/>
            <a:ext cx="3635687" cy="3086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DC6464"/>
                </a:solidFill>
                <a:latin typeface="Calibri"/>
                <a:ea typeface="Calibri"/>
                <a:cs typeface="Calibri"/>
                <a:sym typeface="Calibri"/>
              </a:rPr>
              <a:t>Doesn't work  (subjective)</a:t>
            </a:r>
            <a:endParaRPr sz="1100"/>
          </a:p>
        </p:txBody>
      </p:sp>
      <p:sp>
        <p:nvSpPr>
          <p:cNvPr id="406" name="Google Shape;406;p41"/>
          <p:cNvSpPr txBox="1"/>
          <p:nvPr/>
        </p:nvSpPr>
        <p:spPr>
          <a:xfrm>
            <a:off x="4870448" y="1632204"/>
            <a:ext cx="3635687" cy="23317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"is it compelling?"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"does it sound professional?"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"is the tone right?"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2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"is it creative enough?"</a:t>
            </a:r>
            <a:endParaRPr sz="1100"/>
          </a:p>
        </p:txBody>
      </p:sp>
      <p:sp>
        <p:nvSpPr>
          <p:cNvPr id="407" name="Google Shape;407;p41"/>
          <p:cNvSpPr/>
          <p:nvPr/>
        </p:nvSpPr>
        <p:spPr>
          <a:xfrm>
            <a:off x="377288" y="4251960"/>
            <a:ext cx="8300342" cy="37719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8" name="Google Shape;408;p41"/>
          <p:cNvSpPr txBox="1"/>
          <p:nvPr/>
        </p:nvSpPr>
        <p:spPr>
          <a:xfrm>
            <a:off x="500764" y="4334256"/>
            <a:ext cx="8053389" cy="2125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Subjective quality still needs human judgment.  The loop handles structure, format, and constraints.</a:t>
            </a:r>
            <a:endParaRPr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p42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4" name="Google Shape;414;p42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2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416" name="Google Shape;416;p42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Create eval.json with 25 Binary Assertions</a:t>
            </a:r>
            <a:endParaRPr sz="1100"/>
          </a:p>
        </p:txBody>
      </p:sp>
      <p:sp>
        <p:nvSpPr>
          <p:cNvPr id="417" name="Google Shape;417;p42"/>
          <p:cNvSpPr txBox="1"/>
          <p:nvPr/>
        </p:nvSpPr>
        <p:spPr>
          <a:xfrm>
            <a:off x="377288" y="1110996"/>
            <a:ext cx="3086904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Folder structure</a:t>
            </a:r>
            <a:endParaRPr sz="1100"/>
          </a:p>
        </p:txBody>
      </p:sp>
      <p:sp>
        <p:nvSpPr>
          <p:cNvPr id="418" name="Google Shape;418;p42"/>
          <p:cNvSpPr/>
          <p:nvPr/>
        </p:nvSpPr>
        <p:spPr>
          <a:xfrm>
            <a:off x="377288" y="1371600"/>
            <a:ext cx="3086904" cy="150876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9" name="Google Shape;419;p42"/>
          <p:cNvSpPr txBox="1"/>
          <p:nvPr/>
        </p:nvSpPr>
        <p:spPr>
          <a:xfrm>
            <a:off x="514484" y="1474470"/>
            <a:ext cx="2812512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.claude/skills/your-skill/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├── skill.md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├── reference.md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└── eval/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3A1FF"/>
                </a:solidFill>
                <a:latin typeface="Courier New"/>
                <a:ea typeface="Courier New"/>
                <a:cs typeface="Courier New"/>
                <a:sym typeface="Courier New"/>
              </a:rPr>
              <a:t>    └── eval.json</a:t>
            </a:r>
            <a:endParaRPr sz="1100"/>
          </a:p>
        </p:txBody>
      </p:sp>
      <p:sp>
        <p:nvSpPr>
          <p:cNvPr id="420" name="Google Shape;420;p42"/>
          <p:cNvSpPr txBox="1"/>
          <p:nvPr/>
        </p:nvSpPr>
        <p:spPr>
          <a:xfrm>
            <a:off x="3704285" y="1110996"/>
            <a:ext cx="5041943" cy="2400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0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eval/eval.json</a:t>
            </a:r>
            <a:endParaRPr sz="1100"/>
          </a:p>
        </p:txBody>
      </p:sp>
      <p:sp>
        <p:nvSpPr>
          <p:cNvPr id="421" name="Google Shape;421;p42"/>
          <p:cNvSpPr/>
          <p:nvPr/>
        </p:nvSpPr>
        <p:spPr>
          <a:xfrm>
            <a:off x="3704285" y="1371600"/>
            <a:ext cx="5041943" cy="294894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2" name="Google Shape;422;p42"/>
          <p:cNvSpPr txBox="1"/>
          <p:nvPr/>
        </p:nvSpPr>
        <p:spPr>
          <a:xfrm>
            <a:off x="3841480" y="1474470"/>
            <a:ext cx="4767552" cy="27432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  "test_cases": [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    {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"prompt": "Write a commit message...",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      "assertions": [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  "subject line is under 72 characters",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  "uses imperative tense",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  "starts with feat or fix",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  "does not contain the word added",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       "includes a body paragraph"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      ]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FFB450"/>
                </a:solidFill>
                <a:latin typeface="Courier New"/>
                <a:ea typeface="Courier New"/>
                <a:cs typeface="Courier New"/>
                <a:sym typeface="Courier New"/>
              </a:rPr>
              <a:t>  ]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96A0B4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100"/>
          </a:p>
        </p:txBody>
      </p:sp>
      <p:sp>
        <p:nvSpPr>
          <p:cNvPr id="423" name="Google Shape;423;p42"/>
          <p:cNvSpPr/>
          <p:nvPr/>
        </p:nvSpPr>
        <p:spPr>
          <a:xfrm>
            <a:off x="377288" y="3051810"/>
            <a:ext cx="3086904" cy="685800"/>
          </a:xfrm>
          <a:prstGeom prst="rect">
            <a:avLst/>
          </a:prstGeom>
          <a:solidFill>
            <a:srgbClr val="0E46A0"/>
          </a:solidFill>
          <a:ln cap="flat" cmpd="sng" w="19050">
            <a:solidFill>
              <a:srgbClr val="136EF6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4" name="Google Shape;424;p42"/>
          <p:cNvSpPr txBox="1"/>
          <p:nvPr/>
        </p:nvSpPr>
        <p:spPr>
          <a:xfrm>
            <a:off x="500764" y="3134106"/>
            <a:ext cx="2839952" cy="52120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Target: 5 test prompts × 5 assertions = 25 binary checks</a:t>
            </a:r>
            <a:endParaRPr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3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0" name="Google Shape;430;p43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1" name="Google Shape;431;p43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432" name="Google Shape;432;p43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Change Per Iteration.  Loops Until Perfect.</a:t>
            </a:r>
            <a:endParaRPr sz="1100"/>
          </a:p>
        </p:txBody>
      </p:sp>
      <p:sp>
        <p:nvSpPr>
          <p:cNvPr id="433" name="Google Shape;433;p43"/>
          <p:cNvSpPr/>
          <p:nvPr/>
        </p:nvSpPr>
        <p:spPr>
          <a:xfrm>
            <a:off x="377288" y="1131570"/>
            <a:ext cx="41159" cy="44577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4" name="Google Shape;434;p43"/>
          <p:cNvSpPr txBox="1"/>
          <p:nvPr/>
        </p:nvSpPr>
        <p:spPr>
          <a:xfrm>
            <a:off x="514484" y="1159002"/>
            <a:ext cx="38414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Run all test prompts</a:t>
            </a:r>
            <a:endParaRPr sz="1100"/>
          </a:p>
        </p:txBody>
      </p:sp>
      <p:sp>
        <p:nvSpPr>
          <p:cNvPr id="435" name="Google Shape;435;p43"/>
          <p:cNvSpPr/>
          <p:nvPr/>
        </p:nvSpPr>
        <p:spPr>
          <a:xfrm>
            <a:off x="377288" y="1693926"/>
            <a:ext cx="41159" cy="44577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6" name="Google Shape;436;p43"/>
          <p:cNvSpPr txBox="1"/>
          <p:nvPr/>
        </p:nvSpPr>
        <p:spPr>
          <a:xfrm>
            <a:off x="514484" y="1721358"/>
            <a:ext cx="38414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Check every assertion (true/false)</a:t>
            </a:r>
            <a:endParaRPr sz="1100"/>
          </a:p>
        </p:txBody>
      </p:sp>
      <p:sp>
        <p:nvSpPr>
          <p:cNvPr id="437" name="Google Shape;437;p43"/>
          <p:cNvSpPr/>
          <p:nvPr/>
        </p:nvSpPr>
        <p:spPr>
          <a:xfrm>
            <a:off x="377288" y="2256282"/>
            <a:ext cx="41159" cy="44577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8" name="Google Shape;438;p43"/>
          <p:cNvSpPr txBox="1"/>
          <p:nvPr/>
        </p:nvSpPr>
        <p:spPr>
          <a:xfrm>
            <a:off x="514484" y="2283714"/>
            <a:ext cx="38414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Score = passing / total</a:t>
            </a:r>
            <a:endParaRPr sz="1100"/>
          </a:p>
        </p:txBody>
      </p:sp>
      <p:sp>
        <p:nvSpPr>
          <p:cNvPr id="439" name="Google Shape;439;p43"/>
          <p:cNvSpPr/>
          <p:nvPr/>
        </p:nvSpPr>
        <p:spPr>
          <a:xfrm>
            <a:off x="377288" y="2818637"/>
            <a:ext cx="41159" cy="445770"/>
          </a:xfrm>
          <a:prstGeom prst="rect">
            <a:avLst/>
          </a:prstGeom>
          <a:solidFill>
            <a:srgbClr val="64C864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0" name="Google Shape;440;p43"/>
          <p:cNvSpPr txBox="1"/>
          <p:nvPr/>
        </p:nvSpPr>
        <p:spPr>
          <a:xfrm>
            <a:off x="514484" y="2846069"/>
            <a:ext cx="38414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4C864"/>
                </a:solidFill>
                <a:latin typeface="Calibri"/>
                <a:ea typeface="Calibri"/>
                <a:cs typeface="Calibri"/>
                <a:sym typeface="Calibri"/>
              </a:rPr>
              <a:t>Improved? → git commit  (keep)</a:t>
            </a:r>
            <a:br>
              <a:rPr b="0" i="0" lang="en" sz="1100" u="none" cap="none" strike="noStrike">
                <a:solidFill>
                  <a:srgbClr val="64C864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64C864"/>
                </a:solidFill>
                <a:latin typeface="Calibri"/>
                <a:ea typeface="Calibri"/>
                <a:cs typeface="Calibri"/>
                <a:sym typeface="Calibri"/>
              </a:rPr>
              <a:t>Dropped? → git reset  (roll back)</a:t>
            </a:r>
            <a:endParaRPr sz="1100"/>
          </a:p>
        </p:txBody>
      </p:sp>
      <p:sp>
        <p:nvSpPr>
          <p:cNvPr id="441" name="Google Shape;441;p43"/>
          <p:cNvSpPr/>
          <p:nvPr/>
        </p:nvSpPr>
        <p:spPr>
          <a:xfrm>
            <a:off x="377288" y="3380994"/>
            <a:ext cx="41159" cy="445770"/>
          </a:xfrm>
          <a:prstGeom prst="rect">
            <a:avLst/>
          </a:prstGeom>
          <a:solidFill>
            <a:srgbClr val="FFFF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2" name="Google Shape;442;p43"/>
          <p:cNvSpPr txBox="1"/>
          <p:nvPr/>
        </p:nvSpPr>
        <p:spPr>
          <a:xfrm>
            <a:off x="514484" y="3408426"/>
            <a:ext cx="38414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Make ONE change to skill.md</a:t>
            </a:r>
            <a:endParaRPr sz="1100"/>
          </a:p>
        </p:txBody>
      </p:sp>
      <p:sp>
        <p:nvSpPr>
          <p:cNvPr id="443" name="Google Shape;443;p43"/>
          <p:cNvSpPr/>
          <p:nvPr/>
        </p:nvSpPr>
        <p:spPr>
          <a:xfrm>
            <a:off x="377288" y="3943350"/>
            <a:ext cx="41159" cy="445770"/>
          </a:xfrm>
          <a:prstGeom prst="rect">
            <a:avLst/>
          </a:prstGeom>
          <a:solidFill>
            <a:srgbClr val="63A1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4" name="Google Shape;444;p43"/>
          <p:cNvSpPr txBox="1"/>
          <p:nvPr/>
        </p:nvSpPr>
        <p:spPr>
          <a:xfrm>
            <a:off x="514484" y="3970782"/>
            <a:ext cx="3841480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63A1FF"/>
                </a:solidFill>
                <a:latin typeface="Calibri"/>
                <a:ea typeface="Calibri"/>
                <a:cs typeface="Calibri"/>
                <a:sym typeface="Calibri"/>
              </a:rPr>
              <a:t>Loop →</a:t>
            </a:r>
            <a:endParaRPr sz="1100"/>
          </a:p>
        </p:txBody>
      </p:sp>
      <p:sp>
        <p:nvSpPr>
          <p:cNvPr id="445" name="Google Shape;445;p43"/>
          <p:cNvSpPr txBox="1"/>
          <p:nvPr/>
        </p:nvSpPr>
        <p:spPr>
          <a:xfrm>
            <a:off x="4801850" y="1110996"/>
            <a:ext cx="3910078" cy="2743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" sz="11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Prompt to use:</a:t>
            </a:r>
            <a:endParaRPr sz="1100"/>
          </a:p>
        </p:txBody>
      </p:sp>
      <p:sp>
        <p:nvSpPr>
          <p:cNvPr id="446" name="Google Shape;446;p43"/>
          <p:cNvSpPr/>
          <p:nvPr/>
        </p:nvSpPr>
        <p:spPr>
          <a:xfrm>
            <a:off x="4801850" y="1405889"/>
            <a:ext cx="4012975" cy="150876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47" name="Google Shape;447;p43"/>
          <p:cNvSpPr txBox="1"/>
          <p:nvPr/>
        </p:nvSpPr>
        <p:spPr>
          <a:xfrm>
            <a:off x="4939046" y="1508759"/>
            <a:ext cx="3738584" cy="130302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"Run the self-improvement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loop on my X skill.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Use eval/eval.json.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Keep looping until perfect</a:t>
            </a:r>
            <a:endParaRPr sz="1100"/>
          </a:p>
          <a:p>
            <a:pPr indent="0" lvl="0" marL="0" marR="0" rtl="0" algn="l">
              <a:spcBef>
                <a:spcPts val="2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64C864"/>
                </a:solidFill>
                <a:latin typeface="Courier New"/>
                <a:ea typeface="Courier New"/>
                <a:cs typeface="Courier New"/>
                <a:sym typeface="Courier New"/>
              </a:rPr>
              <a:t> score or I stop you."</a:t>
            </a:r>
            <a:endParaRPr sz="11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44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3" name="Google Shape;453;p44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4" name="Google Shape;454;p44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455" name="Google Shape;455;p44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Structure Yes.  Tone No.</a:t>
            </a:r>
            <a:endParaRPr sz="1100"/>
          </a:p>
        </p:txBody>
      </p:sp>
      <p:graphicFrame>
        <p:nvGraphicFramePr>
          <p:cNvPr id="456" name="Google Shape;456;p44"/>
          <p:cNvGraphicFramePr/>
          <p:nvPr/>
        </p:nvGraphicFramePr>
        <p:xfrm>
          <a:off x="377288" y="116586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{1618D651-47AD-407E-8F31-C19179B90897}</a:tableStyleId>
              </a:tblPr>
              <a:tblGrid>
                <a:gridCol w="4012975"/>
                <a:gridCol w="4012975"/>
              </a:tblGrid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 Fix  (structural)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" sz="1200" u="none" cap="none" strike="noStrike">
                          <a:solidFill>
                            <a:srgbClr val="FFFFFF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Cannot Fix  (human judgment)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36EF6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Missing formatting rules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Tone of voice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Forbidden patterns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Creative quality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Word count violations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Whether reference files are used well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Structural requirements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Brand feel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82132"/>
                    </a:solidFill>
                  </a:tcPr>
                </a:tc>
              </a:tr>
              <a:tr h="35662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Contradictions between files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lang="en" sz="1200" u="none" cap="none" strike="noStrike">
                          <a:solidFill>
                            <a:srgbClr val="DCE1EB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Strategic judgment</a:t>
                      </a:r>
                      <a:endParaRPr sz="1100"/>
                    </a:p>
                  </a:txBody>
                  <a:tcPr marT="34300" marB="34300" marR="68600" marL="68600">
                    <a:solidFill>
                      <a:srgbClr val="1E283A"/>
                    </a:solidFill>
                  </a:tcPr>
                </a:tc>
              </a:tr>
            </a:tbl>
          </a:graphicData>
        </a:graphic>
      </p:graphicFrame>
      <p:sp>
        <p:nvSpPr>
          <p:cNvPr id="457" name="Google Shape;457;p44"/>
          <p:cNvSpPr/>
          <p:nvPr/>
        </p:nvSpPr>
        <p:spPr>
          <a:xfrm>
            <a:off x="377288" y="3874770"/>
            <a:ext cx="8300342" cy="720090"/>
          </a:xfrm>
          <a:prstGeom prst="rect">
            <a:avLst/>
          </a:prstGeom>
          <a:solidFill>
            <a:srgbClr val="1E283A"/>
          </a:solidFill>
          <a:ln cap="flat" cmpd="sng" w="19050">
            <a:solidFill>
              <a:srgbClr val="50C864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58" name="Google Shape;458;p44"/>
          <p:cNvSpPr txBox="1"/>
          <p:nvPr/>
        </p:nvSpPr>
        <p:spPr>
          <a:xfrm>
            <a:off x="500764" y="3957066"/>
            <a:ext cx="8053389" cy="55549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Real example: Marketing skill at v5 scored 23/24 (95.8%).  Failing assertion: "end with a question."</a:t>
            </a:r>
            <a:b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Rule was in tone-of-voice.md but not skill.md — contradiction.  Loop added it.  Next run: 100%.</a:t>
            </a:r>
            <a:endParaRPr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45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5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5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466" name="Google Shape;466;p45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From Blank File to Reliable Skill</a:t>
            </a:r>
            <a:endParaRPr sz="1100"/>
          </a:p>
        </p:txBody>
      </p:sp>
      <p:sp>
        <p:nvSpPr>
          <p:cNvPr id="467" name="Google Shape;467;p45"/>
          <p:cNvSpPr/>
          <p:nvPr/>
        </p:nvSpPr>
        <p:spPr>
          <a:xfrm>
            <a:off x="274391" y="1131570"/>
            <a:ext cx="2023637" cy="82296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5"/>
          <p:cNvSpPr/>
          <p:nvPr/>
        </p:nvSpPr>
        <p:spPr>
          <a:xfrm>
            <a:off x="274391" y="1213866"/>
            <a:ext cx="2023637" cy="2983229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5"/>
          <p:cNvSpPr txBox="1"/>
          <p:nvPr/>
        </p:nvSpPr>
        <p:spPr>
          <a:xfrm>
            <a:off x="377288" y="1248156"/>
            <a:ext cx="181784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Week 1</a:t>
            </a:r>
            <a:br>
              <a:rPr b="1" i="0" lang="en" sz="11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Build</a:t>
            </a:r>
            <a:endParaRPr sz="1100"/>
          </a:p>
        </p:txBody>
      </p:sp>
      <p:sp>
        <p:nvSpPr>
          <p:cNvPr id="470" name="Google Shape;470;p45"/>
          <p:cNvSpPr/>
          <p:nvPr/>
        </p:nvSpPr>
        <p:spPr>
          <a:xfrm>
            <a:off x="377288" y="1741932"/>
            <a:ext cx="1817843" cy="20574"/>
          </a:xfrm>
          <a:prstGeom prst="rect">
            <a:avLst/>
          </a:prstGeom>
          <a:solidFill>
            <a:srgbClr val="3241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5"/>
          <p:cNvSpPr txBox="1"/>
          <p:nvPr/>
        </p:nvSpPr>
        <p:spPr>
          <a:xfrm>
            <a:off x="356709" y="1796796"/>
            <a:ext cx="1872722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Use the six-step framework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Write skill.md + reference files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Run manually 5–10 times, give feedback</a:t>
            </a:r>
            <a:endParaRPr sz="1100"/>
          </a:p>
        </p:txBody>
      </p:sp>
      <p:sp>
        <p:nvSpPr>
          <p:cNvPr id="472" name="Google Shape;472;p45"/>
          <p:cNvSpPr/>
          <p:nvPr/>
        </p:nvSpPr>
        <p:spPr>
          <a:xfrm>
            <a:off x="2469523" y="1131570"/>
            <a:ext cx="2023637" cy="82296"/>
          </a:xfrm>
          <a:prstGeom prst="rect">
            <a:avLst/>
          </a:prstGeom>
          <a:solidFill>
            <a:srgbClr val="50A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5"/>
          <p:cNvSpPr/>
          <p:nvPr/>
        </p:nvSpPr>
        <p:spPr>
          <a:xfrm>
            <a:off x="2469523" y="1213866"/>
            <a:ext cx="2023637" cy="2983229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5"/>
          <p:cNvSpPr txBox="1"/>
          <p:nvPr/>
        </p:nvSpPr>
        <p:spPr>
          <a:xfrm>
            <a:off x="2572420" y="1248156"/>
            <a:ext cx="181784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50A0FF"/>
                </a:solidFill>
                <a:latin typeface="Calibri"/>
                <a:ea typeface="Calibri"/>
                <a:cs typeface="Calibri"/>
                <a:sym typeface="Calibri"/>
              </a:rPr>
              <a:t>Week 1–2</a:t>
            </a:r>
            <a:br>
              <a:rPr b="1" i="0" lang="en" sz="1100" u="none" cap="none" strike="noStrike">
                <a:solidFill>
                  <a:srgbClr val="50A0FF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00" u="none" cap="none" strike="noStrike">
                <a:solidFill>
                  <a:srgbClr val="50A0FF"/>
                </a:solidFill>
                <a:latin typeface="Calibri"/>
                <a:ea typeface="Calibri"/>
                <a:cs typeface="Calibri"/>
                <a:sym typeface="Calibri"/>
              </a:rPr>
              <a:t>Layer 1</a:t>
            </a:r>
            <a:endParaRPr sz="1100"/>
          </a:p>
        </p:txBody>
      </p:sp>
      <p:sp>
        <p:nvSpPr>
          <p:cNvPr id="475" name="Google Shape;475;p45"/>
          <p:cNvSpPr/>
          <p:nvPr/>
        </p:nvSpPr>
        <p:spPr>
          <a:xfrm>
            <a:off x="2572420" y="1741932"/>
            <a:ext cx="1817843" cy="20574"/>
          </a:xfrm>
          <a:prstGeom prst="rect">
            <a:avLst/>
          </a:prstGeom>
          <a:solidFill>
            <a:srgbClr val="3241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5"/>
          <p:cNvSpPr txBox="1"/>
          <p:nvPr/>
        </p:nvSpPr>
        <p:spPr>
          <a:xfrm>
            <a:off x="2551841" y="1796796"/>
            <a:ext cx="1872722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Run the built-in description improvement loop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Verify skill is triggering correctly</a:t>
            </a:r>
            <a:endParaRPr sz="1100"/>
          </a:p>
        </p:txBody>
      </p:sp>
      <p:sp>
        <p:nvSpPr>
          <p:cNvPr id="477" name="Google Shape;477;p45"/>
          <p:cNvSpPr/>
          <p:nvPr/>
        </p:nvSpPr>
        <p:spPr>
          <a:xfrm>
            <a:off x="4664655" y="1131570"/>
            <a:ext cx="2023637" cy="82296"/>
          </a:xfrm>
          <a:prstGeom prst="rect">
            <a:avLst/>
          </a:prstGeom>
          <a:solidFill>
            <a:srgbClr val="50C8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8" name="Google Shape;478;p45"/>
          <p:cNvSpPr/>
          <p:nvPr/>
        </p:nvSpPr>
        <p:spPr>
          <a:xfrm>
            <a:off x="4664655" y="1213866"/>
            <a:ext cx="2023637" cy="2983229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9" name="Google Shape;479;p45"/>
          <p:cNvSpPr txBox="1"/>
          <p:nvPr/>
        </p:nvSpPr>
        <p:spPr>
          <a:xfrm>
            <a:off x="4767552" y="1248156"/>
            <a:ext cx="181784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Week 2</a:t>
            </a:r>
            <a:br>
              <a:rPr b="1" i="0" lang="en" sz="11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Layer 2</a:t>
            </a:r>
            <a:endParaRPr sz="1100"/>
          </a:p>
        </p:txBody>
      </p:sp>
      <p:sp>
        <p:nvSpPr>
          <p:cNvPr id="480" name="Google Shape;480;p45"/>
          <p:cNvSpPr/>
          <p:nvPr/>
        </p:nvSpPr>
        <p:spPr>
          <a:xfrm>
            <a:off x="4767552" y="1741932"/>
            <a:ext cx="1817843" cy="20574"/>
          </a:xfrm>
          <a:prstGeom prst="rect">
            <a:avLst/>
          </a:prstGeom>
          <a:solidFill>
            <a:srgbClr val="3241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1" name="Google Shape;481;p45"/>
          <p:cNvSpPr txBox="1"/>
          <p:nvPr/>
        </p:nvSpPr>
        <p:spPr>
          <a:xfrm>
            <a:off x="4746972" y="1796796"/>
            <a:ext cx="1872722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Write eval.json with 25 binary assertions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Start overnight loop: 'keep going until perfect score'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Review git log in the morning</a:t>
            </a:r>
            <a:endParaRPr sz="1100"/>
          </a:p>
        </p:txBody>
      </p:sp>
      <p:sp>
        <p:nvSpPr>
          <p:cNvPr id="482" name="Google Shape;482;p45"/>
          <p:cNvSpPr/>
          <p:nvPr/>
        </p:nvSpPr>
        <p:spPr>
          <a:xfrm>
            <a:off x="6859786" y="1131570"/>
            <a:ext cx="2023637" cy="82296"/>
          </a:xfrm>
          <a:prstGeom prst="rect">
            <a:avLst/>
          </a:prstGeom>
          <a:solidFill>
            <a:srgbClr val="DCA0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3" name="Google Shape;483;p45"/>
          <p:cNvSpPr/>
          <p:nvPr/>
        </p:nvSpPr>
        <p:spPr>
          <a:xfrm>
            <a:off x="6859786" y="1213866"/>
            <a:ext cx="2023637" cy="2983229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4" name="Google Shape;484;p45"/>
          <p:cNvSpPr txBox="1"/>
          <p:nvPr/>
        </p:nvSpPr>
        <p:spPr>
          <a:xfrm>
            <a:off x="6962683" y="1248156"/>
            <a:ext cx="1817843" cy="48006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100" u="none" cap="none" strike="noStrike">
                <a:solidFill>
                  <a:srgbClr val="DCA050"/>
                </a:solidFill>
                <a:latin typeface="Calibri"/>
                <a:ea typeface="Calibri"/>
                <a:cs typeface="Calibri"/>
                <a:sym typeface="Calibri"/>
              </a:rPr>
              <a:t>Ongoing</a:t>
            </a:r>
            <a:br>
              <a:rPr b="1" i="0" lang="en" sz="1100" u="none" cap="none" strike="noStrike">
                <a:solidFill>
                  <a:srgbClr val="DCA050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" sz="1100" u="none" cap="none" strike="noStrike">
                <a:solidFill>
                  <a:srgbClr val="DCA050"/>
                </a:solidFill>
                <a:latin typeface="Calibri"/>
                <a:ea typeface="Calibri"/>
                <a:cs typeface="Calibri"/>
                <a:sym typeface="Calibri"/>
              </a:rPr>
              <a:t>Human Review</a:t>
            </a:r>
            <a:endParaRPr sz="1100"/>
          </a:p>
        </p:txBody>
      </p:sp>
      <p:sp>
        <p:nvSpPr>
          <p:cNvPr id="485" name="Google Shape;485;p45"/>
          <p:cNvSpPr/>
          <p:nvPr/>
        </p:nvSpPr>
        <p:spPr>
          <a:xfrm>
            <a:off x="6962683" y="1741932"/>
            <a:ext cx="1817843" cy="20574"/>
          </a:xfrm>
          <a:prstGeom prst="rect">
            <a:avLst/>
          </a:prstGeom>
          <a:solidFill>
            <a:srgbClr val="32415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86" name="Google Shape;486;p45"/>
          <p:cNvSpPr txBox="1"/>
          <p:nvPr/>
        </p:nvSpPr>
        <p:spPr>
          <a:xfrm>
            <a:off x="6942104" y="1796796"/>
            <a:ext cx="1872722" cy="2263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Check for tone/creativity gaps (won't auto-fix)</a:t>
            </a:r>
            <a:endParaRPr sz="1100"/>
          </a:p>
          <a:p>
            <a:pPr indent="0" lvl="0" marL="0" marR="0" rtl="0" algn="l">
              <a:spcBef>
                <a:spcPts val="500"/>
              </a:spcBef>
              <a:spcAft>
                <a:spcPts val="0"/>
              </a:spcAft>
              <a:buNone/>
            </a:pPr>
            <a:r>
              <a:rPr b="0" i="0" lang="en" sz="10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• Add new assertions as edge cases emerge</a:t>
            </a:r>
            <a:endParaRPr sz="110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490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46"/>
          <p:cNvSpPr/>
          <p:nvPr/>
        </p:nvSpPr>
        <p:spPr>
          <a:xfrm>
            <a:off x="377288" y="82296"/>
            <a:ext cx="1234762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2" name="Google Shape;492;p46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3" name="Google Shape;493;p46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Claude Code Skills  ·  Anthropic + Community Docs</a:t>
            </a:r>
            <a:endParaRPr sz="1100"/>
          </a:p>
        </p:txBody>
      </p:sp>
      <p:sp>
        <p:nvSpPr>
          <p:cNvPr id="494" name="Google Shape;494;p46"/>
          <p:cNvSpPr txBox="1"/>
          <p:nvPr/>
        </p:nvSpPr>
        <p:spPr>
          <a:xfrm>
            <a:off x="377288" y="562356"/>
            <a:ext cx="8368939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1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Five Things to Remember</a:t>
            </a:r>
            <a:endParaRPr sz="1100"/>
          </a:p>
        </p:txBody>
      </p:sp>
      <p:sp>
        <p:nvSpPr>
          <p:cNvPr id="495" name="Google Shape;495;p46"/>
          <p:cNvSpPr/>
          <p:nvPr/>
        </p:nvSpPr>
        <p:spPr>
          <a:xfrm>
            <a:off x="377288" y="1186434"/>
            <a:ext cx="377288" cy="425196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96" name="Google Shape;496;p46"/>
          <p:cNvSpPr txBox="1"/>
          <p:nvPr/>
        </p:nvSpPr>
        <p:spPr>
          <a:xfrm>
            <a:off x="377288" y="1172718"/>
            <a:ext cx="37728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1100"/>
          </a:p>
        </p:txBody>
      </p:sp>
      <p:sp>
        <p:nvSpPr>
          <p:cNvPr id="497" name="Google Shape;497;p46"/>
          <p:cNvSpPr txBox="1"/>
          <p:nvPr/>
        </p:nvSpPr>
        <p:spPr>
          <a:xfrm>
            <a:off x="891772" y="1172718"/>
            <a:ext cx="2743915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YAML description is everything</a:t>
            </a:r>
            <a:endParaRPr sz="1100"/>
          </a:p>
        </p:txBody>
      </p:sp>
      <p:sp>
        <p:nvSpPr>
          <p:cNvPr id="498" name="Google Shape;498;p46"/>
          <p:cNvSpPr txBox="1"/>
          <p:nvPr/>
        </p:nvSpPr>
        <p:spPr>
          <a:xfrm>
            <a:off x="3841480" y="1172718"/>
            <a:ext cx="487044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It controls whether the skill fires at all</a:t>
            </a:r>
            <a:endParaRPr sz="1100"/>
          </a:p>
        </p:txBody>
      </p:sp>
      <p:sp>
        <p:nvSpPr>
          <p:cNvPr id="499" name="Google Shape;499;p46"/>
          <p:cNvSpPr/>
          <p:nvPr/>
        </p:nvSpPr>
        <p:spPr>
          <a:xfrm>
            <a:off x="377288" y="1858518"/>
            <a:ext cx="377288" cy="425196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0" name="Google Shape;500;p46"/>
          <p:cNvSpPr txBox="1"/>
          <p:nvPr/>
        </p:nvSpPr>
        <p:spPr>
          <a:xfrm>
            <a:off x="377288" y="1844802"/>
            <a:ext cx="37728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1100"/>
          </a:p>
        </p:txBody>
      </p:sp>
      <p:sp>
        <p:nvSpPr>
          <p:cNvPr id="501" name="Google Shape;501;p46"/>
          <p:cNvSpPr txBox="1"/>
          <p:nvPr/>
        </p:nvSpPr>
        <p:spPr>
          <a:xfrm>
            <a:off x="891772" y="1844802"/>
            <a:ext cx="2743915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One change per loop iteration</a:t>
            </a:r>
            <a:endParaRPr sz="1100"/>
          </a:p>
        </p:txBody>
      </p:sp>
      <p:sp>
        <p:nvSpPr>
          <p:cNvPr id="502" name="Google Shape;502;p46"/>
          <p:cNvSpPr txBox="1"/>
          <p:nvPr/>
        </p:nvSpPr>
        <p:spPr>
          <a:xfrm>
            <a:off x="3841480" y="1844802"/>
            <a:ext cx="487044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Keeps rollbacks clean and measurable</a:t>
            </a:r>
            <a:endParaRPr sz="1100"/>
          </a:p>
        </p:txBody>
      </p:sp>
      <p:sp>
        <p:nvSpPr>
          <p:cNvPr id="503" name="Google Shape;503;p46"/>
          <p:cNvSpPr/>
          <p:nvPr/>
        </p:nvSpPr>
        <p:spPr>
          <a:xfrm>
            <a:off x="377288" y="2530602"/>
            <a:ext cx="377288" cy="425196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6"/>
          <p:cNvSpPr txBox="1"/>
          <p:nvPr/>
        </p:nvSpPr>
        <p:spPr>
          <a:xfrm>
            <a:off x="377288" y="2516886"/>
            <a:ext cx="37728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1100"/>
          </a:p>
        </p:txBody>
      </p:sp>
      <p:sp>
        <p:nvSpPr>
          <p:cNvPr id="505" name="Google Shape;505;p46"/>
          <p:cNvSpPr txBox="1"/>
          <p:nvPr/>
        </p:nvSpPr>
        <p:spPr>
          <a:xfrm>
            <a:off x="891772" y="2516886"/>
            <a:ext cx="2743915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Binary assertions only</a:t>
            </a:r>
            <a:endParaRPr sz="1100"/>
          </a:p>
        </p:txBody>
      </p:sp>
      <p:sp>
        <p:nvSpPr>
          <p:cNvPr id="506" name="Google Shape;506;p46"/>
          <p:cNvSpPr txBox="1"/>
          <p:nvPr/>
        </p:nvSpPr>
        <p:spPr>
          <a:xfrm>
            <a:off x="3841480" y="2516886"/>
            <a:ext cx="487044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Subjective scoring breaks automation</a:t>
            </a:r>
            <a:endParaRPr sz="1100"/>
          </a:p>
        </p:txBody>
      </p:sp>
      <p:sp>
        <p:nvSpPr>
          <p:cNvPr id="507" name="Google Shape;507;p46"/>
          <p:cNvSpPr/>
          <p:nvPr/>
        </p:nvSpPr>
        <p:spPr>
          <a:xfrm>
            <a:off x="377288" y="3202686"/>
            <a:ext cx="377288" cy="425196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6"/>
          <p:cNvSpPr txBox="1"/>
          <p:nvPr/>
        </p:nvSpPr>
        <p:spPr>
          <a:xfrm>
            <a:off x="377288" y="3188970"/>
            <a:ext cx="37728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1100"/>
          </a:p>
        </p:txBody>
      </p:sp>
      <p:sp>
        <p:nvSpPr>
          <p:cNvPr id="509" name="Google Shape;509;p46"/>
          <p:cNvSpPr txBox="1"/>
          <p:nvPr/>
        </p:nvSpPr>
        <p:spPr>
          <a:xfrm>
            <a:off x="891772" y="3188970"/>
            <a:ext cx="2743915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Skills compound</a:t>
            </a:r>
            <a:endParaRPr sz="1100"/>
          </a:p>
        </p:txBody>
      </p:sp>
      <p:sp>
        <p:nvSpPr>
          <p:cNvPr id="510" name="Google Shape;510;p46"/>
          <p:cNvSpPr txBox="1"/>
          <p:nvPr/>
        </p:nvSpPr>
        <p:spPr>
          <a:xfrm>
            <a:off x="3841480" y="3188970"/>
            <a:ext cx="487044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Skills can call other skills in parallel</a:t>
            </a:r>
            <a:endParaRPr sz="1100"/>
          </a:p>
        </p:txBody>
      </p:sp>
      <p:sp>
        <p:nvSpPr>
          <p:cNvPr id="511" name="Google Shape;511;p46"/>
          <p:cNvSpPr/>
          <p:nvPr/>
        </p:nvSpPr>
        <p:spPr>
          <a:xfrm>
            <a:off x="377288" y="3874770"/>
            <a:ext cx="377288" cy="425196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6"/>
          <p:cNvSpPr txBox="1"/>
          <p:nvPr/>
        </p:nvSpPr>
        <p:spPr>
          <a:xfrm>
            <a:off x="377288" y="3861054"/>
            <a:ext cx="37728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5</a:t>
            </a:r>
            <a:endParaRPr sz="1100"/>
          </a:p>
        </p:txBody>
      </p:sp>
      <p:sp>
        <p:nvSpPr>
          <p:cNvPr id="513" name="Google Shape;513;p46"/>
          <p:cNvSpPr txBox="1"/>
          <p:nvPr/>
        </p:nvSpPr>
        <p:spPr>
          <a:xfrm>
            <a:off x="891772" y="3861054"/>
            <a:ext cx="2743915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4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Watch the first few runs</a:t>
            </a:r>
            <a:endParaRPr sz="1100"/>
          </a:p>
        </p:txBody>
      </p:sp>
      <p:sp>
        <p:nvSpPr>
          <p:cNvPr id="514" name="Google Shape;514;p46"/>
          <p:cNvSpPr txBox="1"/>
          <p:nvPr/>
        </p:nvSpPr>
        <p:spPr>
          <a:xfrm>
            <a:off x="3841480" y="3861054"/>
            <a:ext cx="4870448" cy="44577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3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Spot token waste before automating</a:t>
            </a:r>
            <a:endParaRPr sz="110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21926"/>
        </a:solidFill>
      </p:bgPr>
    </p:bg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47"/>
          <p:cNvSpPr/>
          <p:nvPr/>
        </p:nvSpPr>
        <p:spPr>
          <a:xfrm>
            <a:off x="377288" y="82296"/>
            <a:ext cx="2400925" cy="41148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0" name="Google Shape;520;p47"/>
          <p:cNvSpPr/>
          <p:nvPr/>
        </p:nvSpPr>
        <p:spPr>
          <a:xfrm>
            <a:off x="0" y="4896612"/>
            <a:ext cx="9144095" cy="246888"/>
          </a:xfrm>
          <a:prstGeom prst="rect">
            <a:avLst/>
          </a:prstGeom>
          <a:solidFill>
            <a:srgbClr val="0C111B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1" name="Google Shape;521;p47"/>
          <p:cNvSpPr txBox="1"/>
          <p:nvPr/>
        </p:nvSpPr>
        <p:spPr>
          <a:xfrm>
            <a:off x="377288" y="4910328"/>
            <a:ext cx="8231744" cy="2057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800" u="none" cap="none" strike="noStrike">
                <a:solidFill>
                  <a:srgbClr val="96A0B4"/>
                </a:solidFill>
                <a:latin typeface="Calibri"/>
                <a:ea typeface="Calibri"/>
                <a:cs typeface="Calibri"/>
                <a:sym typeface="Calibri"/>
              </a:rPr>
              <a:t>Based on official Anthropic docs + community tutorials</a:t>
            </a:r>
            <a:endParaRPr sz="1100"/>
          </a:p>
        </p:txBody>
      </p:sp>
      <p:sp>
        <p:nvSpPr>
          <p:cNvPr id="522" name="Google Shape;522;p47"/>
          <p:cNvSpPr txBox="1"/>
          <p:nvPr/>
        </p:nvSpPr>
        <p:spPr>
          <a:xfrm>
            <a:off x="377288" y="205740"/>
            <a:ext cx="8231744" cy="41148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26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Quick Reference</a:t>
            </a:r>
            <a:endParaRPr sz="1100"/>
          </a:p>
        </p:txBody>
      </p:sp>
      <p:sp>
        <p:nvSpPr>
          <p:cNvPr id="523" name="Google Shape;523;p47"/>
          <p:cNvSpPr/>
          <p:nvPr/>
        </p:nvSpPr>
        <p:spPr>
          <a:xfrm>
            <a:off x="274391" y="788670"/>
            <a:ext cx="4184470" cy="68580"/>
          </a:xfrm>
          <a:prstGeom prst="rect">
            <a:avLst/>
          </a:prstGeom>
          <a:solidFill>
            <a:srgbClr val="136EF6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4" name="Google Shape;524;p47"/>
          <p:cNvSpPr/>
          <p:nvPr/>
        </p:nvSpPr>
        <p:spPr>
          <a:xfrm>
            <a:off x="274391" y="857250"/>
            <a:ext cx="4184470" cy="174879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5" name="Google Shape;525;p47"/>
          <p:cNvSpPr txBox="1"/>
          <p:nvPr/>
        </p:nvSpPr>
        <p:spPr>
          <a:xfrm>
            <a:off x="377288" y="925830"/>
            <a:ext cx="39786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136EF6"/>
                </a:solidFill>
                <a:latin typeface="Calibri"/>
                <a:ea typeface="Calibri"/>
                <a:cs typeface="Calibri"/>
                <a:sym typeface="Calibri"/>
              </a:rPr>
              <a:t>Build a skill</a:t>
            </a:r>
            <a:endParaRPr sz="1100"/>
          </a:p>
        </p:txBody>
      </p:sp>
      <p:sp>
        <p:nvSpPr>
          <p:cNvPr id="526" name="Google Shape;526;p47"/>
          <p:cNvSpPr txBox="1"/>
          <p:nvPr/>
        </p:nvSpPr>
        <p:spPr>
          <a:xfrm>
            <a:off x="377288" y="1255014"/>
            <a:ext cx="3978676" cy="12687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mkdir .claude/skills/my-skill &amp;&amp; touch skill.md</a:t>
            </a:r>
            <a:b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Add YAML front matter + six-step framework</a:t>
            </a:r>
            <a:endParaRPr sz="1100"/>
          </a:p>
        </p:txBody>
      </p:sp>
      <p:sp>
        <p:nvSpPr>
          <p:cNvPr id="527" name="Google Shape;527;p47"/>
          <p:cNvSpPr/>
          <p:nvPr/>
        </p:nvSpPr>
        <p:spPr>
          <a:xfrm>
            <a:off x="4664655" y="788670"/>
            <a:ext cx="4184470" cy="68580"/>
          </a:xfrm>
          <a:prstGeom prst="rect">
            <a:avLst/>
          </a:prstGeom>
          <a:solidFill>
            <a:srgbClr val="50A0FF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8" name="Google Shape;528;p47"/>
          <p:cNvSpPr/>
          <p:nvPr/>
        </p:nvSpPr>
        <p:spPr>
          <a:xfrm>
            <a:off x="4664655" y="857250"/>
            <a:ext cx="4184470" cy="174879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9" name="Google Shape;529;p47"/>
          <p:cNvSpPr txBox="1"/>
          <p:nvPr/>
        </p:nvSpPr>
        <p:spPr>
          <a:xfrm>
            <a:off x="4767552" y="925830"/>
            <a:ext cx="39786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50A0FF"/>
                </a:solidFill>
                <a:latin typeface="Calibri"/>
                <a:ea typeface="Calibri"/>
                <a:cs typeface="Calibri"/>
                <a:sym typeface="Calibri"/>
              </a:rPr>
              <a:t>Fix triggering</a:t>
            </a:r>
            <a:endParaRPr sz="1100"/>
          </a:p>
        </p:txBody>
      </p:sp>
      <p:sp>
        <p:nvSpPr>
          <p:cNvPr id="530" name="Google Shape;530;p47"/>
          <p:cNvSpPr txBox="1"/>
          <p:nvPr/>
        </p:nvSpPr>
        <p:spPr>
          <a:xfrm>
            <a:off x="4767552" y="1255014"/>
            <a:ext cx="3978676" cy="12687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/skill-creator → built-in description loop</a:t>
            </a:r>
            <a:endParaRPr sz="1100"/>
          </a:p>
        </p:txBody>
      </p:sp>
      <p:sp>
        <p:nvSpPr>
          <p:cNvPr id="531" name="Google Shape;531;p47"/>
          <p:cNvSpPr/>
          <p:nvPr/>
        </p:nvSpPr>
        <p:spPr>
          <a:xfrm>
            <a:off x="274391" y="2708909"/>
            <a:ext cx="4184470" cy="68580"/>
          </a:xfrm>
          <a:prstGeom prst="rect">
            <a:avLst/>
          </a:prstGeom>
          <a:solidFill>
            <a:srgbClr val="50C878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2" name="Google Shape;532;p47"/>
          <p:cNvSpPr/>
          <p:nvPr/>
        </p:nvSpPr>
        <p:spPr>
          <a:xfrm>
            <a:off x="274391" y="2777489"/>
            <a:ext cx="4184470" cy="174879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3" name="Google Shape;533;p47"/>
          <p:cNvSpPr txBox="1"/>
          <p:nvPr/>
        </p:nvSpPr>
        <p:spPr>
          <a:xfrm>
            <a:off x="377288" y="2846069"/>
            <a:ext cx="39786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50C878"/>
                </a:solidFill>
                <a:latin typeface="Calibri"/>
                <a:ea typeface="Calibri"/>
                <a:cs typeface="Calibri"/>
                <a:sym typeface="Calibri"/>
              </a:rPr>
              <a:t>Fix output quality</a:t>
            </a:r>
            <a:endParaRPr sz="1100"/>
          </a:p>
        </p:txBody>
      </p:sp>
      <p:sp>
        <p:nvSpPr>
          <p:cNvPr id="534" name="Google Shape;534;p47"/>
          <p:cNvSpPr txBox="1"/>
          <p:nvPr/>
        </p:nvSpPr>
        <p:spPr>
          <a:xfrm>
            <a:off x="377288" y="3175253"/>
            <a:ext cx="3978676" cy="12687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Create eval/eval.json with 25 binary assertions</a:t>
            </a:r>
            <a:b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"Run self-improvement loop, use eval.json, keep going until perfect"</a:t>
            </a:r>
            <a:endParaRPr sz="1100"/>
          </a:p>
        </p:txBody>
      </p:sp>
      <p:sp>
        <p:nvSpPr>
          <p:cNvPr id="535" name="Google Shape;535;p47"/>
          <p:cNvSpPr/>
          <p:nvPr/>
        </p:nvSpPr>
        <p:spPr>
          <a:xfrm>
            <a:off x="4664655" y="2708909"/>
            <a:ext cx="4184470" cy="68580"/>
          </a:xfrm>
          <a:prstGeom prst="rect">
            <a:avLst/>
          </a:prstGeom>
          <a:solidFill>
            <a:srgbClr val="DCA050"/>
          </a:solidFill>
          <a:ln>
            <a:noFill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6" name="Google Shape;536;p47"/>
          <p:cNvSpPr/>
          <p:nvPr/>
        </p:nvSpPr>
        <p:spPr>
          <a:xfrm>
            <a:off x="4664655" y="2777489"/>
            <a:ext cx="4184470" cy="1748790"/>
          </a:xfrm>
          <a:prstGeom prst="rect">
            <a:avLst/>
          </a:prstGeom>
          <a:solidFill>
            <a:srgbClr val="1E283A"/>
          </a:solidFill>
          <a:ln cap="flat" cmpd="sng" w="12700">
            <a:solidFill>
              <a:srgbClr val="32415F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4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7" name="Google Shape;537;p47"/>
          <p:cNvSpPr txBox="1"/>
          <p:nvPr/>
        </p:nvSpPr>
        <p:spPr>
          <a:xfrm>
            <a:off x="4767552" y="2846069"/>
            <a:ext cx="3978676" cy="288036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" sz="1200" u="none" cap="none" strike="noStrike">
                <a:solidFill>
                  <a:srgbClr val="DCA050"/>
                </a:solidFill>
                <a:latin typeface="Calibri"/>
                <a:ea typeface="Calibri"/>
                <a:cs typeface="Calibri"/>
                <a:sym typeface="Calibri"/>
              </a:rPr>
              <a:t>Debug</a:t>
            </a:r>
            <a:endParaRPr sz="1100"/>
          </a:p>
        </p:txBody>
      </p:sp>
      <p:sp>
        <p:nvSpPr>
          <p:cNvPr id="538" name="Google Shape;538;p47"/>
          <p:cNvSpPr txBox="1"/>
          <p:nvPr/>
        </p:nvSpPr>
        <p:spPr>
          <a:xfrm>
            <a:off x="4767552" y="3175253"/>
            <a:ext cx="3978676" cy="12687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Not triggering? → Fix YAML description</a:t>
            </a:r>
            <a:b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Triggers too much? → disable model invocation: true</a:t>
            </a:r>
            <a:b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" sz="1100" u="none" cap="none" strike="noStrike">
                <a:solidFill>
                  <a:srgbClr val="DCE1EB"/>
                </a:solidFill>
                <a:latin typeface="Calibri"/>
                <a:ea typeface="Calibri"/>
                <a:cs typeface="Calibri"/>
                <a:sym typeface="Calibri"/>
              </a:rPr>
              <a:t>Wrong output? → Add rules, add reference files</a:t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