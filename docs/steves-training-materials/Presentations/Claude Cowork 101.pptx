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CC5537-4D9E-4203-9318-9AFD797B596C}">
  <a:tblStyle styleId="{D6CC5537-4D9E-4203-9318-9AFD797B59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77d5f057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e77d5f057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e77d5f057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e77d5f057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e77d5f057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e77d5f057_2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e77d5f057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e77d5f057_2_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e77d5f057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e77d5f057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e77d5f057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e77d5f057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e77d5f057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e77d5f057_2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77d5f057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e77d5f057_2_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e77d5f057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e77d5f057_2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e77d5f057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e77d5f057_2_1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e77d5f057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e77d5f057_2_1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e77d5f057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e77d5f057_2_1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e77d5f057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e77d5f057_2_1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e77d5f057_2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e77d5f057_2_2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e77d5f057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e77d5f057_2_2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e77d5f057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e77d5f057_2_2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e77d5f057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de77d5f057_2_2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e77d5f057_2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de77d5f057_2_2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e77d5f057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de77d5f057_2_2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48640" y="1028700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Cowork</a:t>
            </a:r>
            <a:endParaRPr sz="1100"/>
          </a:p>
        </p:txBody>
      </p:sp>
      <p:sp>
        <p:nvSpPr>
          <p:cNvPr id="130" name="Google Shape;130;p25"/>
          <p:cNvSpPr/>
          <p:nvPr/>
        </p:nvSpPr>
        <p:spPr>
          <a:xfrm>
            <a:off x="548640" y="2125980"/>
            <a:ext cx="17145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548640" y="2400300"/>
            <a:ext cx="754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Complete Beginner's Guide to Autonomous AI Task Execution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548640" y="3771900"/>
            <a:ext cx="4114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Training Deck  |  Getting Started with AI That Works For You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 / 23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AI Overwhelm Problem</a:t>
            </a:r>
            <a:endParaRPr sz="1100"/>
          </a:p>
        </p:txBody>
      </p:sp>
      <p:sp>
        <p:nvSpPr>
          <p:cNvPr id="139" name="Google Shape;139;p26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548640" y="1371600"/>
            <a:ext cx="68580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tools are releasing faster than anyone can keep up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Most people use Claude as a simple chatbot replacement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They're missing the biggest capability leap: autonomous task execution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Cowork bridges the gap between 'AI that talks' and 'AI that works'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548640" y="3429000"/>
            <a:ext cx="5486400" cy="82296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822960" y="356616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If you're only chatting with Claude, you're using 10% of its power.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 / 23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is Claude Cowork?</a:t>
            </a:r>
            <a:endParaRPr sz="1100"/>
          </a:p>
        </p:txBody>
      </p:sp>
      <p:sp>
        <p:nvSpPr>
          <p:cNvPr id="149" name="Google Shape;149;p27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548640" y="123444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Cowork gives the AI "hands" to work inside your computer.</a:t>
            </a:r>
            <a:endParaRPr sz="1100"/>
          </a:p>
        </p:txBody>
      </p:sp>
      <p:graphicFrame>
        <p:nvGraphicFramePr>
          <p:cNvPr id="151" name="Google Shape;151;p27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{D6CC5537-4D9E-4203-9318-9AFD797B596C}</a:tableStyleId>
              </a:tblPr>
              <a:tblGrid>
                <a:gridCol w="3429000"/>
                <a:gridCol w="34290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 Claude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Cowork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brain -- answers questions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hands -- executes tasks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 type, it responds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 assign, it delivers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Chat-based interaction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task completion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to conversation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with your actual files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27"/>
          <p:cNvSpPr txBox="1"/>
          <p:nvPr/>
        </p:nvSpPr>
        <p:spPr>
          <a:xfrm>
            <a:off x="548640" y="39776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Tell Cowork what you want, step away, come back to finished work.</a:t>
            </a: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 / 23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Capabilities</a:t>
            </a:r>
            <a:endParaRPr sz="1100"/>
          </a:p>
        </p:txBody>
      </p:sp>
      <p:sp>
        <p:nvSpPr>
          <p:cNvPr id="159" name="Google Shape;159;p28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548640" y="1508760"/>
            <a:ext cx="6858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files directly on your computer (with permission)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Sub-agent coordination -- breaks complex work into parallel tasks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 professional outputs -- Excel, documents, formulas, presentations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 on long-running tasks -- complex multi-step workflows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 the web -- research, data collection, and analysis via Chrome</a:t>
            </a:r>
            <a:endParaRPr sz="1100"/>
          </a:p>
        </p:txBody>
      </p:sp>
      <p:sp>
        <p:nvSpPr>
          <p:cNvPr id="161" name="Google Shape;161;p28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4 / 23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 sz="1100"/>
          </a:p>
        </p:txBody>
      </p:sp>
      <p:sp>
        <p:nvSpPr>
          <p:cNvPr id="167" name="Google Shape;167;p29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548640" y="1508760"/>
            <a:ext cx="6858000" cy="684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 Desktop app -- download from claude.ai/downloads (Mac or Windows)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Google Chrome -- for web browsing capabilities (optional)</a:t>
            </a:r>
            <a:endParaRPr sz="1100"/>
          </a:p>
        </p:txBody>
      </p:sp>
      <p:sp>
        <p:nvSpPr>
          <p:cNvPr id="169" name="Google Shape;169;p29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5 / 23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Cowork Interface</a:t>
            </a:r>
            <a:endParaRPr sz="1100"/>
          </a:p>
        </p:txBody>
      </p:sp>
      <p:sp>
        <p:nvSpPr>
          <p:cNvPr id="175" name="Google Shape;175;p30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548640" y="123444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Three modes available at the top of Claude Desktop:</a:t>
            </a:r>
            <a:endParaRPr sz="1100"/>
          </a:p>
        </p:txBody>
      </p:sp>
      <p:graphicFrame>
        <p:nvGraphicFramePr>
          <p:cNvPr id="177" name="Google Shape;177;p30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{D6CC5537-4D9E-4203-9318-9AFD797B596C}</a:tableStyleId>
              </a:tblPr>
              <a:tblGrid>
                <a:gridCol w="1714500"/>
                <a:gridCol w="51435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 Claude conversation (same as web)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Cowork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task execution (today's focus)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Developer-focused coding environment (advanced)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30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7 / 23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Golden Rule: Folder Access &amp; Security</a:t>
            </a:r>
            <a:endParaRPr sz="1100"/>
          </a:p>
        </p:txBody>
      </p:sp>
      <p:sp>
        <p:nvSpPr>
          <p:cNvPr id="184" name="Google Shape;184;p31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548640" y="123444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Cowork can ONLY touch folders you explicitly allow.</a:t>
            </a:r>
            <a:endParaRPr sz="1100"/>
          </a:p>
        </p:txBody>
      </p:sp>
      <p:sp>
        <p:nvSpPr>
          <p:cNvPr id="186" name="Google Shape;186;p31"/>
          <p:cNvSpPr txBox="1"/>
          <p:nvPr/>
        </p:nvSpPr>
        <p:spPr>
          <a:xfrm>
            <a:off x="548640" y="1783080"/>
            <a:ext cx="3771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Create a dedicated folder (e.g., ~/Cowork/) for tasks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 specific -- give access only to the relevant folder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Cowork asks permission before accessing any folder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confirm each time -- it cannot bypass this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 the narrowest folder scope possible for each task</a:t>
            </a:r>
            <a:endParaRPr sz="1100"/>
          </a:p>
        </p:txBody>
      </p:sp>
      <p:sp>
        <p:nvSpPr>
          <p:cNvPr id="187" name="Google Shape;187;p31"/>
          <p:cNvSpPr txBox="1"/>
          <p:nvPr/>
        </p:nvSpPr>
        <p:spPr>
          <a:xfrm>
            <a:off x="4800600" y="178308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Security Model:</a:t>
            </a:r>
            <a:endParaRPr sz="1100"/>
          </a:p>
        </p:txBody>
      </p:sp>
      <p:sp>
        <p:nvSpPr>
          <p:cNvPr id="188" name="Google Shape;188;p31"/>
          <p:cNvSpPr txBox="1"/>
          <p:nvPr/>
        </p:nvSpPr>
        <p:spPr>
          <a:xfrm>
            <a:off x="4800600" y="219456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Your Computer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Documents/          (locked)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Desktop/              (locked)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Cowork/               (unlocked)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Project A/       (accessible)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Project B/       (accessible)</a:t>
            </a:r>
            <a:endParaRPr sz="1100"/>
          </a:p>
        </p:txBody>
      </p:sp>
      <p:sp>
        <p:nvSpPr>
          <p:cNvPr id="189" name="Google Shape;189;p31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8 / 23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sz="1100"/>
          </a:p>
        </p:txBody>
      </p:sp>
      <p:sp>
        <p:nvSpPr>
          <p:cNvPr id="195" name="Google Shape;195;p32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548640" y="123444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Choose your model in the right-hand panel before running a task:</a:t>
            </a:r>
            <a:endParaRPr sz="1100"/>
          </a:p>
        </p:txBody>
      </p:sp>
      <p:graphicFrame>
        <p:nvGraphicFramePr>
          <p:cNvPr id="197" name="Google Shape;197;p32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{D6CC5537-4D9E-4203-9318-9AFD797B596C}</a:tableStyleId>
              </a:tblPr>
              <a:tblGrid>
                <a:gridCol w="1714500"/>
                <a:gridCol w="3771900"/>
                <a:gridCol w="13716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Usage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Sonnet 4.5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Everyday tasks, file organization, basic documents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Opus 4.6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 reasoning, multi-step analysis, high-quality output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32"/>
          <p:cNvSpPr txBox="1"/>
          <p:nvPr/>
        </p:nvSpPr>
        <p:spPr>
          <a:xfrm>
            <a:off x="548640" y="3086100"/>
            <a:ext cx="6858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Toggle Extended Thinking on/off for deeper reasoning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Heavier tasks consume more of your usage allowance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Allowance resets every few hours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with Sonnet 4.5 for most tasks -- use Opus for complex work</a:t>
            </a:r>
            <a:endParaRPr sz="1100"/>
          </a:p>
        </p:txBody>
      </p:sp>
      <p:sp>
        <p:nvSpPr>
          <p:cNvPr id="199" name="Google Shape;199;p32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9 / 23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Your First Task: File Organization</a:t>
            </a:r>
            <a:endParaRPr sz="1100"/>
          </a:p>
        </p:txBody>
      </p:sp>
      <p:sp>
        <p:nvSpPr>
          <p:cNvPr id="205" name="Google Shape;205;p33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548640" y="1234440"/>
            <a:ext cx="685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Scenario: Organize a messy screenshots folder</a:t>
            </a:r>
            <a:endParaRPr sz="1100"/>
          </a:p>
        </p:txBody>
      </p:sp>
      <p:sp>
        <p:nvSpPr>
          <p:cNvPr id="207" name="Google Shape;207;p33"/>
          <p:cNvSpPr/>
          <p:nvPr/>
        </p:nvSpPr>
        <p:spPr>
          <a:xfrm>
            <a:off x="548640" y="1714500"/>
            <a:ext cx="7543800" cy="82296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3"/>
          <p:cNvSpPr txBox="1"/>
          <p:nvPr/>
        </p:nvSpPr>
        <p:spPr>
          <a:xfrm>
            <a:off x="685800" y="174879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Prompt:</a:t>
            </a:r>
            <a:endParaRPr sz="1100"/>
          </a:p>
        </p:txBody>
      </p:sp>
      <p:sp>
        <p:nvSpPr>
          <p:cNvPr id="209" name="Google Shape;209;p33"/>
          <p:cNvSpPr txBox="1"/>
          <p:nvPr/>
        </p:nvSpPr>
        <p:spPr>
          <a:xfrm>
            <a:off x="685800" y="1988820"/>
            <a:ext cx="72009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 through my screenshots, rename them so it's obvious what they are, and place them in a folder structure that makes them easier to find.</a:t>
            </a:r>
            <a:endParaRPr sz="1100"/>
          </a:p>
        </p:txBody>
      </p:sp>
      <p:sp>
        <p:nvSpPr>
          <p:cNvPr id="210" name="Google Shape;210;p33"/>
          <p:cNvSpPr txBox="1"/>
          <p:nvPr/>
        </p:nvSpPr>
        <p:spPr>
          <a:xfrm>
            <a:off x="548640" y="288036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Cowork scans and catalogs all files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Analyzes content of each screenshot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Creates a logical folder structure (Sports/, Travel/, Work/)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Renames files with descriptive names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Moves everything into the right folders</a:t>
            </a:r>
            <a:endParaRPr sz="1100"/>
          </a:p>
        </p:txBody>
      </p:sp>
      <p:sp>
        <p:nvSpPr>
          <p:cNvPr id="211" name="Google Shape;211;p33"/>
          <p:cNvSpPr/>
          <p:nvPr/>
        </p:nvSpPr>
        <p:spPr>
          <a:xfrm>
            <a:off x="4800600" y="2880360"/>
            <a:ext cx="3771900" cy="102870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5006340" y="301752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1100"/>
          </a:p>
        </p:txBody>
      </p:sp>
      <p:sp>
        <p:nvSpPr>
          <p:cNvPr id="213" name="Google Shape;213;p33"/>
          <p:cNvSpPr txBox="1"/>
          <p:nvPr/>
        </p:nvSpPr>
        <p:spPr>
          <a:xfrm>
            <a:off x="5006340" y="3360420"/>
            <a:ext cx="3429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Completed in under 4 minutes.</a:t>
            </a:r>
            <a:b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Hundreds of files organized, renamed, and sorted.</a:t>
            </a:r>
            <a:endParaRPr sz="1100"/>
          </a:p>
        </p:txBody>
      </p:sp>
      <p:sp>
        <p:nvSpPr>
          <p:cNvPr id="214" name="Google Shape;214;p33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10 / 23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&amp; After: File Organization</a:t>
            </a:r>
            <a:endParaRPr sz="1100"/>
          </a:p>
        </p:txBody>
      </p:sp>
      <p:sp>
        <p:nvSpPr>
          <p:cNvPr id="220" name="Google Shape;220;p34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548640" y="1371600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5555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sz="1100"/>
          </a:p>
        </p:txBody>
      </p:sp>
      <p:sp>
        <p:nvSpPr>
          <p:cNvPr id="222" name="Google Shape;222;p34"/>
          <p:cNvSpPr txBox="1"/>
          <p:nvPr/>
        </p:nvSpPr>
        <p:spPr>
          <a:xfrm>
            <a:off x="548640" y="1851660"/>
            <a:ext cx="34290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Screenshots/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IMG_4521.png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Screenshot 2024-03-15.png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IMG_4522.png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photo_2024_01_09.png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... (hundreds more)</a:t>
            </a:r>
            <a:endParaRPr sz="1100"/>
          </a:p>
        </p:txBody>
      </p:sp>
      <p:sp>
        <p:nvSpPr>
          <p:cNvPr id="223" name="Google Shape;223;p34"/>
          <p:cNvSpPr txBox="1"/>
          <p:nvPr/>
        </p:nvSpPr>
        <p:spPr>
          <a:xfrm>
            <a:off x="4800600" y="1371600"/>
            <a:ext cx="37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1100"/>
          </a:p>
        </p:txBody>
      </p:sp>
      <p:sp>
        <p:nvSpPr>
          <p:cNvPr id="224" name="Google Shape;224;p34"/>
          <p:cNvSpPr txBox="1"/>
          <p:nvPr/>
        </p:nvSpPr>
        <p:spPr>
          <a:xfrm>
            <a:off x="4800600" y="1851660"/>
            <a:ext cx="3771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Screenshots/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Sports/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England-Cricket-Match.png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Premier-League-Scores.png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Travel/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Boarding-Pass-London-NYC.png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Hotel-Confirmation-Paris.png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Work/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Q1-Revenue-Dashboard.png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Team-Meeting-Notes.png</a:t>
            </a:r>
            <a:endParaRPr sz="1100"/>
          </a:p>
        </p:txBody>
      </p:sp>
      <p:sp>
        <p:nvSpPr>
          <p:cNvPr id="225" name="Google Shape;225;p34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11 / 23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 2: Creating Files from Messy Data</a:t>
            </a:r>
            <a:endParaRPr sz="1100"/>
          </a:p>
        </p:txBody>
      </p:sp>
      <p:sp>
        <p:nvSpPr>
          <p:cNvPr id="231" name="Google Shape;231;p35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548640" y="1234440"/>
            <a:ext cx="685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Scenario: Invoice processing and reconciliation</a:t>
            </a:r>
            <a:endParaRPr sz="1100"/>
          </a:p>
        </p:txBody>
      </p:sp>
      <p:sp>
        <p:nvSpPr>
          <p:cNvPr id="233" name="Google Shape;233;p35"/>
          <p:cNvSpPr txBox="1"/>
          <p:nvPr/>
        </p:nvSpPr>
        <p:spPr>
          <a:xfrm>
            <a:off x="548640" y="171450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Setup:</a:t>
            </a:r>
            <a:endParaRPr sz="1100"/>
          </a:p>
        </p:txBody>
      </p:sp>
      <p:sp>
        <p:nvSpPr>
          <p:cNvPr id="234" name="Google Shape;234;p35"/>
          <p:cNvSpPr txBox="1"/>
          <p:nvPr/>
        </p:nvSpPr>
        <p:spPr>
          <a:xfrm>
            <a:off x="548640" y="2057400"/>
            <a:ext cx="342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 Cowork access to your invoice folder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Folder contains disorganized invoice PDFs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Need administration, tidying, and reconciliation</a:t>
            </a:r>
            <a:endParaRPr sz="1100"/>
          </a:p>
        </p:txBody>
      </p:sp>
      <p:sp>
        <p:nvSpPr>
          <p:cNvPr id="235" name="Google Shape;235;p35"/>
          <p:cNvSpPr/>
          <p:nvPr/>
        </p:nvSpPr>
        <p:spPr>
          <a:xfrm>
            <a:off x="548640" y="3291840"/>
            <a:ext cx="7543800" cy="89154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685800" y="3326130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Prompt:</a:t>
            </a:r>
            <a:endParaRPr sz="1100"/>
          </a:p>
        </p:txBody>
      </p:sp>
      <p:sp>
        <p:nvSpPr>
          <p:cNvPr id="237" name="Google Shape;237;p35"/>
          <p:cNvSpPr txBox="1"/>
          <p:nvPr/>
        </p:nvSpPr>
        <p:spPr>
          <a:xfrm>
            <a:off x="685800" y="3566160"/>
            <a:ext cx="72009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 through these invoice files. Rename them properly, organize them into folders, and generate a spreadsheet/CSV giving me a clean overview of all invoices.</a:t>
            </a:r>
            <a:endParaRPr sz="1100"/>
          </a:p>
        </p:txBody>
      </p:sp>
      <p:sp>
        <p:nvSpPr>
          <p:cNvPr id="238" name="Google Shape;238;p35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12 / 23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Clarification</a:t>
            </a:r>
            <a:endParaRPr sz="1100"/>
          </a:p>
        </p:txBody>
      </p:sp>
      <p:sp>
        <p:nvSpPr>
          <p:cNvPr id="244" name="Google Shape;244;p36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548640" y="123444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Cowork asks smart questions before executing complex tasks:</a:t>
            </a:r>
            <a:endParaRPr sz="1100"/>
          </a:p>
        </p:txBody>
      </p:sp>
      <p:graphicFrame>
        <p:nvGraphicFramePr>
          <p:cNvPr id="246" name="Google Shape;246;p36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{D6CC5537-4D9E-4203-9318-9AFD797B596C}</a:tableStyleId>
              </a:tblPr>
              <a:tblGrid>
                <a:gridCol w="3086100"/>
                <a:gridCol w="37719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Cowork Asks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 Answer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naming format for invoices?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- Vendor Name - Amount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should the spreadsheet include?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 overview with auto-calculated totals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to organize monthly folders?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 invoice date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36"/>
          <p:cNvSpPr txBox="1"/>
          <p:nvPr/>
        </p:nvSpPr>
        <p:spPr>
          <a:xfrm>
            <a:off x="548640" y="363474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like having a personal assistant: assign the task, answer a few questions, and get the finished work delivered in minutes.</a:t>
            </a:r>
            <a:endParaRPr sz="1100"/>
          </a:p>
        </p:txBody>
      </p:sp>
      <p:sp>
        <p:nvSpPr>
          <p:cNvPr id="248" name="Google Shape;248;p36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13 / 23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Invoice Processing Results</a:t>
            </a:r>
            <a:endParaRPr sz="1100"/>
          </a:p>
        </p:txBody>
      </p:sp>
      <p:sp>
        <p:nvSpPr>
          <p:cNvPr id="254" name="Google Shape;254;p37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548640" y="11658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Completed in under 5 minutes</a:t>
            </a:r>
            <a:endParaRPr sz="1100"/>
          </a:p>
        </p:txBody>
      </p:sp>
      <p:sp>
        <p:nvSpPr>
          <p:cNvPr id="256" name="Google Shape;256;p37"/>
          <p:cNvSpPr txBox="1"/>
          <p:nvPr/>
        </p:nvSpPr>
        <p:spPr>
          <a:xfrm>
            <a:off x="548640" y="157734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Organized Folder Structure:</a:t>
            </a:r>
            <a:endParaRPr sz="1100"/>
          </a:p>
        </p:txBody>
      </p:sp>
      <p:sp>
        <p:nvSpPr>
          <p:cNvPr id="257" name="Google Shape;257;p37"/>
          <p:cNvSpPr txBox="1"/>
          <p:nvPr/>
        </p:nvSpPr>
        <p:spPr>
          <a:xfrm>
            <a:off x="548640" y="1988820"/>
            <a:ext cx="3429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Invoice-Processor/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2024-01/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2024-01-15-Acme-Corp-$2500.pdf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2024-01-22-CloudHost-$189.pdf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2024-02/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2024-02-01-Design-Agency-$4200.pdf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invoice-tracker.csv</a:t>
            </a:r>
            <a:endParaRPr sz="1100"/>
          </a:p>
        </p:txBody>
      </p:sp>
      <p:sp>
        <p:nvSpPr>
          <p:cNvPr id="258" name="Google Shape;258;p37"/>
          <p:cNvSpPr txBox="1"/>
          <p:nvPr/>
        </p:nvSpPr>
        <p:spPr>
          <a:xfrm>
            <a:off x="4800600" y="157734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Generated Spreadsheet Contains:</a:t>
            </a:r>
            <a:endParaRPr sz="1100"/>
          </a:p>
        </p:txBody>
      </p:sp>
      <p:sp>
        <p:nvSpPr>
          <p:cNvPr id="259" name="Google Shape;259;p37"/>
          <p:cNvSpPr txBox="1"/>
          <p:nvPr/>
        </p:nvSpPr>
        <p:spPr>
          <a:xfrm>
            <a:off x="4800600" y="198882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Vendor names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Invoice numbers and dates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Payment status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Individual amounts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Monthly breakdowns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Auto-calculated totals and summary</a:t>
            </a:r>
            <a:endParaRPr sz="1100"/>
          </a:p>
        </p:txBody>
      </p:sp>
      <p:sp>
        <p:nvSpPr>
          <p:cNvPr id="260" name="Google Shape;260;p37"/>
          <p:cNvSpPr txBox="1"/>
          <p:nvPr/>
        </p:nvSpPr>
        <p:spPr>
          <a:xfrm>
            <a:off x="548640" y="4251960"/>
            <a:ext cx="685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You can keep this file updated by running the process again with new invoices.</a:t>
            </a:r>
            <a:endParaRPr sz="1100"/>
          </a:p>
        </p:txBody>
      </p:sp>
      <p:sp>
        <p:nvSpPr>
          <p:cNvPr id="261" name="Google Shape;261;p37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14 / 23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Browsing: Setup</a:t>
            </a:r>
            <a:endParaRPr sz="1100"/>
          </a:p>
        </p:txBody>
      </p:sp>
      <p:sp>
        <p:nvSpPr>
          <p:cNvPr id="267" name="Google Shape;267;p38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548640" y="137160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Enabling Chrome Integration:</a:t>
            </a:r>
            <a:endParaRPr sz="1100"/>
          </a:p>
        </p:txBody>
      </p:sp>
      <p:sp>
        <p:nvSpPr>
          <p:cNvPr id="269" name="Google Shape;269;p38"/>
          <p:cNvSpPr txBox="1"/>
          <p:nvPr/>
        </p:nvSpPr>
        <p:spPr>
          <a:xfrm>
            <a:off x="548640" y="178308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 'Claude in Chrome' from Chrome Web Store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Cowork and assign a web-based task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prompted, allow Claude to browse specific sites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Active tabs show an orange highlight when in use</a:t>
            </a:r>
            <a:endParaRPr sz="1100"/>
          </a:p>
        </p:txBody>
      </p:sp>
      <p:sp>
        <p:nvSpPr>
          <p:cNvPr id="270" name="Google Shape;270;p38"/>
          <p:cNvSpPr txBox="1"/>
          <p:nvPr/>
        </p:nvSpPr>
        <p:spPr>
          <a:xfrm>
            <a:off x="4800600" y="137160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Permission Levels:</a:t>
            </a:r>
            <a:endParaRPr sz="1100"/>
          </a:p>
        </p:txBody>
      </p:sp>
      <p:graphicFrame>
        <p:nvGraphicFramePr>
          <p:cNvPr id="271" name="Google Shape;271;p38"/>
          <p:cNvGraphicFramePr/>
          <p:nvPr/>
        </p:nvGraphicFramePr>
        <p:xfrm>
          <a:off x="480060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{D6CC5537-4D9E-4203-9318-9AFD797B596C}</a:tableStyleId>
              </a:tblPr>
              <a:tblGrid>
                <a:gridCol w="1920225"/>
                <a:gridCol w="185165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Level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for this time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One-time access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for this website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Persistent site access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all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browsing (use cautiously)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38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15 / 23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Web Browsing in Action</a:t>
            </a:r>
            <a:endParaRPr sz="1100"/>
          </a:p>
        </p:txBody>
      </p:sp>
      <p:sp>
        <p:nvSpPr>
          <p:cNvPr id="278" name="Google Shape;278;p39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9"/>
          <p:cNvSpPr/>
          <p:nvPr/>
        </p:nvSpPr>
        <p:spPr>
          <a:xfrm>
            <a:off x="548640" y="1234440"/>
            <a:ext cx="7543800" cy="61722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9"/>
          <p:cNvSpPr txBox="1"/>
          <p:nvPr/>
        </p:nvSpPr>
        <p:spPr>
          <a:xfrm>
            <a:off x="685800" y="1268730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Prompt:</a:t>
            </a:r>
            <a:endParaRPr sz="1100"/>
          </a:p>
        </p:txBody>
      </p:sp>
      <p:sp>
        <p:nvSpPr>
          <p:cNvPr id="281" name="Google Shape;281;p39"/>
          <p:cNvSpPr txBox="1"/>
          <p:nvPr/>
        </p:nvSpPr>
        <p:spPr>
          <a:xfrm>
            <a:off x="685800" y="1474470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 Chrome to go to my YouTube Studio. Write a report on the current performance of my channel.</a:t>
            </a:r>
            <a:endParaRPr sz="1100"/>
          </a:p>
        </p:txBody>
      </p:sp>
      <p:sp>
        <p:nvSpPr>
          <p:cNvPr id="282" name="Google Shape;282;p39"/>
          <p:cNvSpPr txBox="1"/>
          <p:nvPr/>
        </p:nvSpPr>
        <p:spPr>
          <a:xfrm>
            <a:off x="548640" y="219456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What Happens:</a:t>
            </a:r>
            <a:endParaRPr sz="1100"/>
          </a:p>
        </p:txBody>
      </p:sp>
      <p:sp>
        <p:nvSpPr>
          <p:cNvPr id="283" name="Google Shape;283;p39"/>
          <p:cNvSpPr txBox="1"/>
          <p:nvPr/>
        </p:nvSpPr>
        <p:spPr>
          <a:xfrm>
            <a:off x="548640" y="253746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Cowork opens Google Chrome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Navigates to YouTube Studio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Reads dashboard data and metrics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Compiles findings into a report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Delivers formatted document</a:t>
            </a:r>
            <a:endParaRPr sz="1100"/>
          </a:p>
        </p:txBody>
      </p:sp>
      <p:sp>
        <p:nvSpPr>
          <p:cNvPr id="284" name="Google Shape;284;p39"/>
          <p:cNvSpPr txBox="1"/>
          <p:nvPr/>
        </p:nvSpPr>
        <p:spPr>
          <a:xfrm>
            <a:off x="4800600" y="219456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Real-World Applications:</a:t>
            </a:r>
            <a:endParaRPr sz="1100"/>
          </a:p>
        </p:txBody>
      </p:sp>
      <p:sp>
        <p:nvSpPr>
          <p:cNvPr id="285" name="Google Shape;285;p39"/>
          <p:cNvSpPr txBox="1"/>
          <p:nvPr/>
        </p:nvSpPr>
        <p:spPr>
          <a:xfrm>
            <a:off x="4800600" y="253746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SEO reporting from Google Search Console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Analytics reports from Google Analytics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Competitive research across websites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Social media performance audits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Market research and data gathering</a:t>
            </a:r>
            <a:endParaRPr sz="1100"/>
          </a:p>
        </p:txBody>
      </p:sp>
      <p:sp>
        <p:nvSpPr>
          <p:cNvPr id="286" name="Google Shape;286;p39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16 / 23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Plugins &amp; Skills</a:t>
            </a:r>
            <a:endParaRPr sz="1100"/>
          </a:p>
        </p:txBody>
      </p:sp>
      <p:sp>
        <p:nvSpPr>
          <p:cNvPr id="292" name="Google Shape;292;p40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548640" y="12344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Skills are pre-built processes, expertise, and workflows that enhance Cowork.</a:t>
            </a:r>
            <a:endParaRPr sz="1100"/>
          </a:p>
        </p:txBody>
      </p:sp>
      <p:sp>
        <p:nvSpPr>
          <p:cNvPr id="294" name="Google Shape;294;p40"/>
          <p:cNvSpPr txBox="1"/>
          <p:nvPr/>
        </p:nvSpPr>
        <p:spPr>
          <a:xfrm>
            <a:off x="548640" y="17830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Built-in Skills:</a:t>
            </a:r>
            <a:endParaRPr sz="1100"/>
          </a:p>
        </p:txBody>
      </p:sp>
      <p:graphicFrame>
        <p:nvGraphicFramePr>
          <p:cNvPr id="295" name="Google Shape;295;p40"/>
          <p:cNvGraphicFramePr/>
          <p:nvPr/>
        </p:nvGraphicFramePr>
        <p:xfrm>
          <a:off x="548640" y="21259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{D6CC5537-4D9E-4203-9318-9AFD797B596C}</a:tableStyleId>
              </a:tblPr>
              <a:tblGrid>
                <a:gridCol w="1028700"/>
                <a:gridCol w="24003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 prep, pipeline, messaging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Productivity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&amp; workflow optimization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Campaigns, content strategy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296" name="Google Shape;296;p40"/>
          <p:cNvSpPr txBox="1"/>
          <p:nvPr/>
        </p:nvSpPr>
        <p:spPr>
          <a:xfrm>
            <a:off x="4800600" y="178308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Adding Custom Skills:</a:t>
            </a:r>
            <a:endParaRPr sz="1100"/>
          </a:p>
        </p:txBody>
      </p:sp>
      <p:sp>
        <p:nvSpPr>
          <p:cNvPr id="297" name="Google Shape;297;p40"/>
          <p:cNvSpPr txBox="1"/>
          <p:nvPr/>
        </p:nvSpPr>
        <p:spPr>
          <a:xfrm>
            <a:off x="4800600" y="212598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Click + button, then "Add Plugins"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Upload individual skill files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 a GitHub marketplace URL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Install from marketplace (100+ available)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Manage installed skills from plugins panel</a:t>
            </a:r>
            <a:endParaRPr sz="1100"/>
          </a:p>
        </p:txBody>
      </p:sp>
      <p:sp>
        <p:nvSpPr>
          <p:cNvPr id="298" name="Google Shape;298;p40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18 / 23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Best Starting Use Cases</a:t>
            </a:r>
            <a:endParaRPr sz="1100"/>
          </a:p>
        </p:txBody>
      </p:sp>
      <p:sp>
        <p:nvSpPr>
          <p:cNvPr id="304" name="Google Shape;304;p41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5" name="Google Shape;305;p41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{D6CC5537-4D9E-4203-9318-9AFD797B596C}</a:tableStyleId>
              </a:tblPr>
              <a:tblGrid>
                <a:gridCol w="2400300"/>
                <a:gridCol w="51435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Tasks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 &amp; Document Management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Organize downloads, rename photos, sort documents, clean up folders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&amp; Analysis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research reports, competitor analysis, data gathering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 Creation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Spreadsheets from raw data, formatted reports, CSV exports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&amp; Analysis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Invoice reconciliation, expense tracking, performance dashboards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41"/>
          <p:cNvSpPr txBox="1"/>
          <p:nvPr/>
        </p:nvSpPr>
        <p:spPr>
          <a:xfrm>
            <a:off x="548640" y="329184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For Business Owners:</a:t>
            </a:r>
            <a:endParaRPr sz="1100"/>
          </a:p>
        </p:txBody>
      </p:sp>
      <p:sp>
        <p:nvSpPr>
          <p:cNvPr id="307" name="Google Shape;307;p41"/>
          <p:cNvSpPr txBox="1"/>
          <p:nvPr/>
        </p:nvSpPr>
        <p:spPr>
          <a:xfrm>
            <a:off x="548640" y="3634740"/>
            <a:ext cx="6858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Monthly financial reconciliation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Client file organization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Marketing performance reports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Content calendar generation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Email template creation</a:t>
            </a:r>
            <a:endParaRPr sz="1100"/>
          </a:p>
        </p:txBody>
      </p:sp>
      <p:sp>
        <p:nvSpPr>
          <p:cNvPr id="308" name="Google Shape;308;p41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20 / 23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sz="1100"/>
          </a:p>
        </p:txBody>
      </p:sp>
      <p:sp>
        <p:nvSpPr>
          <p:cNvPr id="314" name="Google Shape;314;p42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548640" y="12344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Cowork is a Research Preview -- these will improve over time.</a:t>
            </a:r>
            <a:endParaRPr sz="1100"/>
          </a:p>
        </p:txBody>
      </p:sp>
      <p:graphicFrame>
        <p:nvGraphicFramePr>
          <p:cNvPr id="316" name="Google Shape;316;p42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{D6CC5537-4D9E-4203-9318-9AFD797B596C}</a:tableStyleId>
              </a:tblPr>
              <a:tblGrid>
                <a:gridCol w="2057400"/>
                <a:gridCol w="54864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cross-session memory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Doesn't remember previous sessions. Workaround: maintain files documenting work.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chat sharing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Can't easily share Cowork chats with other users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Desktop only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Claude Desktop app (not on mobile/web)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 persistence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must stay open -- closing stops the task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resources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Tasks consume local compute power while running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consumption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Heavier tasks burn through usage allowance faster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42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21 / 23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/>
          <p:nvPr/>
        </p:nvSpPr>
        <p:spPr>
          <a:xfrm>
            <a:off x="548640" y="3429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Tips for Effective Prompting</a:t>
            </a:r>
            <a:endParaRPr sz="1100"/>
          </a:p>
        </p:txBody>
      </p:sp>
      <p:sp>
        <p:nvSpPr>
          <p:cNvPr id="323" name="Google Shape;323;p43"/>
          <p:cNvSpPr/>
          <p:nvPr/>
        </p:nvSpPr>
        <p:spPr>
          <a:xfrm>
            <a:off x="548640" y="960120"/>
            <a:ext cx="1028700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3"/>
          <p:cNvSpPr txBox="1"/>
          <p:nvPr/>
        </p:nvSpPr>
        <p:spPr>
          <a:xfrm>
            <a:off x="548640" y="137160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Do:</a:t>
            </a:r>
            <a:endParaRPr sz="1100"/>
          </a:p>
        </p:txBody>
      </p:sp>
      <p:sp>
        <p:nvSpPr>
          <p:cNvPr id="325" name="Google Shape;325;p43"/>
          <p:cNvSpPr txBox="1"/>
          <p:nvPr/>
        </p:nvSpPr>
        <p:spPr>
          <a:xfrm>
            <a:off x="548640" y="1783080"/>
            <a:ext cx="3429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 clear instructions and goals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 specific about desired output format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Let Cowork ask clarifying questions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 dedicated folders per task type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Start simple, then layer on complexity</a:t>
            </a:r>
            <a:endParaRPr sz="1100"/>
          </a:p>
        </p:txBody>
      </p:sp>
      <p:sp>
        <p:nvSpPr>
          <p:cNvPr id="326" name="Google Shape;326;p43"/>
          <p:cNvSpPr txBox="1"/>
          <p:nvPr/>
        </p:nvSpPr>
        <p:spPr>
          <a:xfrm>
            <a:off x="4800600" y="137160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Don't:</a:t>
            </a:r>
            <a:endParaRPr sz="1100"/>
          </a:p>
        </p:txBody>
      </p:sp>
      <p:sp>
        <p:nvSpPr>
          <p:cNvPr id="327" name="Google Shape;327;p43"/>
          <p:cNvSpPr txBox="1"/>
          <p:nvPr/>
        </p:nvSpPr>
        <p:spPr>
          <a:xfrm>
            <a:off x="4800600" y="178308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Over-engineer prompts -- plain English works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 access to your entire filesystem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Run heavy tasks if you need token budget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Close the Desktop app mid-task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Expect perfection -- review outputs</a:t>
            </a:r>
            <a:endParaRPr sz="1100"/>
          </a:p>
        </p:txBody>
      </p:sp>
      <p:sp>
        <p:nvSpPr>
          <p:cNvPr id="328" name="Google Shape;328;p43"/>
          <p:cNvSpPr txBox="1"/>
          <p:nvPr/>
        </p:nvSpPr>
        <p:spPr>
          <a:xfrm>
            <a:off x="7886700" y="4800600"/>
            <a:ext cx="1028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22 / 23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