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BB2DE6-6D82-4A61-AB26-291F38240E5D}">
  <a:tblStyle styleId="{B6BB2DE6-6D82-4A61-AB26-291F38240E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8fb2af5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e8fb2af5e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e8fb2af5e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e8fb2af5e_2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e8fb2af5e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e8fb2af5e_2_9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e8fb2af5e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e8fb2af5e_2_10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e8fb2af5e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e8fb2af5e_2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e8fb2af5e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e8fb2af5e_2_1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e8fb2af5e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e8fb2af5e_2_14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e8fb2af5e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e8fb2af5e_2_16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e8fb2af5e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e8fb2af5e_2_1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e8fb2af5e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e8fb2af5e_2_1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e8fb2af5e_2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e8fb2af5e_2_2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e8fb2af5e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e8fb2af5e_2_2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e8fb2af5e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de8fb2af5e_2_21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e8fb2af5e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e8fb2af5e_2_2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e8fb2af5e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e8fb2af5e_2_2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e8fb2af5e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de8fb2af5e_2_24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e8fb2af5e_2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de8fb2af5e_2_24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e8fb2af5e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de8fb2af5e_2_25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e8fb2af5e_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de8fb2af5e_2_26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e8fb2af5e_2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de8fb2af5e_2_27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e8fb2af5e_2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e8fb2af5e_2_27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e8fb2af5e_2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de8fb2af5e_2_30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e8fb2af5e_2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e8fb2af5e_2_31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e8fb2af5e_2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de8fb2af5e_2_32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48655" y="685800"/>
            <a:ext cx="754400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From Skills to</a:t>
            </a:r>
            <a:endParaRPr sz="1100"/>
          </a:p>
        </p:txBody>
      </p:sp>
      <p:sp>
        <p:nvSpPr>
          <p:cNvPr id="130" name="Google Shape;130;p25"/>
          <p:cNvSpPr txBox="1"/>
          <p:nvPr/>
        </p:nvSpPr>
        <p:spPr>
          <a:xfrm>
            <a:off x="548655" y="1371600"/>
            <a:ext cx="75440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Harness Engineering</a:t>
            </a:r>
            <a:endParaRPr sz="1100"/>
          </a:p>
        </p:txBody>
      </p:sp>
      <p:sp>
        <p:nvSpPr>
          <p:cNvPr id="131" name="Google Shape;131;p25"/>
          <p:cNvSpPr/>
          <p:nvPr/>
        </p:nvSpPr>
        <p:spPr>
          <a:xfrm>
            <a:off x="548655" y="2400300"/>
            <a:ext cx="2057455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548655" y="27432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Your first SDLC with hooks: plan, build, verify.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548655" y="3771900"/>
            <a:ext cx="6858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You know skills. Here's what comes next.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548655" y="445770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Based on IndyDevDan + claude-code-hooks-multi-agent-observability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 / 24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Where You Are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548655" y="1371600"/>
            <a:ext cx="6858183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You've built skills -- Claude knows your conventions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have CLAUDE.md -- Claude knows your project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You're ahead of most engineers already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But skills are instructions. Instructions are suggestions.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 follows them 70-90% of the time.</a:t>
            </a:r>
            <a:endParaRPr sz="1100"/>
          </a:p>
        </p:txBody>
      </p:sp>
      <p:sp>
        <p:nvSpPr>
          <p:cNvPr id="143" name="Google Shape;143;p26"/>
          <p:cNvSpPr/>
          <p:nvPr/>
        </p:nvSpPr>
        <p:spPr>
          <a:xfrm>
            <a:off x="548655" y="3703320"/>
            <a:ext cx="6858183" cy="685800"/>
          </a:xfrm>
          <a:prstGeom prst="roundRect">
            <a:avLst>
              <a:gd fmla="val 16667" name="adj"/>
            </a:avLst>
          </a:prstGeom>
          <a:solidFill>
            <a:srgbClr val="0A1A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822982" y="3806190"/>
            <a:ext cx="630952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What happens when you need 100%?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2 / 24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Gap: Skills vs. Hooks</a:t>
            </a:r>
            <a:endParaRPr sz="1100"/>
          </a:p>
        </p:txBody>
      </p:sp>
      <p:sp>
        <p:nvSpPr>
          <p:cNvPr id="151" name="Google Shape;151;p27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27"/>
          <p:cNvGraphicFramePr/>
          <p:nvPr/>
        </p:nvGraphicFramePr>
        <p:xfrm>
          <a:off x="548655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{B6BB2DE6-6D82-4A61-AB26-291F38240E5D}</a:tableStyleId>
              </a:tblPr>
              <a:tblGrid>
                <a:gridCol w="3429075"/>
                <a:gridCol w="3429075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Skills Do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Skills Can't Do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Teach Claude your preferences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ENFORCE that Claude follows them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 context and workflows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 dangerous operations before they happen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Suggest how to work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VERIFY that work is actually complete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Guide quality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GUARANTEE quality checks run every time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27"/>
          <p:cNvSpPr txBox="1"/>
          <p:nvPr/>
        </p:nvSpPr>
        <p:spPr>
          <a:xfrm>
            <a:off x="548655" y="356616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Skills are the brain. Hooks are the guardrails.</a:t>
            </a:r>
            <a:endParaRPr sz="1100"/>
          </a:p>
        </p:txBody>
      </p:sp>
      <p:sp>
        <p:nvSpPr>
          <p:cNvPr id="154" name="Google Shape;154;p27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3 / 24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Build the System Around the System</a:t>
            </a:r>
            <a:endParaRPr sz="1100"/>
          </a:p>
        </p:txBody>
      </p:sp>
      <p:sp>
        <p:nvSpPr>
          <p:cNvPr id="160" name="Google Shape;160;p28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548655" y="1371600"/>
            <a:ext cx="5829455" cy="822960"/>
          </a:xfrm>
          <a:prstGeom prst="roundRect">
            <a:avLst>
              <a:gd fmla="val 16667" name="adj"/>
            </a:avLst>
          </a:prstGeom>
          <a:solidFill>
            <a:srgbClr val="F0F0F5"/>
          </a:solidFill>
          <a:ln cap="flat" cmpd="sng" w="12700">
            <a:solidFill>
              <a:srgbClr val="8888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822982" y="144018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Level 1: Skills</a:t>
            </a:r>
            <a:endParaRPr sz="1100"/>
          </a:p>
        </p:txBody>
      </p:sp>
      <p:sp>
        <p:nvSpPr>
          <p:cNvPr id="163" name="Google Shape;163;p28"/>
          <p:cNvSpPr txBox="1"/>
          <p:nvPr/>
        </p:nvSpPr>
        <p:spPr>
          <a:xfrm>
            <a:off x="822982" y="174879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Claude knows HOW to work</a:t>
            </a:r>
            <a:endParaRPr sz="1100"/>
          </a:p>
        </p:txBody>
      </p:sp>
      <p:sp>
        <p:nvSpPr>
          <p:cNvPr id="164" name="Google Shape;164;p28"/>
          <p:cNvSpPr/>
          <p:nvPr/>
        </p:nvSpPr>
        <p:spPr>
          <a:xfrm>
            <a:off x="5143637" y="1543050"/>
            <a:ext cx="1097309" cy="411480"/>
          </a:xfrm>
          <a:prstGeom prst="roundRect">
            <a:avLst>
              <a:gd fmla="val 16667" name="adj"/>
            </a:avLst>
          </a:prstGeom>
          <a:solidFill>
            <a:srgbClr val="888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5143637" y="1563624"/>
            <a:ext cx="10973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are here</a:t>
            </a:r>
            <a:endParaRPr sz="1100"/>
          </a:p>
        </p:txBody>
      </p:sp>
      <p:sp>
        <p:nvSpPr>
          <p:cNvPr id="166" name="Google Shape;166;p28"/>
          <p:cNvSpPr/>
          <p:nvPr/>
        </p:nvSpPr>
        <p:spPr>
          <a:xfrm>
            <a:off x="548655" y="2400300"/>
            <a:ext cx="5829455" cy="822960"/>
          </a:xfrm>
          <a:prstGeom prst="roundRect">
            <a:avLst>
              <a:gd fmla="val 16667" name="adj"/>
            </a:avLst>
          </a:prstGeom>
          <a:solidFill>
            <a:srgbClr val="F0F0F5"/>
          </a:solidFill>
          <a:ln cap="flat" cmpd="sng" w="381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22982" y="246888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Level 2: Hooks + SDLC</a:t>
            </a:r>
            <a:endParaRPr sz="1100"/>
          </a:p>
        </p:txBody>
      </p:sp>
      <p:sp>
        <p:nvSpPr>
          <p:cNvPr id="168" name="Google Shape;168;p28"/>
          <p:cNvSpPr txBox="1"/>
          <p:nvPr/>
        </p:nvSpPr>
        <p:spPr>
          <a:xfrm>
            <a:off x="822982" y="277749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The system ENFORCES how work happens</a:t>
            </a:r>
            <a:endParaRPr sz="1100"/>
          </a:p>
        </p:txBody>
      </p:sp>
      <p:sp>
        <p:nvSpPr>
          <p:cNvPr id="169" name="Google Shape;169;p28"/>
          <p:cNvSpPr/>
          <p:nvPr/>
        </p:nvSpPr>
        <p:spPr>
          <a:xfrm>
            <a:off x="5143637" y="2571750"/>
            <a:ext cx="1097309" cy="411480"/>
          </a:xfrm>
          <a:prstGeom prst="roundRect">
            <a:avLst>
              <a:gd fmla="val 16667" name="adj"/>
            </a:avLst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5143637" y="2592324"/>
            <a:ext cx="10973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Today's goal</a:t>
            </a:r>
            <a:endParaRPr sz="1100"/>
          </a:p>
        </p:txBody>
      </p:sp>
      <p:sp>
        <p:nvSpPr>
          <p:cNvPr id="171" name="Google Shape;171;p28"/>
          <p:cNvSpPr/>
          <p:nvPr/>
        </p:nvSpPr>
        <p:spPr>
          <a:xfrm>
            <a:off x="548655" y="3429000"/>
            <a:ext cx="5829455" cy="822960"/>
          </a:xfrm>
          <a:prstGeom prst="roundRect">
            <a:avLst>
              <a:gd fmla="val 16667" name="adj"/>
            </a:avLst>
          </a:prstGeom>
          <a:solidFill>
            <a:srgbClr val="F0F0F5"/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822982" y="349758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Level 3: Agent Teams</a:t>
            </a:r>
            <a:endParaRPr sz="1100"/>
          </a:p>
        </p:txBody>
      </p:sp>
      <p:sp>
        <p:nvSpPr>
          <p:cNvPr id="173" name="Google Shape;173;p28"/>
          <p:cNvSpPr txBox="1"/>
          <p:nvPr/>
        </p:nvSpPr>
        <p:spPr>
          <a:xfrm>
            <a:off x="822982" y="380619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Multiple agents, orchestrated</a:t>
            </a:r>
            <a:endParaRPr sz="1100"/>
          </a:p>
        </p:txBody>
      </p:sp>
      <p:sp>
        <p:nvSpPr>
          <p:cNvPr id="174" name="Google Shape;174;p28"/>
          <p:cNvSpPr/>
          <p:nvPr/>
        </p:nvSpPr>
        <p:spPr>
          <a:xfrm>
            <a:off x="5143637" y="3600450"/>
            <a:ext cx="1097309" cy="411480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5143637" y="3621024"/>
            <a:ext cx="10973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sz="1100"/>
          </a:p>
        </p:txBody>
      </p:sp>
      <p:sp>
        <p:nvSpPr>
          <p:cNvPr id="176" name="Google Shape;176;p28"/>
          <p:cNvSpPr/>
          <p:nvPr/>
        </p:nvSpPr>
        <p:spPr>
          <a:xfrm>
            <a:off x="548655" y="4526265"/>
            <a:ext cx="5829600" cy="548700"/>
          </a:xfrm>
          <a:prstGeom prst="roundRect">
            <a:avLst>
              <a:gd fmla="val 16667" name="adj"/>
            </a:avLst>
          </a:prstGeom>
          <a:solidFill>
            <a:srgbClr val="0A1A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822982" y="4629135"/>
            <a:ext cx="5280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"I'm building the system that builds the system." -- IndyDevDan</a:t>
            </a:r>
            <a:endParaRPr sz="1100"/>
          </a:p>
        </p:txBody>
      </p:sp>
      <p:sp>
        <p:nvSpPr>
          <p:cNvPr id="178" name="Google Shape;178;p28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4 / 24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 Hook?</a:t>
            </a:r>
            <a:endParaRPr sz="1100"/>
          </a:p>
        </p:txBody>
      </p:sp>
      <p:sp>
        <p:nvSpPr>
          <p:cNvPr id="184" name="Google Shape;184;p29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548655" y="123444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A script that fires at a specific moment in Claude's lifecycle. Deterministic code, not a suggestion.</a:t>
            </a:r>
            <a:endParaRPr sz="1100"/>
          </a:p>
        </p:txBody>
      </p:sp>
      <p:sp>
        <p:nvSpPr>
          <p:cNvPr id="186" name="Google Shape;186;p29"/>
          <p:cNvSpPr/>
          <p:nvPr/>
        </p:nvSpPr>
        <p:spPr>
          <a:xfrm>
            <a:off x="548650" y="1465800"/>
            <a:ext cx="6858300" cy="299790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Claude wants to edit a file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v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PreToolUse hook fires BEFORE the edit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v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Your script checks: Is there a plan? Is this file in scope?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v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Allow, Deny, or Ask the user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v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Claude proceeds (or doesn't)</a:t>
            </a:r>
            <a:endParaRPr sz="1100"/>
          </a:p>
        </p:txBody>
      </p:sp>
      <p:sp>
        <p:nvSpPr>
          <p:cNvPr id="187" name="Google Shape;187;p29"/>
          <p:cNvSpPr txBox="1"/>
          <p:nvPr/>
        </p:nvSpPr>
        <p:spPr>
          <a:xfrm>
            <a:off x="548655" y="4496215"/>
            <a:ext cx="7544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The model never sees the hook. It just encounters the result.</a:t>
            </a:r>
            <a:endParaRPr sz="1100"/>
          </a:p>
        </p:txBody>
      </p:sp>
      <p:sp>
        <p:nvSpPr>
          <p:cNvPr id="188" name="Google Shape;188;p29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5 / 24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/>
        </p:nvSpPr>
        <p:spPr>
          <a:xfrm>
            <a:off x="548655" y="157734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sz="1100"/>
          </a:p>
        </p:txBody>
      </p:sp>
      <p:sp>
        <p:nvSpPr>
          <p:cNvPr id="194" name="Google Shape;194;p30"/>
          <p:cNvSpPr txBox="1"/>
          <p:nvPr/>
        </p:nvSpPr>
        <p:spPr>
          <a:xfrm>
            <a:off x="548655" y="1988820"/>
            <a:ext cx="75440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Starter SDLC</a:t>
            </a:r>
            <a:endParaRPr sz="1100"/>
          </a:p>
        </p:txBody>
      </p:sp>
      <p:sp>
        <p:nvSpPr>
          <p:cNvPr id="195" name="Google Shape;195;p30"/>
          <p:cNvSpPr/>
          <p:nvPr/>
        </p:nvSpPr>
        <p:spPr>
          <a:xfrm>
            <a:off x="548655" y="3086100"/>
            <a:ext cx="2057455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548655" y="3360420"/>
            <a:ext cx="68581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Three phases, three hooks. Plan, build, verify.</a:t>
            </a:r>
            <a:endParaRPr sz="1100"/>
          </a:p>
        </p:txBody>
      </p:sp>
      <p:sp>
        <p:nvSpPr>
          <p:cNvPr id="197" name="Google Shape;197;p30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6 / 24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/>
        </p:nvSpPr>
        <p:spPr>
          <a:xfrm>
            <a:off x="548655" y="34290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Three Phases, Three Hooks</a:t>
            </a:r>
            <a:endParaRPr sz="1100"/>
          </a:p>
        </p:txBody>
      </p:sp>
      <p:sp>
        <p:nvSpPr>
          <p:cNvPr id="203" name="Google Shape;203;p31"/>
          <p:cNvSpPr/>
          <p:nvPr/>
        </p:nvSpPr>
        <p:spPr>
          <a:xfrm>
            <a:off x="411491" y="1028700"/>
            <a:ext cx="2606109" cy="1714500"/>
          </a:xfrm>
          <a:prstGeom prst="roundRect">
            <a:avLst>
              <a:gd fmla="val 16667" name="adj"/>
            </a:avLst>
          </a:prstGeom>
          <a:solidFill>
            <a:srgbClr val="F0F0F5"/>
          </a:solidFill>
          <a:ln cap="flat" cmpd="sng" w="381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548655" y="1097280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sz="1100"/>
          </a:p>
        </p:txBody>
      </p:sp>
      <p:sp>
        <p:nvSpPr>
          <p:cNvPr id="205" name="Google Shape;205;p31"/>
          <p:cNvSpPr txBox="1"/>
          <p:nvPr/>
        </p:nvSpPr>
        <p:spPr>
          <a:xfrm>
            <a:off x="617236" y="1508760"/>
            <a:ext cx="21946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Plan first</a:t>
            </a:r>
            <a:b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Think before acting</a:t>
            </a:r>
            <a:endParaRPr sz="1100"/>
          </a:p>
        </p:txBody>
      </p:sp>
      <p:sp>
        <p:nvSpPr>
          <p:cNvPr id="206" name="Google Shape;206;p31"/>
          <p:cNvSpPr/>
          <p:nvPr/>
        </p:nvSpPr>
        <p:spPr>
          <a:xfrm>
            <a:off x="685818" y="2948940"/>
            <a:ext cx="2057455" cy="342900"/>
          </a:xfrm>
          <a:prstGeom prst="roundRect">
            <a:avLst>
              <a:gd fmla="val 16667" name="adj"/>
            </a:avLst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685818" y="2962656"/>
            <a:ext cx="2057455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Hook: PreToolUse</a:t>
            </a:r>
            <a:endParaRPr sz="1100"/>
          </a:p>
        </p:txBody>
      </p:sp>
      <p:sp>
        <p:nvSpPr>
          <p:cNvPr id="208" name="Google Shape;208;p31"/>
          <p:cNvSpPr txBox="1"/>
          <p:nvPr/>
        </p:nvSpPr>
        <p:spPr>
          <a:xfrm>
            <a:off x="548655" y="3429000"/>
            <a:ext cx="23317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"Is there a plan?"</a:t>
            </a:r>
            <a:endParaRPr sz="1100"/>
          </a:p>
        </p:txBody>
      </p:sp>
      <p:sp>
        <p:nvSpPr>
          <p:cNvPr id="209" name="Google Shape;209;p31"/>
          <p:cNvSpPr txBox="1"/>
          <p:nvPr/>
        </p:nvSpPr>
        <p:spPr>
          <a:xfrm>
            <a:off x="3086182" y="1577340"/>
            <a:ext cx="2743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endParaRPr sz="1100"/>
          </a:p>
        </p:txBody>
      </p:sp>
      <p:sp>
        <p:nvSpPr>
          <p:cNvPr id="210" name="Google Shape;210;p31"/>
          <p:cNvSpPr/>
          <p:nvPr/>
        </p:nvSpPr>
        <p:spPr>
          <a:xfrm>
            <a:off x="3291928" y="1028700"/>
            <a:ext cx="2606109" cy="1714500"/>
          </a:xfrm>
          <a:prstGeom prst="roundRect">
            <a:avLst>
              <a:gd fmla="val 16667" name="adj"/>
            </a:avLst>
          </a:prstGeom>
          <a:solidFill>
            <a:srgbClr val="F0F0F5"/>
          </a:solidFill>
          <a:ln cap="flat" cmpd="sng" w="381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3429091" y="1097280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BUILDING</a:t>
            </a:r>
            <a:endParaRPr sz="1100"/>
          </a:p>
        </p:txBody>
      </p:sp>
      <p:sp>
        <p:nvSpPr>
          <p:cNvPr id="212" name="Google Shape;212;p31"/>
          <p:cNvSpPr txBox="1"/>
          <p:nvPr/>
        </p:nvSpPr>
        <p:spPr>
          <a:xfrm>
            <a:off x="3497673" y="1508760"/>
            <a:ext cx="21946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Build with guardrails</a:t>
            </a:r>
            <a:b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Quality after each write</a:t>
            </a:r>
            <a:endParaRPr sz="1100"/>
          </a:p>
        </p:txBody>
      </p:sp>
      <p:sp>
        <p:nvSpPr>
          <p:cNvPr id="213" name="Google Shape;213;p31"/>
          <p:cNvSpPr/>
          <p:nvPr/>
        </p:nvSpPr>
        <p:spPr>
          <a:xfrm>
            <a:off x="3566255" y="2948940"/>
            <a:ext cx="2057455" cy="342900"/>
          </a:xfrm>
          <a:prstGeom prst="roundRect">
            <a:avLst>
              <a:gd fmla="val 16667" name="adj"/>
            </a:avLst>
          </a:prstGeom>
          <a:solidFill>
            <a:srgbClr val="00C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3566255" y="2962656"/>
            <a:ext cx="2057455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Hook: PostToolUse</a:t>
            </a:r>
            <a:endParaRPr sz="1100"/>
          </a:p>
        </p:txBody>
      </p:sp>
      <p:sp>
        <p:nvSpPr>
          <p:cNvPr id="215" name="Google Shape;215;p31"/>
          <p:cNvSpPr txBox="1"/>
          <p:nvPr/>
        </p:nvSpPr>
        <p:spPr>
          <a:xfrm>
            <a:off x="3429091" y="3429000"/>
            <a:ext cx="23317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"Did quality pass?"</a:t>
            </a:r>
            <a:endParaRPr sz="1100"/>
          </a:p>
        </p:txBody>
      </p:sp>
      <p:sp>
        <p:nvSpPr>
          <p:cNvPr id="216" name="Google Shape;216;p31"/>
          <p:cNvSpPr txBox="1"/>
          <p:nvPr/>
        </p:nvSpPr>
        <p:spPr>
          <a:xfrm>
            <a:off x="5966619" y="1577340"/>
            <a:ext cx="2743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endParaRPr sz="1100"/>
          </a:p>
        </p:txBody>
      </p:sp>
      <p:sp>
        <p:nvSpPr>
          <p:cNvPr id="217" name="Google Shape;217;p31"/>
          <p:cNvSpPr/>
          <p:nvPr/>
        </p:nvSpPr>
        <p:spPr>
          <a:xfrm>
            <a:off x="6172365" y="1028700"/>
            <a:ext cx="2606109" cy="1714500"/>
          </a:xfrm>
          <a:prstGeom prst="roundRect">
            <a:avLst>
              <a:gd fmla="val 16667" name="adj"/>
            </a:avLst>
          </a:prstGeom>
          <a:solidFill>
            <a:srgbClr val="F0F0F5"/>
          </a:solidFill>
          <a:ln cap="flat" cmpd="sng" w="381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6309528" y="1097280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VERIFYING</a:t>
            </a:r>
            <a:endParaRPr sz="1100"/>
          </a:p>
        </p:txBody>
      </p:sp>
      <p:sp>
        <p:nvSpPr>
          <p:cNvPr id="219" name="Google Shape;219;p31"/>
          <p:cNvSpPr txBox="1"/>
          <p:nvPr/>
        </p:nvSpPr>
        <p:spPr>
          <a:xfrm>
            <a:off x="6378110" y="1508760"/>
            <a:ext cx="21946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Prove it works</a:t>
            </a:r>
            <a:b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before declaring done</a:t>
            </a:r>
            <a:endParaRPr sz="1100"/>
          </a:p>
        </p:txBody>
      </p:sp>
      <p:sp>
        <p:nvSpPr>
          <p:cNvPr id="220" name="Google Shape;220;p31"/>
          <p:cNvSpPr/>
          <p:nvPr/>
        </p:nvSpPr>
        <p:spPr>
          <a:xfrm>
            <a:off x="6446692" y="2948940"/>
            <a:ext cx="2057455" cy="342900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6446692" y="2962656"/>
            <a:ext cx="2057455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Hook: Stop</a:t>
            </a:r>
            <a:endParaRPr sz="1100"/>
          </a:p>
        </p:txBody>
      </p:sp>
      <p:sp>
        <p:nvSpPr>
          <p:cNvPr id="222" name="Google Shape;222;p31"/>
          <p:cNvSpPr txBox="1"/>
          <p:nvPr/>
        </p:nvSpPr>
        <p:spPr>
          <a:xfrm>
            <a:off x="6309528" y="3429000"/>
            <a:ext cx="23317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"Is the work verified?"</a:t>
            </a:r>
            <a:endParaRPr sz="1100"/>
          </a:p>
        </p:txBody>
      </p:sp>
      <p:sp>
        <p:nvSpPr>
          <p:cNvPr id="223" name="Google Shape;223;p31"/>
          <p:cNvSpPr txBox="1"/>
          <p:nvPr/>
        </p:nvSpPr>
        <p:spPr>
          <a:xfrm>
            <a:off x="850630" y="3909028"/>
            <a:ext cx="7544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Every engineering workflow has these three phases. We enforce each one with a hook.</a:t>
            </a:r>
            <a:endParaRPr sz="1100"/>
          </a:p>
        </p:txBody>
      </p:sp>
      <p:sp>
        <p:nvSpPr>
          <p:cNvPr id="224" name="Google Shape;224;p31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7 / 24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Planning -- PreToolUse</a:t>
            </a:r>
            <a:endParaRPr sz="1100"/>
          </a:p>
        </p:txBody>
      </p:sp>
      <p:sp>
        <p:nvSpPr>
          <p:cNvPr id="230" name="Google Shape;230;p32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2"/>
          <p:cNvSpPr txBox="1"/>
          <p:nvPr/>
        </p:nvSpPr>
        <p:spPr>
          <a:xfrm>
            <a:off x="548655" y="123444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Problem: Claude jumps straight to coding before thinking through the approach.</a:t>
            </a:r>
            <a:endParaRPr sz="1100"/>
          </a:p>
        </p:txBody>
      </p:sp>
      <p:sp>
        <p:nvSpPr>
          <p:cNvPr id="232" name="Google Shape;232;p32"/>
          <p:cNvSpPr/>
          <p:nvPr/>
        </p:nvSpPr>
        <p:spPr>
          <a:xfrm>
            <a:off x="548655" y="1714500"/>
            <a:ext cx="4114910" cy="171450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Claude tries to edit Widget.tsx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PreToolUse fires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Does .claude/plans/*.md exist?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NO  --&gt; DENY: "Create a plan first"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YES --&gt; ALLOW</a:t>
            </a:r>
            <a:endParaRPr sz="1100"/>
          </a:p>
        </p:txBody>
      </p:sp>
      <p:sp>
        <p:nvSpPr>
          <p:cNvPr id="233" name="Google Shape;233;p32"/>
          <p:cNvSpPr txBox="1"/>
          <p:nvPr/>
        </p:nvSpPr>
        <p:spPr>
          <a:xfrm>
            <a:off x="5006473" y="1714500"/>
            <a:ext cx="3772001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Must create a plan before touching code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Plans live in .claude/plans/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Reviewable, diffable, trackable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files always writable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CLAUDE.md and configs exempt</a:t>
            </a:r>
            <a:endParaRPr sz="1100"/>
          </a:p>
        </p:txBody>
      </p:sp>
      <p:sp>
        <p:nvSpPr>
          <p:cNvPr id="234" name="Google Shape;234;p32"/>
          <p:cNvSpPr/>
          <p:nvPr/>
        </p:nvSpPr>
        <p:spPr>
          <a:xfrm>
            <a:off x="548655" y="3771900"/>
            <a:ext cx="7544001" cy="548640"/>
          </a:xfrm>
          <a:prstGeom prst="roundRect">
            <a:avLst>
              <a:gd fmla="val 16667" name="adj"/>
            </a:avLst>
          </a:prstGeom>
          <a:solidFill>
            <a:srgbClr val="0A1A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822982" y="3874770"/>
            <a:ext cx="69953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You don't need a plan to write a plan. But you need a plan to write code.</a:t>
            </a:r>
            <a:endParaRPr sz="1100"/>
          </a:p>
        </p:txBody>
      </p:sp>
      <p:sp>
        <p:nvSpPr>
          <p:cNvPr id="236" name="Google Shape;236;p32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8 / 24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Phase 2: Building -- PostToolUse</a:t>
            </a:r>
            <a:endParaRPr sz="1100"/>
          </a:p>
        </p:txBody>
      </p:sp>
      <p:sp>
        <p:nvSpPr>
          <p:cNvPr id="242" name="Google Shape;242;p33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548655" y="123444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Problem: Claude writes code with lint errors and type errors. You catch them manually, later.</a:t>
            </a:r>
            <a:endParaRPr sz="1100"/>
          </a:p>
        </p:txBody>
      </p:sp>
      <p:sp>
        <p:nvSpPr>
          <p:cNvPr id="244" name="Google Shape;244;p33"/>
          <p:cNvSpPr/>
          <p:nvPr/>
        </p:nvSpPr>
        <p:spPr>
          <a:xfrm>
            <a:off x="548650" y="1714500"/>
            <a:ext cx="4114800" cy="277950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Claude writes Widget.tsx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PostToolUse fires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Hook runs eslint / tsc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Errors? --&gt; additionalContext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Claude reads --&gt; self-corrects</a:t>
            </a:r>
            <a:endParaRPr sz="1100"/>
          </a:p>
        </p:txBody>
      </p:sp>
      <p:sp>
        <p:nvSpPr>
          <p:cNvPr id="245" name="Google Shape;245;p33"/>
          <p:cNvSpPr txBox="1"/>
          <p:nvPr/>
        </p:nvSpPr>
        <p:spPr>
          <a:xfrm>
            <a:off x="5006473" y="1714500"/>
            <a:ext cx="3772001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Every write gets automatic quality check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Errors injected into Claude's context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 fixes them immediately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more "I'll run lint later"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Feedback loop is instant and continuous</a:t>
            </a:r>
            <a:endParaRPr sz="1100"/>
          </a:p>
        </p:txBody>
      </p:sp>
      <p:sp>
        <p:nvSpPr>
          <p:cNvPr id="246" name="Google Shape;246;p33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9 / 24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3: Verifying -- Stop Hook</a:t>
            </a:r>
            <a:endParaRPr sz="1100"/>
          </a:p>
        </p:txBody>
      </p:sp>
      <p:sp>
        <p:nvSpPr>
          <p:cNvPr id="252" name="Google Shape;252;p34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548655" y="123444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Problem: Claude says "Done!" but tests are failing and requirements are missing.</a:t>
            </a:r>
            <a:endParaRPr sz="1100"/>
          </a:p>
        </p:txBody>
      </p:sp>
      <p:sp>
        <p:nvSpPr>
          <p:cNvPr id="254" name="Google Shape;254;p34"/>
          <p:cNvSpPr/>
          <p:nvPr/>
        </p:nvSpPr>
        <p:spPr>
          <a:xfrm>
            <a:off x="548655" y="1714500"/>
            <a:ext cx="4114910" cy="192024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Claude says "I'm done"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Stop hook fires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Do tests pass?           NO --&gt; DENY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Plan items all checked?  NO --&gt; DENY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Lint errors?             YES -&gt; DENY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|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ALL PASS --&gt; Allow stop</a:t>
            </a:r>
            <a:endParaRPr sz="1100"/>
          </a:p>
        </p:txBody>
      </p:sp>
      <p:sp>
        <p:nvSpPr>
          <p:cNvPr id="255" name="Google Shape;255;p34"/>
          <p:cNvSpPr txBox="1"/>
          <p:nvPr/>
        </p:nvSpPr>
        <p:spPr>
          <a:xfrm>
            <a:off x="5006473" y="1714500"/>
            <a:ext cx="3772001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must PROVE it's done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Verification runs automatically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Failed = sent back to fix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Higher quality every time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#1 agent failure mode: premature victory</a:t>
            </a:r>
            <a:endParaRPr sz="1100"/>
          </a:p>
        </p:txBody>
      </p:sp>
      <p:sp>
        <p:nvSpPr>
          <p:cNvPr id="256" name="Google Shape;256;p34"/>
          <p:cNvSpPr/>
          <p:nvPr/>
        </p:nvSpPr>
        <p:spPr>
          <a:xfrm>
            <a:off x="548655" y="3977640"/>
            <a:ext cx="7544001" cy="480060"/>
          </a:xfrm>
          <a:prstGeom prst="roundRect">
            <a:avLst>
              <a:gd fmla="val 16667" name="adj"/>
            </a:avLst>
          </a:prstGeom>
          <a:solidFill>
            <a:srgbClr val="3A0A0A"/>
          </a:solidFill>
          <a:ln cap="flat" cmpd="sng" w="254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822982" y="4059936"/>
            <a:ext cx="6995346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Exit code 2 = BLOCK. Exit code 1 = does NOT block. This is the most common mistake.</a:t>
            </a:r>
            <a:endParaRPr sz="1100"/>
          </a:p>
        </p:txBody>
      </p:sp>
      <p:sp>
        <p:nvSpPr>
          <p:cNvPr id="258" name="Google Shape;258;p34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10 / 24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/>
        </p:nvSpPr>
        <p:spPr>
          <a:xfrm>
            <a:off x="548655" y="157734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sz="1100"/>
          </a:p>
        </p:txBody>
      </p:sp>
      <p:sp>
        <p:nvSpPr>
          <p:cNvPr id="264" name="Google Shape;264;p35"/>
          <p:cNvSpPr txBox="1"/>
          <p:nvPr/>
        </p:nvSpPr>
        <p:spPr>
          <a:xfrm>
            <a:off x="548655" y="1988820"/>
            <a:ext cx="75440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Hooks Work</a:t>
            </a:r>
            <a:endParaRPr sz="1100"/>
          </a:p>
        </p:txBody>
      </p:sp>
      <p:sp>
        <p:nvSpPr>
          <p:cNvPr id="265" name="Google Shape;265;p35"/>
          <p:cNvSpPr/>
          <p:nvPr/>
        </p:nvSpPr>
        <p:spPr>
          <a:xfrm>
            <a:off x="548655" y="3086100"/>
            <a:ext cx="2057455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5"/>
          <p:cNvSpPr txBox="1"/>
          <p:nvPr/>
        </p:nvSpPr>
        <p:spPr>
          <a:xfrm>
            <a:off x="548655" y="3360420"/>
            <a:ext cx="68581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Settings, exit codes, JSON contract, matchers.</a:t>
            </a:r>
            <a:endParaRPr sz="1100"/>
          </a:p>
        </p:txBody>
      </p:sp>
      <p:sp>
        <p:nvSpPr>
          <p:cNvPr id="267" name="Google Shape;267;p35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11 / 24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Where Hooks Live</a:t>
            </a:r>
            <a:endParaRPr sz="1100"/>
          </a:p>
        </p:txBody>
      </p:sp>
      <p:sp>
        <p:nvSpPr>
          <p:cNvPr id="273" name="Google Shape;273;p36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36"/>
          <p:cNvGraphicFramePr/>
          <p:nvPr/>
        </p:nvGraphicFramePr>
        <p:xfrm>
          <a:off x="548655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{B6BB2DE6-6D82-4A61-AB26-291F38240E5D}</a:tableStyleId>
              </a:tblPr>
              <a:tblGrid>
                <a:gridCol w="2743250"/>
                <a:gridCol w="2400350"/>
                <a:gridCol w="1714525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Commit?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~/.claude/settings.json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projects (global)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.claude/settings.json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project (shared)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-- team guardrails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.claude/settings.local.json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project (personal)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YAML frontmatter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While skill is active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5" name="Google Shape;275;p36"/>
          <p:cNvSpPr/>
          <p:nvPr/>
        </p:nvSpPr>
        <p:spPr>
          <a:xfrm>
            <a:off x="548655" y="3291840"/>
            <a:ext cx="6858183" cy="617220"/>
          </a:xfrm>
          <a:prstGeom prst="roundRect">
            <a:avLst>
              <a:gd fmla="val 16667" name="adj"/>
            </a:avLst>
          </a:prstGeom>
          <a:solidFill>
            <a:srgbClr val="0A1A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6"/>
          <p:cNvSpPr txBox="1"/>
          <p:nvPr/>
        </p:nvSpPr>
        <p:spPr>
          <a:xfrm>
            <a:off x="822982" y="3394710"/>
            <a:ext cx="6309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Project settings (.claude/settings.json) are the sweet spot. Commit them. Everyone on the team gets the same guardrails.</a:t>
            </a:r>
            <a:endParaRPr sz="1100"/>
          </a:p>
        </p:txBody>
      </p:sp>
      <p:sp>
        <p:nvSpPr>
          <p:cNvPr id="277" name="Google Shape;277;p36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12 / 24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settings.json Structure</a:t>
            </a:r>
            <a:endParaRPr sz="1100"/>
          </a:p>
        </p:txBody>
      </p:sp>
      <p:sp>
        <p:nvSpPr>
          <p:cNvPr id="283" name="Google Shape;283;p37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7"/>
          <p:cNvSpPr/>
          <p:nvPr/>
        </p:nvSpPr>
        <p:spPr>
          <a:xfrm>
            <a:off x="548650" y="1371600"/>
            <a:ext cx="4457700" cy="326280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"hooks":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"PreToolUse": [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"matcher": "Edit|Write",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"hooks": [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 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    "type": "command",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    "command": "bash .claude/hooks/require-plan.sh"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285" name="Google Shape;285;p37"/>
          <p:cNvSpPr txBox="1"/>
          <p:nvPr/>
        </p:nvSpPr>
        <p:spPr>
          <a:xfrm>
            <a:off x="5349383" y="1371600"/>
            <a:ext cx="3429091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Matchers filter which tools fire: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"Edit|Write" = Edit or Write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"Bash" = Bash only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".*" or "" = everything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"mcp__.*" = all MCP tools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hook types: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command = shell script (fastest)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http = POST to endpoint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prompt = single-turn Claude eval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agent = multi-turn with tools</a:t>
            </a:r>
            <a:endParaRPr sz="1100"/>
          </a:p>
        </p:txBody>
      </p:sp>
      <p:sp>
        <p:nvSpPr>
          <p:cNvPr id="286" name="Google Shape;286;p37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13 / 24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Exit Codes and JSON Output</a:t>
            </a:r>
            <a:endParaRPr sz="1100"/>
          </a:p>
        </p:txBody>
      </p:sp>
      <p:sp>
        <p:nvSpPr>
          <p:cNvPr id="292" name="Google Shape;292;p38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38"/>
          <p:cNvGraphicFramePr/>
          <p:nvPr/>
        </p:nvGraphicFramePr>
        <p:xfrm>
          <a:off x="548655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{B6BB2DE6-6D82-4A61-AB26-291F38240E5D}</a:tableStyleId>
              </a:tblPr>
              <a:tblGrid>
                <a:gridCol w="1371625"/>
                <a:gridCol w="2057450"/>
                <a:gridCol w="3429075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Exit Code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Success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Parses stdout JSON for decisions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Denies the action, stderr shown to Claude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(non-blocking)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error but does NOT block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38"/>
          <p:cNvSpPr txBox="1"/>
          <p:nvPr/>
        </p:nvSpPr>
        <p:spPr>
          <a:xfrm>
            <a:off x="548655" y="288036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JSON output for fine-grained control:</a:t>
            </a:r>
            <a:endParaRPr sz="1100"/>
          </a:p>
        </p:txBody>
      </p:sp>
      <p:sp>
        <p:nvSpPr>
          <p:cNvPr id="295" name="Google Shape;295;p38"/>
          <p:cNvSpPr/>
          <p:nvPr/>
        </p:nvSpPr>
        <p:spPr>
          <a:xfrm>
            <a:off x="548655" y="3223260"/>
            <a:ext cx="6858183" cy="123444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"hookSpecificOutput":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"hookEventName": "PreToolUse",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"permissionDecision": "allow | deny | ask",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"permissionDecisionReason": "Why (shown to Claude)",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"additionalContext": "Extra context injected"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296" name="Google Shape;296;p38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14 / 24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/>
        </p:nvSpPr>
        <p:spPr>
          <a:xfrm>
            <a:off x="548655" y="157734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sz="1100"/>
          </a:p>
        </p:txBody>
      </p:sp>
      <p:sp>
        <p:nvSpPr>
          <p:cNvPr id="302" name="Google Shape;302;p39"/>
          <p:cNvSpPr txBox="1"/>
          <p:nvPr/>
        </p:nvSpPr>
        <p:spPr>
          <a:xfrm>
            <a:off x="548655" y="1988820"/>
            <a:ext cx="75440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Your First Hooks</a:t>
            </a:r>
            <a:endParaRPr sz="1100"/>
          </a:p>
        </p:txBody>
      </p:sp>
      <p:sp>
        <p:nvSpPr>
          <p:cNvPr id="303" name="Google Shape;303;p39"/>
          <p:cNvSpPr/>
          <p:nvPr/>
        </p:nvSpPr>
        <p:spPr>
          <a:xfrm>
            <a:off x="548655" y="3086100"/>
            <a:ext cx="2057455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9"/>
          <p:cNvSpPr txBox="1"/>
          <p:nvPr/>
        </p:nvSpPr>
        <p:spPr>
          <a:xfrm>
            <a:off x="548655" y="3360420"/>
            <a:ext cx="68581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Copy-paste starters for planning, quality, and verification.</a:t>
            </a:r>
            <a:endParaRPr sz="1100"/>
          </a:p>
        </p:txBody>
      </p:sp>
      <p:sp>
        <p:nvSpPr>
          <p:cNvPr id="305" name="Google Shape;305;p39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15 / 24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/>
        </p:nvSpPr>
        <p:spPr>
          <a:xfrm>
            <a:off x="548655" y="27432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Starter: Plan-First Hook</a:t>
            </a:r>
            <a:endParaRPr sz="1100"/>
          </a:p>
        </p:txBody>
      </p:sp>
      <p:sp>
        <p:nvSpPr>
          <p:cNvPr id="311" name="Google Shape;311;p40"/>
          <p:cNvSpPr txBox="1"/>
          <p:nvPr/>
        </p:nvSpPr>
        <p:spPr>
          <a:xfrm>
            <a:off x="548655" y="651510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PreToolUse on Edit|Write</a:t>
            </a:r>
            <a:endParaRPr sz="1100"/>
          </a:p>
        </p:txBody>
      </p:sp>
      <p:sp>
        <p:nvSpPr>
          <p:cNvPr id="312" name="Google Shape;312;p40"/>
          <p:cNvSpPr/>
          <p:nvPr/>
        </p:nvSpPr>
        <p:spPr>
          <a:xfrm>
            <a:off x="274327" y="960120"/>
            <a:ext cx="8572729" cy="370332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.claude/hooks/require-plan.sh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INPUT=$(cat)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TOOL=$(echo "$INPUT" | jq -r '.tool_name')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FILE=$(echo "$INPUT" | jq -r '.tool_input.file_path // ""')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Always allow plans, CLAUDE.md, configs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if echo "$FILE" | grep -qE '(\.claude/plans/|CLAUDE\.md|settings\.json)'; then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exit 0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fi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Only check Edit and Write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[ "$TOOL" != "Edit" ] &amp;&amp; [ "$TOOL" != "Write" ] &amp;&amp; exit 0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Require a plan file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PLANS=$(find .claude/plans/ -name "*.md" 2&gt;/dev/null | wc -l | tr -d " ")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if [ "$PLANS" -eq 0 ]; then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echo '{"hookSpecificOutput":{"hookEventName":"PreToolUse",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"permissionDecision":"deny",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"permissionDecisionReason":"No plan found. Create one in .claude/plans/ first."}}'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exit 0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fi</a:t>
            </a:r>
            <a:endParaRPr sz="1100"/>
          </a:p>
        </p:txBody>
      </p:sp>
      <p:sp>
        <p:nvSpPr>
          <p:cNvPr id="313" name="Google Shape;313;p40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16 / 24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/>
        </p:nvSpPr>
        <p:spPr>
          <a:xfrm>
            <a:off x="548655" y="27432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Starter: Quality Check Hook</a:t>
            </a:r>
            <a:endParaRPr sz="1100"/>
          </a:p>
        </p:txBody>
      </p:sp>
      <p:sp>
        <p:nvSpPr>
          <p:cNvPr id="319" name="Google Shape;319;p41"/>
          <p:cNvSpPr txBox="1"/>
          <p:nvPr/>
        </p:nvSpPr>
        <p:spPr>
          <a:xfrm>
            <a:off x="548655" y="651510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PostToolUse on Edit|Write</a:t>
            </a:r>
            <a:endParaRPr sz="1100"/>
          </a:p>
        </p:txBody>
      </p:sp>
      <p:sp>
        <p:nvSpPr>
          <p:cNvPr id="320" name="Google Shape;320;p41"/>
          <p:cNvSpPr/>
          <p:nvPr/>
        </p:nvSpPr>
        <p:spPr>
          <a:xfrm>
            <a:off x="274327" y="960120"/>
            <a:ext cx="8572729" cy="370332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.claude/hooks/post-write-lint.sh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INPUT=$(cat)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TOOL=$(echo "$INPUT" | jq -r '.tool_name')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FILE=$(echo "$INPUT" | jq -r '.tool_input.file_path // ""')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Only check source files on Edit/Write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[ "$TOOL" != "Edit" ] &amp;&amp; [ "$TOOL" != "Write" ] &amp;&amp; exit 0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echo "$FILE" | grep -qE '\.(ts|tsx|py|js|jsx)$' || exit 0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Run your linter (adapt to your stack)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LINT=$(npx eslint "$FILE" 2&gt;&amp;1) || true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if [ -n "$LINT" ] &amp;&amp; echo "$LINT" | grep -q "error"; then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# Inject errors -- Claude reads this and self-corrects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ERRORS=$(echo "$LINT" | head -20)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echo "{\"hookSpecificOutput\":{\"hookEventName\":\"PostToolUse\",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\"additionalContext\":\"Lint errors in $FILE. Fix before proceeding:\n$ERRORS\"}}" 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exit 0  # Clean -- no feedback needed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fi</a:t>
            </a:r>
            <a:endParaRPr sz="1100"/>
          </a:p>
        </p:txBody>
      </p:sp>
      <p:sp>
        <p:nvSpPr>
          <p:cNvPr id="321" name="Google Shape;321;p41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17 / 24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548655" y="27432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Starter: Completion Gate</a:t>
            </a:r>
            <a:endParaRPr sz="1100"/>
          </a:p>
        </p:txBody>
      </p:sp>
      <p:sp>
        <p:nvSpPr>
          <p:cNvPr id="327" name="Google Shape;327;p42"/>
          <p:cNvSpPr txBox="1"/>
          <p:nvPr/>
        </p:nvSpPr>
        <p:spPr>
          <a:xfrm>
            <a:off x="548655" y="651510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Stop hook</a:t>
            </a:r>
            <a:endParaRPr sz="1100"/>
          </a:p>
        </p:txBody>
      </p:sp>
      <p:sp>
        <p:nvSpPr>
          <p:cNvPr id="328" name="Google Shape;328;p42"/>
          <p:cNvSpPr/>
          <p:nvPr/>
        </p:nvSpPr>
        <p:spPr>
          <a:xfrm>
            <a:off x="274327" y="960120"/>
            <a:ext cx="8572729" cy="370332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.claude/hooks/verify-before-stop.sh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INPUT=$(cat)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Check 1: Do tests pass?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TEST_OUT=$(npm test 2&gt;&amp;1) || true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if echo "$TEST_OUT" | grep -qEi "(FAIL|failing|failed)"; then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echo "Tests are failing. Fix them before finishing." &gt;&amp;2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exit 2  # EXIT 2 = BLOCK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fi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# Check 2: Plan items all complete?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PLAN=$(find .claude/plans/ -name "*.md" 2&gt;/dev/null | head -1)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if [ -n "$PLAN" ]; then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INCOMPLETE=$(grep -c "\[ \]" "$PLAN" 2&gt;/dev/null || echo "0")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if [ "$INCOMPLETE" -gt 0 ]; then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echo "$INCOMPLETE plan items incomplete. Finish them." &gt;&amp;2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exit 2  # EXIT 2 = BLOCK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fi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fi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C8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exit 0  # All checks pass</a:t>
            </a:r>
            <a:endParaRPr sz="1100"/>
          </a:p>
        </p:txBody>
      </p:sp>
      <p:sp>
        <p:nvSpPr>
          <p:cNvPr id="329" name="Google Shape;329;p42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18 / 24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/>
        </p:nvSpPr>
        <p:spPr>
          <a:xfrm>
            <a:off x="548655" y="27432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Put It Together: .claude/settings.json</a:t>
            </a:r>
            <a:endParaRPr sz="1100"/>
          </a:p>
        </p:txBody>
      </p:sp>
      <p:sp>
        <p:nvSpPr>
          <p:cNvPr id="335" name="Google Shape;335;p43"/>
          <p:cNvSpPr txBox="1"/>
          <p:nvPr/>
        </p:nvSpPr>
        <p:spPr>
          <a:xfrm>
            <a:off x="548655" y="651510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Commit this. Everyone gets the same guardrails.</a:t>
            </a:r>
            <a:endParaRPr sz="1100"/>
          </a:p>
        </p:txBody>
      </p:sp>
      <p:sp>
        <p:nvSpPr>
          <p:cNvPr id="336" name="Google Shape;336;p43"/>
          <p:cNvSpPr/>
          <p:nvPr/>
        </p:nvSpPr>
        <p:spPr>
          <a:xfrm>
            <a:off x="274325" y="960126"/>
            <a:ext cx="8572800" cy="4183500"/>
          </a:xfrm>
          <a:prstGeom prst="roundRect">
            <a:avLst>
              <a:gd fmla="val 16667" name="adj"/>
            </a:avLst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150" lIns="205725" spcFirstLastPara="1" rIns="2057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"hooks":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"PreToolUse": [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"matcher": "Edit|Write",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"hooks": [{"type": "command",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  "command": "bash .claude/hooks/require-plan.sh"}]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],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"PostToolUse": [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"matcher": "Edit|Write",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"hooks": [{"type": "command",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  "command": "bash .claude/hooks/post-write-lint.sh"}]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],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"Stop": [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"hooks": [{"type": "command",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    "command": "bash .claude/hooks/verify-before-stop.sh"}]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337" name="Google Shape;337;p43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19 / 24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 txBox="1"/>
          <p:nvPr/>
        </p:nvSpPr>
        <p:spPr>
          <a:xfrm>
            <a:off x="548655" y="157734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sz="1100"/>
          </a:p>
        </p:txBody>
      </p:sp>
      <p:sp>
        <p:nvSpPr>
          <p:cNvPr id="343" name="Google Shape;343;p44"/>
          <p:cNvSpPr txBox="1"/>
          <p:nvPr/>
        </p:nvSpPr>
        <p:spPr>
          <a:xfrm>
            <a:off x="548655" y="1988820"/>
            <a:ext cx="75440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Growing Your SDLC</a:t>
            </a:r>
            <a:endParaRPr sz="1100"/>
          </a:p>
        </p:txBody>
      </p:sp>
      <p:sp>
        <p:nvSpPr>
          <p:cNvPr id="344" name="Google Shape;344;p44"/>
          <p:cNvSpPr/>
          <p:nvPr/>
        </p:nvSpPr>
        <p:spPr>
          <a:xfrm>
            <a:off x="548655" y="3086100"/>
            <a:ext cx="2057455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4"/>
          <p:cNvSpPr txBox="1"/>
          <p:nvPr/>
        </p:nvSpPr>
        <p:spPr>
          <a:xfrm>
            <a:off x="548655" y="3360420"/>
            <a:ext cx="68581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What to add next, and where this all leads.</a:t>
            </a:r>
            <a:endParaRPr sz="1100"/>
          </a:p>
        </p:txBody>
      </p:sp>
      <p:sp>
        <p:nvSpPr>
          <p:cNvPr id="346" name="Google Shape;346;p44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20 / 24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/>
        </p:nvSpPr>
        <p:spPr>
          <a:xfrm>
            <a:off x="548655" y="27432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Growth Path</a:t>
            </a:r>
            <a:endParaRPr sz="1100"/>
          </a:p>
        </p:txBody>
      </p:sp>
      <p:sp>
        <p:nvSpPr>
          <p:cNvPr id="352" name="Google Shape;352;p45"/>
          <p:cNvSpPr/>
          <p:nvPr/>
        </p:nvSpPr>
        <p:spPr>
          <a:xfrm>
            <a:off x="685818" y="857250"/>
            <a:ext cx="171455" cy="171450"/>
          </a:xfrm>
          <a:prstGeom prst="ellipse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5"/>
          <p:cNvSpPr txBox="1"/>
          <p:nvPr/>
        </p:nvSpPr>
        <p:spPr>
          <a:xfrm>
            <a:off x="1028727" y="788670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1100"/>
          </a:p>
        </p:txBody>
      </p:sp>
      <p:sp>
        <p:nvSpPr>
          <p:cNvPr id="354" name="Google Shape;354;p45"/>
          <p:cNvSpPr txBox="1"/>
          <p:nvPr/>
        </p:nvSpPr>
        <p:spPr>
          <a:xfrm>
            <a:off x="2263200" y="788670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Starter Three</a:t>
            </a:r>
            <a:endParaRPr sz="1100"/>
          </a:p>
        </p:txBody>
      </p:sp>
      <p:sp>
        <p:nvSpPr>
          <p:cNvPr id="355" name="Google Shape;355;p45"/>
          <p:cNvSpPr txBox="1"/>
          <p:nvPr/>
        </p:nvSpPr>
        <p:spPr>
          <a:xfrm>
            <a:off x="2263200" y="102870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PreToolUse: require-plan (Edit|Write)</a:t>
            </a:r>
            <a:endParaRPr sz="1100"/>
          </a:p>
        </p:txBody>
      </p:sp>
      <p:sp>
        <p:nvSpPr>
          <p:cNvPr id="356" name="Google Shape;356;p45"/>
          <p:cNvSpPr txBox="1"/>
          <p:nvPr/>
        </p:nvSpPr>
        <p:spPr>
          <a:xfrm>
            <a:off x="2263200" y="1234440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PostToolUse: post-write-lint (Edit|Write)</a:t>
            </a:r>
            <a:endParaRPr sz="1100"/>
          </a:p>
        </p:txBody>
      </p:sp>
      <p:sp>
        <p:nvSpPr>
          <p:cNvPr id="357" name="Google Shape;357;p45"/>
          <p:cNvSpPr txBox="1"/>
          <p:nvPr/>
        </p:nvSpPr>
        <p:spPr>
          <a:xfrm>
            <a:off x="2263200" y="1440179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Stop: verify-before-stop</a:t>
            </a:r>
            <a:endParaRPr sz="1100"/>
          </a:p>
        </p:txBody>
      </p:sp>
      <p:sp>
        <p:nvSpPr>
          <p:cNvPr id="358" name="Google Shape;358;p45"/>
          <p:cNvSpPr/>
          <p:nvPr/>
        </p:nvSpPr>
        <p:spPr>
          <a:xfrm>
            <a:off x="685818" y="1927097"/>
            <a:ext cx="171455" cy="171450"/>
          </a:xfrm>
          <a:prstGeom prst="ellipse">
            <a:avLst/>
          </a:prstGeom>
          <a:solidFill>
            <a:srgbClr val="00C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5"/>
          <p:cNvSpPr txBox="1"/>
          <p:nvPr/>
        </p:nvSpPr>
        <p:spPr>
          <a:xfrm>
            <a:off x="1028727" y="1858517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Week 2-3</a:t>
            </a:r>
            <a:endParaRPr sz="1100"/>
          </a:p>
        </p:txBody>
      </p:sp>
      <p:sp>
        <p:nvSpPr>
          <p:cNvPr id="360" name="Google Shape;360;p45"/>
          <p:cNvSpPr txBox="1"/>
          <p:nvPr/>
        </p:nvSpPr>
        <p:spPr>
          <a:xfrm>
            <a:off x="2263200" y="1858517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 Safety</a:t>
            </a:r>
            <a:endParaRPr sz="1100"/>
          </a:p>
        </p:txBody>
      </p:sp>
      <p:sp>
        <p:nvSpPr>
          <p:cNvPr id="361" name="Google Shape;361;p45"/>
          <p:cNvSpPr txBox="1"/>
          <p:nvPr/>
        </p:nvSpPr>
        <p:spPr>
          <a:xfrm>
            <a:off x="2263200" y="2098547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PreToolUse: block destructive bash (rm -rf, DROP TABLE)</a:t>
            </a:r>
            <a:endParaRPr sz="1100"/>
          </a:p>
        </p:txBody>
      </p:sp>
      <p:sp>
        <p:nvSpPr>
          <p:cNvPr id="362" name="Google Shape;362;p45"/>
          <p:cNvSpPr txBox="1"/>
          <p:nvPr/>
        </p:nvSpPr>
        <p:spPr>
          <a:xfrm>
            <a:off x="2263200" y="2304287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PermissionRequest: auto-approve safe commands (lint, test)</a:t>
            </a:r>
            <a:endParaRPr sz="1100"/>
          </a:p>
        </p:txBody>
      </p:sp>
      <p:sp>
        <p:nvSpPr>
          <p:cNvPr id="363" name="Google Shape;363;p45"/>
          <p:cNvSpPr/>
          <p:nvPr/>
        </p:nvSpPr>
        <p:spPr>
          <a:xfrm>
            <a:off x="685818" y="2777489"/>
            <a:ext cx="171455" cy="171450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1028727" y="2708909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Week 4+</a:t>
            </a:r>
            <a:endParaRPr sz="1100"/>
          </a:p>
        </p:txBody>
      </p:sp>
      <p:sp>
        <p:nvSpPr>
          <p:cNvPr id="365" name="Google Shape;365;p45"/>
          <p:cNvSpPr txBox="1"/>
          <p:nvPr/>
        </p:nvSpPr>
        <p:spPr>
          <a:xfrm>
            <a:off x="2263200" y="2708909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 Observability</a:t>
            </a:r>
            <a:endParaRPr sz="1100"/>
          </a:p>
        </p:txBody>
      </p:sp>
      <p:sp>
        <p:nvSpPr>
          <p:cNvPr id="366" name="Google Shape;366;p45"/>
          <p:cNvSpPr txBox="1"/>
          <p:nvPr/>
        </p:nvSpPr>
        <p:spPr>
          <a:xfrm>
            <a:off x="2263200" y="2948939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PostCompact: re-inject critical context after compression</a:t>
            </a:r>
            <a:endParaRPr sz="1100"/>
          </a:p>
        </p:txBody>
      </p:sp>
      <p:sp>
        <p:nvSpPr>
          <p:cNvPr id="367" name="Google Shape;367;p45"/>
          <p:cNvSpPr txBox="1"/>
          <p:nvPr/>
        </p:nvSpPr>
        <p:spPr>
          <a:xfrm>
            <a:off x="2263200" y="3154679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SubagentStart: inject project context to subagents</a:t>
            </a:r>
            <a:endParaRPr sz="1100"/>
          </a:p>
        </p:txBody>
      </p:sp>
      <p:sp>
        <p:nvSpPr>
          <p:cNvPr id="368" name="Google Shape;368;p45"/>
          <p:cNvSpPr txBox="1"/>
          <p:nvPr/>
        </p:nvSpPr>
        <p:spPr>
          <a:xfrm>
            <a:off x="2263200" y="3360418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SubagentStop: log token usage and duration</a:t>
            </a:r>
            <a:endParaRPr sz="1100"/>
          </a:p>
        </p:txBody>
      </p:sp>
      <p:sp>
        <p:nvSpPr>
          <p:cNvPr id="369" name="Google Shape;369;p45"/>
          <p:cNvSpPr/>
          <p:nvPr/>
        </p:nvSpPr>
        <p:spPr>
          <a:xfrm>
            <a:off x="685818" y="3847337"/>
            <a:ext cx="171455" cy="171450"/>
          </a:xfrm>
          <a:prstGeom prst="ellipse">
            <a:avLst/>
          </a:prstGeom>
          <a:solidFill>
            <a:srgbClr val="9B59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1028727" y="3778757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Eventually</a:t>
            </a:r>
            <a:endParaRPr sz="1100"/>
          </a:p>
        </p:txBody>
      </p:sp>
      <p:sp>
        <p:nvSpPr>
          <p:cNvPr id="371" name="Google Shape;371;p45"/>
          <p:cNvSpPr txBox="1"/>
          <p:nvPr/>
        </p:nvSpPr>
        <p:spPr>
          <a:xfrm>
            <a:off x="2263200" y="3778757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Full Lifecycle</a:t>
            </a:r>
            <a:endParaRPr sz="1100"/>
          </a:p>
        </p:txBody>
      </p:sp>
      <p:sp>
        <p:nvSpPr>
          <p:cNvPr id="372" name="Google Shape;372;p45"/>
          <p:cNvSpPr txBox="1"/>
          <p:nvPr/>
        </p:nvSpPr>
        <p:spPr>
          <a:xfrm>
            <a:off x="2263200" y="4018786"/>
            <a:ext cx="5486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55566"/>
                </a:solidFill>
                <a:latin typeface="Calibri"/>
                <a:ea typeface="Calibri"/>
                <a:cs typeface="Calibri"/>
                <a:sym typeface="Calibri"/>
              </a:rPr>
              <a:t>  Phase-gated editing, file ownership, agent team dashboards</a:t>
            </a:r>
            <a:endParaRPr sz="1100"/>
          </a:p>
        </p:txBody>
      </p:sp>
      <p:sp>
        <p:nvSpPr>
          <p:cNvPr id="373" name="Google Shape;373;p45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21 / 24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6"/>
          <p:cNvSpPr txBox="1"/>
          <p:nvPr/>
        </p:nvSpPr>
        <p:spPr>
          <a:xfrm>
            <a:off x="548655" y="274320"/>
            <a:ext cx="7544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Example: Our Project's Hooks</a:t>
            </a:r>
            <a:endParaRPr sz="1100"/>
          </a:p>
        </p:txBody>
      </p:sp>
      <p:graphicFrame>
        <p:nvGraphicFramePr>
          <p:cNvPr id="379" name="Google Shape;379;p46"/>
          <p:cNvGraphicFramePr/>
          <p:nvPr/>
        </p:nvGraphicFramePr>
        <p:xfrm>
          <a:off x="274327" y="822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{B6BB2DE6-6D82-4A61-AB26-291F38240E5D}</a:tableStyleId>
              </a:tblPr>
              <a:tblGrid>
                <a:gridCol w="1508775"/>
                <a:gridCol w="1371625"/>
                <a:gridCol w="1234475"/>
                <a:gridCol w="445780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Hook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Matcher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pre-edit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PreToolUse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Edit|Write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gates -- blocks code edits during planning phase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post-bash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PostToolUse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Bash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Advisory warnings on destructive commands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on-stop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Persists lifecycle state, reminds of pending work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on-compact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PostCompact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Re-injects critical context after compression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on-subagent-start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SubagentStart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Injects project context into spawned subagents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0F0F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on-subagent-stop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SubagentStop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Logs token usage and duration metrics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0" name="Google Shape;380;p46"/>
          <p:cNvSpPr/>
          <p:nvPr/>
        </p:nvSpPr>
        <p:spPr>
          <a:xfrm>
            <a:off x="548655" y="3703320"/>
            <a:ext cx="7544001" cy="548640"/>
          </a:xfrm>
          <a:prstGeom prst="roundRect">
            <a:avLst>
              <a:gd fmla="val 16667" name="adj"/>
            </a:avLst>
          </a:prstGeom>
          <a:solidFill>
            <a:srgbClr val="0A1A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6"/>
          <p:cNvSpPr txBox="1"/>
          <p:nvPr/>
        </p:nvSpPr>
        <p:spPr>
          <a:xfrm>
            <a:off x="822982" y="3806190"/>
            <a:ext cx="69953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We started with three hooks. We're at six. You'll grow the same way.</a:t>
            </a:r>
            <a:endParaRPr sz="1100"/>
          </a:p>
        </p:txBody>
      </p:sp>
      <p:sp>
        <p:nvSpPr>
          <p:cNvPr id="382" name="Google Shape;382;p46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22 / 24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 txBox="1"/>
          <p:nvPr/>
        </p:nvSpPr>
        <p:spPr>
          <a:xfrm>
            <a:off x="548655" y="34290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To Do Tomorrow</a:t>
            </a:r>
            <a:endParaRPr sz="1100"/>
          </a:p>
        </p:txBody>
      </p:sp>
      <p:sp>
        <p:nvSpPr>
          <p:cNvPr id="388" name="Google Shape;388;p47"/>
          <p:cNvSpPr/>
          <p:nvPr/>
        </p:nvSpPr>
        <p:spPr>
          <a:xfrm>
            <a:off x="548655" y="960120"/>
            <a:ext cx="1371637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7"/>
          <p:cNvSpPr txBox="1"/>
          <p:nvPr/>
        </p:nvSpPr>
        <p:spPr>
          <a:xfrm>
            <a:off x="548655" y="1371600"/>
            <a:ext cx="6858183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 mkdir .claude/hooks/ in your project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 Write require-plan.sh  -- force planning before coding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 Write post-write-lint.sh  -- adapt to YOUR stack's linter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4.  Write verify-before-stop.sh  -- prevent premature 'done'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5.  Add .claude/settings.json  -- commit it, share with team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6.  Run a real task and watch the hooks fire</a:t>
            </a:r>
            <a:endParaRPr sz="1100"/>
          </a:p>
        </p:txBody>
      </p:sp>
      <p:sp>
        <p:nvSpPr>
          <p:cNvPr id="390" name="Google Shape;390;p47"/>
          <p:cNvSpPr/>
          <p:nvPr/>
        </p:nvSpPr>
        <p:spPr>
          <a:xfrm>
            <a:off x="548655" y="3771900"/>
            <a:ext cx="6858183" cy="685800"/>
          </a:xfrm>
          <a:prstGeom prst="roundRect">
            <a:avLst>
              <a:gd fmla="val 16667" name="adj"/>
            </a:avLst>
          </a:prstGeom>
          <a:solidFill>
            <a:srgbClr val="0A1A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7"/>
          <p:cNvSpPr txBox="1"/>
          <p:nvPr/>
        </p:nvSpPr>
        <p:spPr>
          <a:xfrm>
            <a:off x="822982" y="3874770"/>
            <a:ext cx="630952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Start with the plan-first hook alone if that feels like enough. Add the others as you see the value.</a:t>
            </a:r>
            <a:endParaRPr sz="1100"/>
          </a:p>
        </p:txBody>
      </p:sp>
      <p:sp>
        <p:nvSpPr>
          <p:cNvPr id="392" name="Google Shape;392;p47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23 / 24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"/>
          <p:cNvSpPr txBox="1"/>
          <p:nvPr/>
        </p:nvSpPr>
        <p:spPr>
          <a:xfrm>
            <a:off x="548655" y="548640"/>
            <a:ext cx="754400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Principles</a:t>
            </a:r>
            <a:endParaRPr sz="1100"/>
          </a:p>
        </p:txBody>
      </p:sp>
      <p:sp>
        <p:nvSpPr>
          <p:cNvPr id="398" name="Google Shape;398;p48"/>
          <p:cNvSpPr/>
          <p:nvPr/>
        </p:nvSpPr>
        <p:spPr>
          <a:xfrm>
            <a:off x="548655" y="1165860"/>
            <a:ext cx="1714546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8"/>
          <p:cNvSpPr txBox="1"/>
          <p:nvPr/>
        </p:nvSpPr>
        <p:spPr>
          <a:xfrm>
            <a:off x="548655" y="1508760"/>
            <a:ext cx="7544001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Prompts suggest. Hooks enforce. Close the 70-90% gap.</a:t>
            </a:r>
            <a:endParaRPr sz="11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Plan before you build. A PreToolUse hook makes this non-negotiable.</a:t>
            </a:r>
            <a:endParaRPr sz="11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Verify before you ship. A Stop hook prevents premature victory.</a:t>
            </a:r>
            <a:endParaRPr sz="11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Start with three hooks. Planning, quality, verification.</a:t>
            </a:r>
            <a:endParaRPr sz="11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Commit your hooks. Everyone on the team gets the same guardrails.</a:t>
            </a:r>
            <a:endParaRPr sz="11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Build the system that builds the system. Hooks are the first step.</a:t>
            </a:r>
            <a:endParaRPr sz="1100"/>
          </a:p>
        </p:txBody>
      </p:sp>
      <p:sp>
        <p:nvSpPr>
          <p:cNvPr id="400" name="Google Shape;400;p48"/>
          <p:cNvSpPr txBox="1"/>
          <p:nvPr/>
        </p:nvSpPr>
        <p:spPr>
          <a:xfrm>
            <a:off x="548655" y="432054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IndyDevDan  |  claude-code-hooks-multi-agent-observability  |  code.claude.com/docs/en/hooks</a:t>
            </a:r>
            <a:endParaRPr sz="1100"/>
          </a:p>
        </p:txBody>
      </p:sp>
      <p:sp>
        <p:nvSpPr>
          <p:cNvPr id="401" name="Google Shape;401;p48"/>
          <p:cNvSpPr txBox="1"/>
          <p:nvPr/>
        </p:nvSpPr>
        <p:spPr>
          <a:xfrm>
            <a:off x="7886910" y="480060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88899"/>
                </a:solidFill>
                <a:latin typeface="Calibri"/>
                <a:ea typeface="Calibri"/>
                <a:cs typeface="Calibri"/>
                <a:sym typeface="Calibri"/>
              </a:rPr>
              <a:t>24 / 24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