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36EF6"/>
                </a:solidFill>
                <a:latin typeface="Calibri"/>
              </a:defRPr>
            </a:pPr>
            <a:r>
              <a:t>SHIFT4  |  AI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How to Learn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D94FF"/>
                </a:solidFill>
                <a:latin typeface="Calibri"/>
              </a:defRPr>
            </a:pPr>
            <a:r>
              <a:t>A 7-Step, 30-Day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36576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5D0"/>
                </a:solidFill>
                <a:latin typeface="Calibri"/>
              </a:defRPr>
            </a:pPr>
            <a:r>
              <a:t>From complete beginner to the top 1% of AI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9E"/>
                </a:solidFill>
                <a:latin typeface="Calibri"/>
              </a:defRPr>
            </a:pPr>
            <a:r>
              <a:t>Internal Training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6EF6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Most People Struggle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Most people treat AI like a gadget — type a question, get an answer</a:t>
            </a:r>
          </a:p>
          <a:p>
            <a:pPr lvl="1">
              <a:spcAft>
                <a:spcPts val="12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This produces mediocre results and leads to disappointment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The reality: AI is a thinking partner, not a search engine</a:t>
            </a:r>
          </a:p>
          <a:p>
            <a:pPr lvl="1">
              <a:spcAft>
                <a:spcPts val="12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The gap between casual users and skilled users is enormous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Those who learn to collaborate with AI will outperform those who don't</a:t>
            </a:r>
          </a:p>
          <a:p>
            <a:pPr>
              <a:spcAft>
                <a:spcPts val="1200"/>
              </a:spcAft>
              <a:defRPr sz="1900">
                <a:solidFill>
                  <a:srgbClr val="FFFFFF"/>
                </a:solidFill>
                <a:latin typeface="Calibri"/>
              </a:defRPr>
            </a:pPr>
            <a:r>
              <a:t>You're not behind — yet. But the window is closing.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2377440"/>
            <a:ext cx="3474720" cy="2286000"/>
          </a:xfrm>
          <a:prstGeom prst="rect">
            <a:avLst/>
          </a:prstGeom>
          <a:solidFill>
            <a:srgbClr val="101728"/>
          </a:solidFill>
          <a:ln w="19050">
            <a:solidFill>
              <a:srgbClr val="136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265176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D94FF"/>
                </a:solidFill>
                <a:latin typeface="Calibri"/>
              </a:defRPr>
            </a:pPr>
            <a:r>
              <a:t>"AI is not here to replace</a:t>
            </a:r>
            <a:br/>
            <a:r>
              <a:t>human work. It's here to</a:t>
            </a:r>
            <a:br/>
            <a:r>
              <a:t>restore human worth."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6EF6"/>
                </a:solidFill>
                <a:latin typeface="Calibri"/>
              </a:defRPr>
            </a:pPr>
            <a:r>
              <a:t>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Your 30-Day AI Mastery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2560320" cy="3657600"/>
          </a:xfrm>
          <a:prstGeom prst="rect">
            <a:avLst/>
          </a:prstGeom>
          <a:solidFill>
            <a:srgbClr val="101728"/>
          </a:solidFill>
          <a:ln w="19050">
            <a:solidFill>
              <a:srgbClr val="136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2560320" cy="508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36EF6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Learn Machine English</a:t>
            </a:r>
            <a:br/>
            <a:r>
              <a:t>+ Pick Your Instrument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9E"/>
                </a:solidFill>
                <a:latin typeface="Calibri"/>
              </a:defRPr>
            </a:pPr>
            <a:r>
              <a:t>Steps 1-2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468880"/>
            <a:ext cx="2560320" cy="3657600"/>
          </a:xfrm>
          <a:prstGeom prst="rect">
            <a:avLst/>
          </a:prstGeom>
          <a:solidFill>
            <a:srgbClr val="101728"/>
          </a:solidFill>
          <a:ln w="19050">
            <a:solidFill>
              <a:srgbClr val="0E5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2468880"/>
            <a:ext cx="2560320" cy="5080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5BCC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7490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Build Contextual</a:t>
            </a:r>
            <a:br/>
            <a:r>
              <a:t>Intelligence with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9E"/>
                </a:solidFill>
                <a:latin typeface="Calibri"/>
              </a:defRPr>
            </a:pPr>
            <a:r>
              <a:t>Steps 3-4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68880"/>
            <a:ext cx="2560320" cy="3657600"/>
          </a:xfrm>
          <a:prstGeom prst="rect">
            <a:avLst/>
          </a:prstGeom>
          <a:solidFill>
            <a:srgbClr val="10172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468880"/>
            <a:ext cx="256032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490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Debug Your Thinking</a:t>
            </a:r>
            <a:br/>
            <a:r>
              <a:t>+ Verify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9E"/>
                </a:solidFill>
                <a:latin typeface="Calibri"/>
              </a:defRPr>
            </a:pPr>
            <a:r>
              <a:t>Steps 5-6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468880"/>
            <a:ext cx="2560320" cy="3657600"/>
          </a:xfrm>
          <a:prstGeom prst="rect">
            <a:avLst/>
          </a:prstGeom>
          <a:solidFill>
            <a:srgbClr val="101728"/>
          </a:solidFill>
          <a:ln w="19050">
            <a:solidFill>
              <a:srgbClr val="316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35440" y="2468880"/>
            <a:ext cx="2560320" cy="50800"/>
          </a:xfrm>
          <a:prstGeom prst="rect">
            <a:avLst/>
          </a:prstGeom>
          <a:solidFill>
            <a:srgbClr val="31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6B74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08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Mastery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74904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Develop Taste</a:t>
            </a:r>
            <a:br/>
            <a:r>
              <a:t>with OCEAN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69E"/>
                </a:solidFill>
                <a:latin typeface="Calibri"/>
              </a:defRPr>
            </a:pPr>
            <a:r>
              <a:t>Step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011680" cy="36576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1  | 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Learn Machine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C5D0"/>
                </a:solidFill>
                <a:latin typeface="Calibri"/>
              </a:defRPr>
            </a:pPr>
            <a:r>
              <a:t>Understanding how AI really thinks — and why it matters for your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AI doesn't understand language — it predicts it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Text is broken into tokens (words or word-parts)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Tokens become multi-dimensional vectors (numerical representations)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Similar concepts cluster together in embedding space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The model predicts the most likely next token based on context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Key insight: Vague prompts produce vague guesses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Sharp prompts produce sharp answers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This is why prompt quality directly determines output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011680" cy="36576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1  | 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AIM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5D0"/>
                </a:solidFill>
                <a:latin typeface="Calibri"/>
              </a:defRPr>
            </a:pPr>
            <a:r>
              <a:t>Structure every prompt for maximum clarity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3200400" cy="292608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3200400"/>
            <a:ext cx="640080" cy="6400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73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Define the AI's persona or role.</a:t>
            </a:r>
            <a:br/>
            <a:br/>
            <a:r>
              <a:t>Example: "You are the world's most sought-after resume editor with 20 years of experience."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926080"/>
            <a:ext cx="3200400" cy="292608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3200400"/>
            <a:ext cx="640080" cy="6400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273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Provide context, data, and</a:t>
            </a:r>
            <a:br/>
            <a:r>
              <a:t>relevant background.</a:t>
            </a:r>
            <a:br/>
            <a:br/>
            <a:r>
              <a:t>Attach your resume, the job</a:t>
            </a:r>
            <a:br/>
            <a:r>
              <a:t>description, and any constraints.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926080"/>
            <a:ext cx="3200400" cy="292608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3200400"/>
            <a:ext cx="640080" cy="6400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273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Mission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State the specific task and</a:t>
            </a:r>
            <a:br/>
            <a:r>
              <a:t>desired output format.</a:t>
            </a:r>
            <a:br/>
            <a:br/>
            <a:r>
              <a:t>"Give me 10 specific improvements</a:t>
            </a:r>
            <a:br/>
            <a:r>
              <a:t>with before/after examples."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011680" cy="36576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1  | 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Pick Your Instrument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C5D0"/>
                </a:solidFill>
                <a:latin typeface="Calibri"/>
              </a:defRPr>
            </a:pPr>
            <a:r>
              <a:t>Deep focus on one tool beats surface-level exploration of many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Learning AI is like learning a musical instrument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Beginners make the mistake of jumping between tools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Instead: commit to ONE tool and build depth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Recommended starting points: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ChatGPT — Most mature ecosystem, widest adoption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Gemini — Best for teams in the Google ecosystem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Claude — Strongest for business writing and analysis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Learn its personality, strengths, and quirks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Once fluent in one, skills transfer to all others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011680" cy="36576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2  |  STEPS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MAP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5D0"/>
                </a:solidFill>
                <a:latin typeface="Calibri"/>
              </a:defRPr>
            </a:pPr>
            <a:r>
              <a:t>Context is everything — what the model sees determines what it produces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3200400" cy="292608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3200400"/>
            <a:ext cx="640080" cy="6400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273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Conversation history and past</a:t>
            </a:r>
            <a:br/>
            <a:r>
              <a:t>chat sessions. The model uses</a:t>
            </a:r>
            <a:br/>
            <a:r>
              <a:t>prior messages as context to</a:t>
            </a:r>
            <a:br/>
            <a:r>
              <a:t>maintain coherence.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926080"/>
            <a:ext cx="3200400" cy="292608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66160" y="3200400"/>
            <a:ext cx="640080" cy="6400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73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Assets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Files, data, and resources</a:t>
            </a:r>
            <a:br/>
            <a:r>
              <a:t>attached to your prompts.</a:t>
            </a:r>
            <a:br/>
            <a:r>
              <a:t>These ground the model in</a:t>
            </a:r>
            <a:br/>
            <a:r>
              <a:t>real-world specifics.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3200400" cy="292608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3200400"/>
            <a:ext cx="640080" cy="6400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273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Tools the model can call —</a:t>
            </a:r>
            <a:br/>
            <a:r>
              <a:t>web search, file access, code</a:t>
            </a:r>
            <a:br/>
            <a:r>
              <a:t>execution. Extends what the</a:t>
            </a:r>
            <a:br/>
            <a:r>
              <a:t>model can actually 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1160" y="2926080"/>
            <a:ext cx="3200400" cy="292608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509760" y="3200400"/>
            <a:ext cx="640080" cy="6400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2735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1148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C5D0"/>
                </a:solidFill>
                <a:latin typeface="Calibri"/>
              </a:defRPr>
            </a:pPr>
            <a:r>
              <a:t>The instruction itself. This is</a:t>
            </a:r>
            <a:br/>
            <a:r>
              <a:t>where AIM lives. The sharpest</a:t>
            </a:r>
            <a:br/>
            <a:r>
              <a:t>prompts leverage all four</a:t>
            </a:r>
            <a:br/>
            <a:r>
              <a:t>MAP dimensions.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011680" cy="36576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3  | 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Debug Your Thinking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C5D0"/>
                </a:solidFill>
                <a:latin typeface="Calibri"/>
              </a:defRPr>
            </a:pPr>
            <a:r>
              <a:t>When outputs disappoint, the problem is usually your thinking — not the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3383280" cy="2743200"/>
          </a:xfrm>
          <a:prstGeom prst="rect">
            <a:avLst/>
          </a:prstGeom>
          <a:solidFill>
            <a:srgbClr val="101728"/>
          </a:solidFill>
          <a:ln w="19050">
            <a:solidFill>
              <a:srgbClr val="136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931920"/>
            <a:ext cx="3383280" cy="508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36EF6"/>
                </a:solidFill>
                <a:latin typeface="Calibri"/>
              </a:defRPr>
            </a:pPr>
            <a:r>
              <a:t>Chain of 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5D0"/>
                </a:solidFill>
                <a:latin typeface="Calibri"/>
              </a:defRPr>
            </a:pPr>
            <a:r>
              <a:t>Ask the AI to explain its</a:t>
            </a:r>
            <a:br/>
            <a:r>
              <a:t>reasoning step-by-step.</a:t>
            </a:r>
            <a:br/>
            <a:br/>
            <a:r>
              <a:t>"Walk me through your logic</a:t>
            </a:r>
            <a:br/>
            <a:r>
              <a:t>before giving the final answer."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931920"/>
            <a:ext cx="3383280" cy="2743200"/>
          </a:xfrm>
          <a:prstGeom prst="rect">
            <a:avLst/>
          </a:prstGeom>
          <a:solidFill>
            <a:srgbClr val="10172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3931920"/>
            <a:ext cx="33832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Calibri"/>
              </a:defRPr>
            </a:pPr>
            <a:r>
              <a:t>Verifier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663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5D0"/>
                </a:solidFill>
                <a:latin typeface="Calibri"/>
              </a:defRPr>
            </a:pPr>
            <a:r>
              <a:t>Ask the AI to clarify YOUR</a:t>
            </a:r>
            <a:br/>
            <a:r>
              <a:t>intent before answering.</a:t>
            </a:r>
            <a:br/>
            <a:br/>
            <a:r>
              <a:t>"Before answering, ask me</a:t>
            </a:r>
            <a:br/>
            <a:r>
              <a:t>5 questions to understand</a:t>
            </a:r>
            <a:br/>
            <a:r>
              <a:t>what I really need."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931920"/>
            <a:ext cx="3383280" cy="2743200"/>
          </a:xfrm>
          <a:prstGeom prst="rect">
            <a:avLst/>
          </a:prstGeom>
          <a:solidFill>
            <a:srgbClr val="101728"/>
          </a:solidFill>
          <a:ln w="19050">
            <a:solidFill>
              <a:srgbClr val="316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931920"/>
            <a:ext cx="3383280" cy="50800"/>
          </a:xfrm>
          <a:prstGeom prst="rect">
            <a:avLst/>
          </a:prstGeom>
          <a:solidFill>
            <a:srgbClr val="31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16B74"/>
                </a:solidFill>
                <a:latin typeface="Calibri"/>
              </a:defRPr>
            </a:pPr>
            <a:r>
              <a:t>Refinement Pattern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6634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5D0"/>
                </a:solidFill>
                <a:latin typeface="Calibri"/>
              </a:defRPr>
            </a:pPr>
            <a:r>
              <a:t>Have the AI sharpen your</a:t>
            </a:r>
            <a:br/>
            <a:r>
              <a:t>question before responding.</a:t>
            </a:r>
            <a:br/>
            <a:br/>
            <a:r>
              <a:t>"Propose 3 sharper versions</a:t>
            </a:r>
            <a:br/>
            <a:r>
              <a:t>of my question, then answer</a:t>
            </a:r>
            <a:br/>
            <a:r>
              <a:t>the best one."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2011680" cy="36576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3  | 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Steer to Experts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C5D0"/>
                </a:solidFill>
                <a:latin typeface="Calibri"/>
              </a:defRPr>
            </a:pPr>
            <a:r>
              <a:t>Direct the model toward specific frameworks and domain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Generic prompts produce generic answers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Instead of: "How do I improve my marketing?"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Try: "Using the StoryBrand framework by Donald Miller, analyze my homepage copy"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Name specific frameworks, researchers, and methodologies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This anchors the model to established, high-quality knowledge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The more specific your references, the more expert the response</a:t>
            </a:r>
          </a:p>
          <a:p>
            <a:pPr lvl="1">
              <a:spcAft>
                <a:spcPts val="8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You are curating the AI's knowledge — direct it to the best 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011680" cy="36576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3  | 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Verify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5D0"/>
                </a:solidFill>
                <a:latin typeface="Calibri"/>
              </a:defRPr>
            </a:pPr>
            <a:r>
              <a:t>AI can produce confident but incorrect statements — trust but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3383280" cy="173736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3017520"/>
            <a:ext cx="411480" cy="4114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29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Ask the model to list its</a:t>
            </a:r>
            <a:br/>
            <a:r>
              <a:t>assumptions and rank</a:t>
            </a:r>
            <a:br/>
            <a:r>
              <a:t>them by confidence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834640"/>
            <a:ext cx="3383280" cy="173736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411480" cy="4114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29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Demand independent</a:t>
            </a:r>
            <a:br/>
            <a:r>
              <a:t>citations with title,</a:t>
            </a:r>
            <a:br/>
            <a:r>
              <a:t>URL, and quotes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834640"/>
            <a:ext cx="3383280" cy="173736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83880" y="3017520"/>
            <a:ext cx="411480" cy="4114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Counter-Evidence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4290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Ask for credible</a:t>
            </a:r>
            <a:br/>
            <a:r>
              <a:t>disagreement with</a:t>
            </a:r>
            <a:br/>
            <a:r>
              <a:t>its own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46320"/>
            <a:ext cx="3383280" cy="173736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5029200"/>
            <a:ext cx="411480" cy="4114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Auditing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40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Request detailed math</a:t>
            </a:r>
            <a:br/>
            <a:r>
              <a:t>and calculations —</a:t>
            </a:r>
            <a:br/>
            <a:r>
              <a:t>check the 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846320"/>
            <a:ext cx="3383280" cy="173736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26280" y="5029200"/>
            <a:ext cx="411480" cy="4114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Cross-Model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440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Run the same prompt</a:t>
            </a:r>
            <a:br/>
            <a:r>
              <a:t>across multiple AI</a:t>
            </a:r>
            <a:br/>
            <a:r>
              <a:t>systems and compare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846320"/>
            <a:ext cx="3383280" cy="173736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83880" y="5029200"/>
            <a:ext cx="411480" cy="41148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Critique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4406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Have one model verify</a:t>
            </a:r>
            <a:br/>
            <a:r>
              <a:t>another model's</a:t>
            </a:r>
            <a:br/>
            <a:r>
              <a:t>claims directly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2011680" cy="36576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4  | 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OCEAN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5D0"/>
                </a:solidFill>
                <a:latin typeface="Calibri"/>
              </a:defRPr>
            </a:pPr>
            <a:r>
              <a:t>Develop taste — transform generic AI output into insights that sound like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2148840" cy="3474720"/>
          </a:xfrm>
          <a:prstGeom prst="rect">
            <a:avLst/>
          </a:prstGeom>
          <a:solidFill>
            <a:srgbClr val="101728"/>
          </a:solidFill>
          <a:ln w="19050">
            <a:solidFill>
              <a:srgbClr val="136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834640"/>
            <a:ext cx="2148840" cy="508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3154680"/>
            <a:ext cx="594360" cy="594360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5D0"/>
                </a:solidFill>
                <a:latin typeface="Calibri"/>
              </a:defRPr>
            </a:pPr>
            <a:r>
              <a:t>Identify non-obvious ideas. Ask for</a:t>
            </a:r>
            <a:br/>
            <a:r>
              <a:t>fresh angles no one is talking about.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2834640"/>
            <a:ext cx="2148840" cy="3474720"/>
          </a:xfrm>
          <a:prstGeom prst="rect">
            <a:avLst/>
          </a:prstGeom>
          <a:solidFill>
            <a:srgbClr val="101728"/>
          </a:solidFill>
          <a:ln w="19050">
            <a:solidFill>
              <a:srgbClr val="0E5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2834640"/>
            <a:ext cx="2148840" cy="50800"/>
          </a:xfrm>
          <a:prstGeom prst="rect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83279" y="3154680"/>
            <a:ext cx="594360" cy="594360"/>
          </a:xfrm>
          <a:prstGeom prst="ellipse">
            <a:avLst/>
          </a:prstGeom>
          <a:solidFill>
            <a:srgbClr val="0E5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Concrete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44348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5D0"/>
                </a:solidFill>
                <a:latin typeface="Calibri"/>
              </a:defRPr>
            </a:pPr>
            <a:r>
              <a:t>Demand names, examples, and</a:t>
            </a:r>
            <a:br/>
            <a:r>
              <a:t>numbers. No hand-waving.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834640"/>
            <a:ext cx="2148840" cy="3474720"/>
          </a:xfrm>
          <a:prstGeom prst="rect">
            <a:avLst/>
          </a:prstGeom>
          <a:solidFill>
            <a:srgbClr val="101728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834640"/>
            <a:ext cx="21488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0" y="315468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Evident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44348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5D0"/>
                </a:solidFill>
                <a:latin typeface="Calibri"/>
              </a:defRPr>
            </a:pPr>
            <a:r>
              <a:t>Require visible reasoning and</a:t>
            </a:r>
            <a:br/>
            <a:r>
              <a:t>evidence. Show the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19" y="2834640"/>
            <a:ext cx="2148840" cy="3474720"/>
          </a:xfrm>
          <a:prstGeom prst="rect">
            <a:avLst/>
          </a:prstGeom>
          <a:solidFill>
            <a:srgbClr val="101728"/>
          </a:solidFill>
          <a:ln w="19050">
            <a:solidFill>
              <a:srgbClr val="316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919" y="2834640"/>
            <a:ext cx="2148840" cy="50800"/>
          </a:xfrm>
          <a:prstGeom prst="rect">
            <a:avLst/>
          </a:prstGeom>
          <a:solidFill>
            <a:srgbClr val="31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19" y="3154680"/>
            <a:ext cx="594360" cy="594360"/>
          </a:xfrm>
          <a:prstGeom prst="ellipse">
            <a:avLst/>
          </a:prstGeom>
          <a:solidFill>
            <a:srgbClr val="31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Assertive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4348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5D0"/>
                </a:solidFill>
                <a:latin typeface="Calibri"/>
              </a:defRPr>
            </a:pPr>
            <a:r>
              <a:t>Push for clear stances. Defend the</a:t>
            </a:r>
            <a:br/>
            <a:r>
              <a:t>thesis while addressing objections.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834640"/>
            <a:ext cx="2148840" cy="3474720"/>
          </a:xfrm>
          <a:prstGeom prst="rect">
            <a:avLst/>
          </a:prstGeom>
          <a:solidFill>
            <a:srgbClr val="101728"/>
          </a:solidFill>
          <a:ln w="19050">
            <a:solidFill>
              <a:srgbClr val="DC8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2834640"/>
            <a:ext cx="2148840" cy="50800"/>
          </a:xfrm>
          <a:prstGeom prst="rect">
            <a:avLst/>
          </a:prstGeom>
          <a:solidFill>
            <a:srgbClr val="DC8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78440" y="3154680"/>
            <a:ext cx="594360" cy="594360"/>
          </a:xfrm>
          <a:prstGeom prst="ellipse">
            <a:avLst/>
          </a:prstGeom>
          <a:solidFill>
            <a:srgbClr val="DC8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3931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Narrative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4348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C5D0"/>
                </a:solidFill>
                <a:latin typeface="Calibri"/>
              </a:defRPr>
            </a:pPr>
            <a:r>
              <a:t>Request storytelling structure:</a:t>
            </a:r>
            <a:br/>
            <a:r>
              <a:t>hook, problem, insight, proof, 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6EF6"/>
                </a:solidFill>
                <a:latin typeface="Calibri"/>
              </a:defRPr>
            </a:pPr>
            <a:r>
              <a:t>PUTTING IT ALL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Complete Prompt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36E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2395728"/>
            <a:ext cx="109728" cy="109728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4188" y="2505456"/>
            <a:ext cx="25400" cy="484632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Frame with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9E"/>
                </a:solidFill>
                <a:latin typeface="Calibri"/>
              </a:defRPr>
            </a:pPr>
            <a:r>
              <a:t>Set Actor, Input,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36E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2990088"/>
            <a:ext cx="109728" cy="109728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04188" y="3099816"/>
            <a:ext cx="25400" cy="484632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880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Load MAP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9E"/>
                </a:solidFill>
                <a:latin typeface="Calibri"/>
              </a:defRPr>
            </a:pPr>
            <a:r>
              <a:t>Memory, Assets, Actions,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36EF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Oval 16"/>
          <p:cNvSpPr/>
          <p:nvPr/>
        </p:nvSpPr>
        <p:spPr>
          <a:xfrm>
            <a:off x="1463040" y="3584448"/>
            <a:ext cx="109728" cy="109728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04188" y="3694176"/>
            <a:ext cx="25400" cy="484632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Send &amp; 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9E"/>
                </a:solidFill>
                <a:latin typeface="Calibri"/>
              </a:defRPr>
            </a:pPr>
            <a:r>
              <a:t>Review the initial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69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36EF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Oval 21"/>
          <p:cNvSpPr/>
          <p:nvPr/>
        </p:nvSpPr>
        <p:spPr>
          <a:xfrm>
            <a:off x="1463040" y="4178808"/>
            <a:ext cx="109728" cy="109728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04188" y="4288536"/>
            <a:ext cx="25400" cy="484632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069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Debug with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9E"/>
                </a:solidFill>
                <a:latin typeface="Calibri"/>
              </a:defRPr>
            </a:pPr>
            <a:r>
              <a:t>Chain of Thought / Verifier / Refine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36EF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Oval 26"/>
          <p:cNvSpPr/>
          <p:nvPr/>
        </p:nvSpPr>
        <p:spPr>
          <a:xfrm>
            <a:off x="1463040" y="4773168"/>
            <a:ext cx="109728" cy="109728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04188" y="4882896"/>
            <a:ext cx="25400" cy="484632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Steer to Experts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9E"/>
                </a:solidFill>
                <a:latin typeface="Calibri"/>
              </a:defRPr>
            </a:pPr>
            <a:r>
              <a:t>Reference specific frameworks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36E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2" name="Oval 31"/>
          <p:cNvSpPr/>
          <p:nvPr/>
        </p:nvSpPr>
        <p:spPr>
          <a:xfrm>
            <a:off x="1463040" y="5367528"/>
            <a:ext cx="109728" cy="109728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04188" y="5477256"/>
            <a:ext cx="25400" cy="484632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Verify Claims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9E"/>
                </a:solidFill>
                <a:latin typeface="Calibri"/>
              </a:defRPr>
            </a:pPr>
            <a:r>
              <a:t>Use the 6 verification methods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52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136EF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7" name="Oval 36"/>
          <p:cNvSpPr/>
          <p:nvPr/>
        </p:nvSpPr>
        <p:spPr>
          <a:xfrm>
            <a:off x="1463040" y="5961888"/>
            <a:ext cx="109728" cy="109728"/>
          </a:xfrm>
          <a:prstGeom prst="ellipse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Apply OCEAN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69E"/>
                </a:solidFill>
                <a:latin typeface="Calibri"/>
              </a:defRPr>
            </a:pPr>
            <a:r>
              <a:t>Shape output to your voice &amp; taste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2286000"/>
            <a:ext cx="4754880" cy="4114800"/>
          </a:xfrm>
          <a:prstGeom prst="rect">
            <a:avLst/>
          </a:prstGeom>
          <a:solidFill>
            <a:srgbClr val="101728"/>
          </a:solidFill>
          <a:ln w="19050">
            <a:solidFill>
              <a:srgbClr val="136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2560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D94FF"/>
                </a:solidFill>
                <a:latin typeface="Calibri"/>
              </a:defRPr>
            </a:pPr>
            <a:r>
              <a:t>Every Interaction Trains You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10896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C5D0"/>
                </a:solidFill>
                <a:latin typeface="Calibri"/>
              </a:defRPr>
            </a:pPr>
            <a:r>
              <a:t>Each prompt-response cycle sharpens your thinking</a:t>
            </a:r>
          </a:p>
          <a:p>
            <a:pPr>
              <a:spcAft>
                <a:spcPts val="600"/>
              </a:spcAft>
              <a:defRPr sz="1400">
                <a:solidFill>
                  <a:srgbClr val="BBC5D0"/>
                </a:solidFill>
                <a:latin typeface="Calibri"/>
              </a:defRPr>
            </a:pPr>
            <a:r>
              <a:t>The process trains both you AND the model</a:t>
            </a:r>
          </a:p>
          <a:p>
            <a:pPr>
              <a:spcAft>
                <a:spcPts val="600"/>
              </a:spcAft>
              <a:defRPr sz="1400">
                <a:solidFill>
                  <a:srgbClr val="BBC5D0"/>
                </a:solidFill>
                <a:latin typeface="Calibri"/>
              </a:defRPr>
            </a:pPr>
            <a:r>
              <a:t>Iteration is the core skill — not memorization</a:t>
            </a:r>
          </a:p>
          <a:p>
            <a:pPr>
              <a:spcAft>
                <a:spcPts val="600"/>
              </a:spcAft>
              <a:defRPr sz="1400">
                <a:solidFill>
                  <a:srgbClr val="BBC5D0"/>
                </a:solidFill>
                <a:latin typeface="Calibri"/>
              </a:defRPr>
            </a:pPr>
            <a:r>
              <a:t>Start with AIM for structure</a:t>
            </a:r>
          </a:p>
          <a:p>
            <a:pPr>
              <a:spcAft>
                <a:spcPts val="600"/>
              </a:spcAft>
              <a:defRPr sz="1400">
                <a:solidFill>
                  <a:srgbClr val="BBC5D0"/>
                </a:solidFill>
                <a:latin typeface="Calibri"/>
              </a:defRPr>
            </a:pPr>
            <a:r>
              <a:t>Graduate to MAP for context</a:t>
            </a:r>
          </a:p>
          <a:p>
            <a:pPr>
              <a:spcAft>
                <a:spcPts val="600"/>
              </a:spcAft>
              <a:defRPr sz="1400">
                <a:solidFill>
                  <a:srgbClr val="BBC5D0"/>
                </a:solidFill>
                <a:latin typeface="Calibri"/>
              </a:defRPr>
            </a:pPr>
            <a:r>
              <a:t>Use debug patterns when stuck</a:t>
            </a:r>
          </a:p>
          <a:p>
            <a:pPr>
              <a:spcAft>
                <a:spcPts val="600"/>
              </a:spcAft>
              <a:defRPr sz="1400">
                <a:solidFill>
                  <a:srgbClr val="BBC5D0"/>
                </a:solidFill>
                <a:latin typeface="Calibri"/>
              </a:defRPr>
            </a:pPr>
            <a:r>
              <a:t>Always verify before acting on output</a:t>
            </a:r>
          </a:p>
          <a:p>
            <a:pPr>
              <a:spcAft>
                <a:spcPts val="600"/>
              </a:spcAft>
              <a:defRPr sz="1400">
                <a:solidFill>
                  <a:srgbClr val="BBC5D0"/>
                </a:solidFill>
                <a:latin typeface="Calibri"/>
              </a:defRPr>
            </a:pPr>
            <a:r>
              <a:t>Apply OCEAN to make it yours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6EF6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to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303520" cy="123444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94FF"/>
                </a:solidFill>
                <a:latin typeface="Calibri"/>
              </a:defRPr>
            </a:pPr>
            <a:r>
              <a:t>AI is a thinking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Treat it as a collaborator, not a vending machine. The quality of your conversation determines the quality of the output.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303520" cy="123444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94FF"/>
                </a:solidFill>
                <a:latin typeface="Calibri"/>
              </a:defRPr>
            </a:pPr>
            <a:r>
              <a:t>Sharp prompts, sharp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432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Vague input produces vague output. Use AIM to structure every interaction with clarity and intention.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5303520" cy="123444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94FF"/>
                </a:solidFill>
                <a:latin typeface="Calibri"/>
              </a:defRPr>
            </a:pPr>
            <a:r>
              <a:t>Context is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3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MAP (Memory, Assets, Actions, Prompt) determines what the model can see and do. More context = better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749039"/>
            <a:ext cx="5303520" cy="123444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94FF"/>
                </a:solidFill>
                <a:latin typeface="Calibri"/>
              </a:defRPr>
            </a:pPr>
            <a:r>
              <a:t>Debug yourself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3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When outputs disappoint, improve your prompt before blaming the tool. Use Chain of Thought, Verifier, and Refinement patterns.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12080"/>
            <a:ext cx="5303520" cy="123444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94FF"/>
                </a:solidFill>
                <a:latin typeface="Calibri"/>
              </a:defRPr>
            </a:pPr>
            <a:r>
              <a:t>Always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AI generates confident text, not guaranteed truth. Apply the 6 verification methods before acting on any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212080"/>
            <a:ext cx="5303520" cy="1234440"/>
          </a:xfrm>
          <a:prstGeom prst="rect">
            <a:avLst/>
          </a:prstGeom>
          <a:solidFill>
            <a:srgbClr val="1017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303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94FF"/>
                </a:solidFill>
                <a:latin typeface="Calibri"/>
              </a:defRPr>
            </a:pPr>
            <a:r>
              <a:t>Develop your taste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669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0"/>
                </a:solidFill>
                <a:latin typeface="Calibri"/>
              </a:defRPr>
            </a:pPr>
            <a:r>
              <a:t>Use OCEAN to move beyond generic AI output. Your voice, your standards, your insights — amplified by 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36EF6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Start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2743200" cy="38100"/>
          </a:xfrm>
          <a:prstGeom prst="rect">
            <a:avLst/>
          </a:prstGeom>
          <a:solidFill>
            <a:srgbClr val="136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BBC5D0"/>
                </a:solidFill>
                <a:latin typeface="Calibri"/>
              </a:defRPr>
            </a:pPr>
            <a:r>
              <a:t>Pick one AI tool and commit to using it daily for 30 days</a:t>
            </a:r>
          </a:p>
          <a:p>
            <a:pPr>
              <a:spcAft>
                <a:spcPts val="1600"/>
              </a:spcAft>
              <a:defRPr sz="2000">
                <a:solidFill>
                  <a:srgbClr val="BBC5D0"/>
                </a:solidFill>
                <a:latin typeface="Calibri"/>
              </a:defRPr>
            </a:pPr>
            <a:r>
              <a:t>Use the AIM framework on your very next prompt</a:t>
            </a:r>
          </a:p>
          <a:p>
            <a:pPr>
              <a:spcAft>
                <a:spcPts val="1600"/>
              </a:spcAft>
              <a:defRPr sz="2000">
                <a:solidFill>
                  <a:srgbClr val="BBC5D0"/>
                </a:solidFill>
                <a:latin typeface="Calibri"/>
              </a:defRPr>
            </a:pPr>
            <a:r>
              <a:t>When you get a bad answer, debug your thinking — not the AI</a:t>
            </a:r>
          </a:p>
          <a:p>
            <a:pPr>
              <a:spcAft>
                <a:spcPts val="1600"/>
              </a:spcAft>
              <a:defRPr sz="2000">
                <a:solidFill>
                  <a:srgbClr val="BBC5D0"/>
                </a:solidFill>
                <a:latin typeface="Calibri"/>
              </a:defRPr>
            </a:pPr>
            <a:r>
              <a:t>Verify any output before sharing it or acting on it</a:t>
            </a:r>
          </a:p>
          <a:p>
            <a:pPr>
              <a:spcAft>
                <a:spcPts val="1600"/>
              </a:spcAft>
              <a:defRPr sz="2000">
                <a:solidFill>
                  <a:srgbClr val="BBC5D0"/>
                </a:solidFill>
                <a:latin typeface="Calibri"/>
              </a:defRPr>
            </a:pPr>
            <a:r>
              <a:t>Apply OCEAN to one deliverable 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69E"/>
                </a:solidFill>
                <a:latin typeface="Calibri"/>
              </a:defRPr>
            </a:pPr>
            <a:r>
              <a:t>SHIFT4  |  AI ENABLEMENT  |  INTERNAL TRAINING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