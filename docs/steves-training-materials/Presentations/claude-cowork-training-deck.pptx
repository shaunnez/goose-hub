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2A856C-F6B5-4FC3-9548-35E962C256CF}">
  <a:tblStyle styleId="{DD2A856C-F6B5-4FC3-9548-35E962C256C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Cowork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731520" y="2834640"/>
            <a:ext cx="22860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Complete Beginner's Guide to Autonomous AI Task Execution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5029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Training Deck  |  Getting Started with AI That Works For You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 / 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AI Overwhelm Problem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31520" y="1828800"/>
            <a:ext cx="9144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 tools are releasing faster than anyone can keep up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Most people use Claude as a simple chatbot replacement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They're missing the biggest capability leap: autonomous task execution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Cowork bridges the gap between 'AI that talks' and 'AI that works'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31520" y="4572000"/>
            <a:ext cx="7315200" cy="109728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97280" y="475488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If you're only chatting with Claude, you're using 10% of its power.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 / 23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is Claude Cowork?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Cowork gives the AI "hands" to work inside your computer.</a:t>
            </a:r>
            <a:endParaRPr/>
          </a:p>
        </p:txBody>
      </p:sp>
      <p:graphicFrame>
        <p:nvGraphicFramePr>
          <p:cNvPr id="106" name="Google Shape;106;p15"/>
          <p:cNvGraphicFramePr/>
          <p:nvPr/>
        </p:nvGraphicFramePr>
        <p:xfrm>
          <a:off x="731520" y="2560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{DD2A856C-F6B5-4FC3-9548-35E962C256CF}</a:tableStyleId>
              </a:tblPr>
              <a:tblGrid>
                <a:gridCol w="4572000"/>
                <a:gridCol w="45720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 Claude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Cowork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brain -- answers questions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hands -- executes tasks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 type, it responds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 assign, it delivers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Chat-based interaction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Autonomous task completion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 to conversation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 with your actual files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" name="Google Shape;107;p15"/>
          <p:cNvSpPr txBox="1"/>
          <p:nvPr/>
        </p:nvSpPr>
        <p:spPr>
          <a:xfrm>
            <a:off x="731520" y="53035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Tell Cowork what you want, step away, come back to finished work.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3 / 23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Capabilities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731520" y="2011680"/>
            <a:ext cx="9144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files directly on your computer (with permission)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Sub-agent coordination -- breaks complex work into parallel tasks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Produce professional outputs -- Excel, documents, formulas, presentations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 on long-running tasks -- complex multi-step workflows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 the web -- research, data collection, and analysis via Chrome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4 / 23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Prerequisites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731520" y="2011680"/>
            <a:ext cx="9144000" cy="91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 Desktop app -- download from claude.ai/downloads (Mac or Windows)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Google Chrome -- for web browsing capabilities (optional)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5 / 23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Cowork Interface</a:t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Three modes available at the top of Claude Desktop:</a:t>
            </a:r>
            <a:endParaRPr/>
          </a:p>
        </p:txBody>
      </p:sp>
      <p:graphicFrame>
        <p:nvGraphicFramePr>
          <p:cNvPr id="132" name="Google Shape;132;p18"/>
          <p:cNvGraphicFramePr/>
          <p:nvPr/>
        </p:nvGraphicFramePr>
        <p:xfrm>
          <a:off x="731520" y="2377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{DD2A856C-F6B5-4FC3-9548-35E962C256CF}</a:tableStyleId>
              </a:tblPr>
              <a:tblGrid>
                <a:gridCol w="2286000"/>
                <a:gridCol w="68580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 Claude conversation (same as web)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Cowork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Autonomous task execution (today's focus)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Developer-focused coding environment (advanced)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7 / 23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Golden Rule: Folder Access &amp; Security</a:t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Cowork can ONLY touch folders you explicitly allow.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731520" y="2377440"/>
            <a:ext cx="5029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Create a dedicated folder (e.g., ~/Cowork/) for tasks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 specific -- give access only to the relevant folder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Cowork asks permission before accessing any folder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 confirm each time -- it cannot bypass this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 the narrowest folder scope possible for each task</a:t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6400800" y="23774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Security Model:</a:t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6400800" y="292608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Your Computer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Documents/          (locked)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Desktop/              (locked)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Cowork/               (unlocked)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   Project A/       (accessible)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   Project B/       (accessible)</a:t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8 / 23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Choose your model in the right-hand panel before running a task:</a:t>
            </a:r>
            <a:endParaRPr/>
          </a:p>
        </p:txBody>
      </p:sp>
      <p:graphicFrame>
        <p:nvGraphicFramePr>
          <p:cNvPr id="152" name="Google Shape;152;p20"/>
          <p:cNvGraphicFramePr/>
          <p:nvPr/>
        </p:nvGraphicFramePr>
        <p:xfrm>
          <a:off x="731520" y="2560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{DD2A856C-F6B5-4FC3-9548-35E962C256CF}</a:tableStyleId>
              </a:tblPr>
              <a:tblGrid>
                <a:gridCol w="2286000"/>
                <a:gridCol w="5029200"/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 Usage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Sonnet 4.5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Everyday tasks, file organization, basic documents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Opus 4.6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Complex reasoning, multi-step analysis, high-quality output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20"/>
          <p:cNvSpPr txBox="1"/>
          <p:nvPr/>
        </p:nvSpPr>
        <p:spPr>
          <a:xfrm>
            <a:off x="731520" y="41148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Toggle Extended Thinking on/off for deeper reasoning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Heavier tasks consume more of your usage allowance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Allowance resets every few hours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with Sonnet 4.5 for most tasks -- use Opus for complex work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9 / 23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Your First Task: File Organization</a:t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Scenario: Organize a messy screenshots folder</a:t>
            </a:r>
            <a:endParaRPr/>
          </a:p>
        </p:txBody>
      </p:sp>
      <p:sp>
        <p:nvSpPr>
          <p:cNvPr id="162" name="Google Shape;162;p21"/>
          <p:cNvSpPr/>
          <p:nvPr/>
        </p:nvSpPr>
        <p:spPr>
          <a:xfrm>
            <a:off x="731520" y="2286000"/>
            <a:ext cx="10058400" cy="109728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914400" y="23317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Prompt:</a:t>
            </a:r>
            <a:endParaRPr/>
          </a:p>
        </p:txBody>
      </p:sp>
      <p:sp>
        <p:nvSpPr>
          <p:cNvPr id="164" name="Google Shape;164;p21"/>
          <p:cNvSpPr txBox="1"/>
          <p:nvPr/>
        </p:nvSpPr>
        <p:spPr>
          <a:xfrm>
            <a:off x="914400" y="2651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 through my screenshots, rename them so it's obvious what they are, and place them in a folder structure that makes them easier to find.</a:t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731520" y="384048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Cowork scans and catalogs all files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Analyzes content of each screenshot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Creates a logical folder structure (Sports/, Travel/, Work/)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Renames files with descriptive names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Moves everything into the right folders</a:t>
            </a:r>
            <a:endParaRPr/>
          </a:p>
        </p:txBody>
      </p:sp>
      <p:sp>
        <p:nvSpPr>
          <p:cNvPr id="166" name="Google Shape;166;p21"/>
          <p:cNvSpPr/>
          <p:nvPr/>
        </p:nvSpPr>
        <p:spPr>
          <a:xfrm>
            <a:off x="6400800" y="384048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6675120" y="40233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6675120" y="448056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Completed in under 4 minutes.</a:t>
            </a:r>
            <a:b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Hundreds of files organized, renamed, and sorted.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10 / 23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&amp; After: File Organization</a:t>
            </a: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731520" y="18288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5555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/>
          </a:p>
        </p:txBody>
      </p:sp>
      <p:sp>
        <p:nvSpPr>
          <p:cNvPr id="177" name="Google Shape;177;p22"/>
          <p:cNvSpPr txBox="1"/>
          <p:nvPr/>
        </p:nvSpPr>
        <p:spPr>
          <a:xfrm>
            <a:off x="731520" y="2468880"/>
            <a:ext cx="4572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Screenshots/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   IMG_4521.png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   Screenshot 2024-03-15.png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   IMG_4522.png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   photo_2024_01_09.png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   ... (hundreds more)</a:t>
            </a:r>
            <a:endParaRPr/>
          </a:p>
        </p:txBody>
      </p:sp>
      <p:sp>
        <p:nvSpPr>
          <p:cNvPr id="178" name="Google Shape;178;p22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/>
          </a:p>
        </p:txBody>
      </p:sp>
      <p:sp>
        <p:nvSpPr>
          <p:cNvPr id="179" name="Google Shape;179;p22"/>
          <p:cNvSpPr txBox="1"/>
          <p:nvPr/>
        </p:nvSpPr>
        <p:spPr>
          <a:xfrm>
            <a:off x="6400800" y="2468880"/>
            <a:ext cx="5029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Screenshots/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Sports/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England-Cricket-Match.png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Premier-League-Scores.png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Travel/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Boarding-Pass-London-NYC.png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Hotel-Confirmation-Paris.png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Work/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Q1-Revenue-Dashboard.png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Team-Meeting-Notes.png</a:t>
            </a:r>
            <a:endParaRPr/>
          </a:p>
        </p:txBody>
      </p:sp>
      <p:sp>
        <p:nvSpPr>
          <p:cNvPr id="180" name="Google Shape;180;p2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11 / 23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 2: Creating Files from Messy Data</a:t>
            </a:r>
            <a:endParaRPr/>
          </a:p>
        </p:txBody>
      </p:sp>
      <p:sp>
        <p:nvSpPr>
          <p:cNvPr id="186" name="Google Shape;186;p23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Scenario: Invoice processing and reconciliation</a:t>
            </a:r>
            <a:endParaRPr/>
          </a:p>
        </p:txBody>
      </p:sp>
      <p:sp>
        <p:nvSpPr>
          <p:cNvPr id="188" name="Google Shape;188;p23"/>
          <p:cNvSpPr txBox="1"/>
          <p:nvPr/>
        </p:nvSpPr>
        <p:spPr>
          <a:xfrm>
            <a:off x="731520" y="22860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Setup:</a:t>
            </a:r>
            <a:endParaRPr/>
          </a:p>
        </p:txBody>
      </p:sp>
      <p:sp>
        <p:nvSpPr>
          <p:cNvPr id="189" name="Google Shape;189;p23"/>
          <p:cNvSpPr txBox="1"/>
          <p:nvPr/>
        </p:nvSpPr>
        <p:spPr>
          <a:xfrm>
            <a:off x="731520" y="27432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Give Cowork access to your invoice folder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Folder contains disorganized invoice PDFs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Need administration, tidying, and reconciliation</a:t>
            </a:r>
            <a:endParaRPr/>
          </a:p>
        </p:txBody>
      </p:sp>
      <p:sp>
        <p:nvSpPr>
          <p:cNvPr id="190" name="Google Shape;190;p23"/>
          <p:cNvSpPr/>
          <p:nvPr/>
        </p:nvSpPr>
        <p:spPr>
          <a:xfrm>
            <a:off x="731520" y="4389120"/>
            <a:ext cx="10058400" cy="118872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914400" y="44348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Prompt:</a:t>
            </a: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914400" y="475488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 through these invoice files. Rename them properly, organize them into folders, and generate a spreadsheet/CSV giving me a clean overview of all invoices.</a:t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12 / 23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Clarification</a:t>
            </a:r>
            <a:endParaRPr/>
          </a:p>
        </p:txBody>
      </p:sp>
      <p:sp>
        <p:nvSpPr>
          <p:cNvPr id="199" name="Google Shape;199;p24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Cowork asks smart questions before executing complex tasks:</a:t>
            </a:r>
            <a:endParaRPr/>
          </a:p>
        </p:txBody>
      </p:sp>
      <p:graphicFrame>
        <p:nvGraphicFramePr>
          <p:cNvPr id="201" name="Google Shape;201;p24"/>
          <p:cNvGraphicFramePr/>
          <p:nvPr/>
        </p:nvGraphicFramePr>
        <p:xfrm>
          <a:off x="731520" y="2560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{DD2A856C-F6B5-4FC3-9548-35E962C256CF}</a:tableStyleId>
              </a:tblPr>
              <a:tblGrid>
                <a:gridCol w="4114800"/>
                <a:gridCol w="50292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Cowork Asks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Your Answer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naming format for invoices?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- Vendor Name - Amount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should the spreadsheet include?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 overview with auto-calculated totals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to organize monthly folders?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 invoice date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24"/>
          <p:cNvSpPr txBox="1"/>
          <p:nvPr/>
        </p:nvSpPr>
        <p:spPr>
          <a:xfrm>
            <a:off x="731520" y="484632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is like having a personal assistant: assign the task, answer a few questions, and get the finished work delivered in minutes.</a:t>
            </a:r>
            <a:endParaRPr/>
          </a:p>
        </p:txBody>
      </p:sp>
      <p:sp>
        <p:nvSpPr>
          <p:cNvPr id="203" name="Google Shape;203;p2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13 / 23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Invoice Processing Results</a:t>
            </a: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Completed in under 5 minutes</a:t>
            </a:r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Organized Folder Structure:</a:t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731520" y="2651760"/>
            <a:ext cx="4572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Invoice-Processor/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2024-01/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   2024-01-15-Acme-Corp-$2500.pdf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   2024-01-22-CloudHost-$189.pdf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2024-02/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   2024-02-01-Design-Agency-$4200.pdf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66"/>
                </a:solidFill>
                <a:latin typeface="Courier New"/>
                <a:ea typeface="Courier New"/>
                <a:cs typeface="Courier New"/>
                <a:sym typeface="Courier New"/>
              </a:rPr>
              <a:t>   invoice-tracker.csv</a:t>
            </a:r>
            <a:endParaRPr/>
          </a:p>
        </p:txBody>
      </p:sp>
      <p:sp>
        <p:nvSpPr>
          <p:cNvPr id="213" name="Google Shape;213;p25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Generated Spreadsheet Contains:</a:t>
            </a:r>
            <a:endParaRPr/>
          </a:p>
        </p:txBody>
      </p:sp>
      <p:sp>
        <p:nvSpPr>
          <p:cNvPr id="214" name="Google Shape;214;p25"/>
          <p:cNvSpPr txBox="1"/>
          <p:nvPr/>
        </p:nvSpPr>
        <p:spPr>
          <a:xfrm>
            <a:off x="6400800" y="265176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Vendor names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Invoice numbers and dates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Payment status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Individual amounts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Monthly breakdowns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Auto-calculated totals and summary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731520" y="56692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You can keep this file updated by running the process again with new invoices.</a:t>
            </a:r>
            <a:endParaRPr/>
          </a:p>
        </p:txBody>
      </p:sp>
      <p:sp>
        <p:nvSpPr>
          <p:cNvPr id="216" name="Google Shape;216;p2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14 / 23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Browsing: Setup</a:t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Enabling Chrome Integration: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731520" y="237744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Install 'Claude in Chrome' from Chrome Web Store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Cowork and assign a web-based task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prompted, allow Claude to browse specific sites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Active tabs show an orange highlight when in use</a:t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Permission Levels:</a:t>
            </a:r>
            <a:endParaRPr/>
          </a:p>
        </p:txBody>
      </p:sp>
      <p:graphicFrame>
        <p:nvGraphicFramePr>
          <p:cNvPr id="226" name="Google Shape;226;p26"/>
          <p:cNvGraphicFramePr/>
          <p:nvPr/>
        </p:nvGraphicFramePr>
        <p:xfrm>
          <a:off x="6400800" y="2560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{DD2A856C-F6B5-4FC3-9548-35E962C256CF}</a:tableStyleId>
              </a:tblPr>
              <a:tblGrid>
                <a:gridCol w="2560325"/>
                <a:gridCol w="24688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Level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 for this 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One-time access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 for this website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Persistent site access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 all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browsing (use cautiously)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227" name="Google Shape;227;p2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15 / 23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Web Browsing in Action</a:t>
            </a:r>
            <a:endParaRPr/>
          </a:p>
        </p:txBody>
      </p:sp>
      <p:sp>
        <p:nvSpPr>
          <p:cNvPr id="233" name="Google Shape;233;p27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731520" y="1645920"/>
            <a:ext cx="10058400" cy="82296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914400" y="16916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Prompt:</a:t>
            </a:r>
            <a:endParaRPr/>
          </a:p>
        </p:txBody>
      </p:sp>
      <p:sp>
        <p:nvSpPr>
          <p:cNvPr id="236" name="Google Shape;236;p27"/>
          <p:cNvSpPr txBox="1"/>
          <p:nvPr/>
        </p:nvSpPr>
        <p:spPr>
          <a:xfrm>
            <a:off x="914400" y="196596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 Chrome to go to my YouTube Studio. Write a report on the current performance of my channel.</a:t>
            </a:r>
            <a:endParaRPr/>
          </a:p>
        </p:txBody>
      </p:sp>
      <p:sp>
        <p:nvSpPr>
          <p:cNvPr id="237" name="Google Shape;237;p27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What Happens:</a:t>
            </a:r>
            <a:endParaRPr/>
          </a:p>
        </p:txBody>
      </p:sp>
      <p:sp>
        <p:nvSpPr>
          <p:cNvPr id="238" name="Google Shape;238;p27"/>
          <p:cNvSpPr txBox="1"/>
          <p:nvPr/>
        </p:nvSpPr>
        <p:spPr>
          <a:xfrm>
            <a:off x="731520" y="338328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Cowork opens Google Chrome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Navigates to YouTube Studio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Reads dashboard data and metrics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Compiles findings into a report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Delivers formatted document</a:t>
            </a:r>
            <a:endParaRPr/>
          </a:p>
        </p:txBody>
      </p:sp>
      <p:sp>
        <p:nvSpPr>
          <p:cNvPr id="239" name="Google Shape;239;p27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Real-World Applications:</a:t>
            </a:r>
            <a:endParaRPr/>
          </a:p>
        </p:txBody>
      </p:sp>
      <p:sp>
        <p:nvSpPr>
          <p:cNvPr id="240" name="Google Shape;240;p27"/>
          <p:cNvSpPr txBox="1"/>
          <p:nvPr/>
        </p:nvSpPr>
        <p:spPr>
          <a:xfrm>
            <a:off x="6400800" y="338328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SEO reporting from Google Search Console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Analytics reports from Google Analytics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Competitive research across websites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Social media performance audits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Market research and data gathering</a:t>
            </a:r>
            <a:endParaRPr/>
          </a:p>
        </p:txBody>
      </p:sp>
      <p:sp>
        <p:nvSpPr>
          <p:cNvPr id="241" name="Google Shape;241;p2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16 / 23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Plugins &amp; Skills</a:t>
            </a:r>
            <a:endParaRPr/>
          </a:p>
        </p:txBody>
      </p:sp>
      <p:sp>
        <p:nvSpPr>
          <p:cNvPr id="247" name="Google Shape;247;p28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8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Skills are pre-built processes, expertise, and workflows that enhance Cowork.</a:t>
            </a:r>
            <a:endParaRPr/>
          </a:p>
        </p:txBody>
      </p:sp>
      <p:sp>
        <p:nvSpPr>
          <p:cNvPr id="249" name="Google Shape;249;p28"/>
          <p:cNvSpPr txBox="1"/>
          <p:nvPr/>
        </p:nvSpPr>
        <p:spPr>
          <a:xfrm>
            <a:off x="731520" y="2377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Built-in Skills:</a:t>
            </a:r>
            <a:endParaRPr/>
          </a:p>
        </p:txBody>
      </p:sp>
      <p:graphicFrame>
        <p:nvGraphicFramePr>
          <p:cNvPr id="250" name="Google Shape;250;p28"/>
          <p:cNvGraphicFramePr/>
          <p:nvPr/>
        </p:nvGraphicFramePr>
        <p:xfrm>
          <a:off x="731520" y="2834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{DD2A856C-F6B5-4FC3-9548-35E962C256CF}</a:tableStyleId>
              </a:tblPr>
              <a:tblGrid>
                <a:gridCol w="1371600"/>
                <a:gridCol w="32004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Call prep, pipeline, messaging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Productivity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 &amp; workflow optimization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Campaigns, content strategy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251" name="Google Shape;251;p28"/>
          <p:cNvSpPr txBox="1"/>
          <p:nvPr/>
        </p:nvSpPr>
        <p:spPr>
          <a:xfrm>
            <a:off x="6400800" y="23774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Adding Custom Skills:</a:t>
            </a:r>
            <a:endParaRPr/>
          </a:p>
        </p:txBody>
      </p:sp>
      <p:sp>
        <p:nvSpPr>
          <p:cNvPr id="252" name="Google Shape;252;p28"/>
          <p:cNvSpPr txBox="1"/>
          <p:nvPr/>
        </p:nvSpPr>
        <p:spPr>
          <a:xfrm>
            <a:off x="6400800" y="283464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Click + button, then "Add Plugins"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Upload individual skill files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Add a GitHub marketplace URL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Install from marketplace (100+ available)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Manage installed skills from plugins panel</a:t>
            </a:r>
            <a:endParaRPr/>
          </a:p>
        </p:txBody>
      </p:sp>
      <p:sp>
        <p:nvSpPr>
          <p:cNvPr id="253" name="Google Shape;253;p2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18 / 23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Best Starting Use Cases</a:t>
            </a:r>
            <a:endParaRPr/>
          </a:p>
        </p:txBody>
      </p:sp>
      <p:sp>
        <p:nvSpPr>
          <p:cNvPr id="259" name="Google Shape;259;p29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0" name="Google Shape;260;p29"/>
          <p:cNvGraphicFramePr/>
          <p:nvPr/>
        </p:nvGraphicFramePr>
        <p:xfrm>
          <a:off x="73152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{DD2A856C-F6B5-4FC3-9548-35E962C256CF}</a:tableStyleId>
              </a:tblPr>
              <a:tblGrid>
                <a:gridCol w="3200400"/>
                <a:gridCol w="68580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 Tasks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File &amp; Document Management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Organize downloads, rename photos, sort documents, clean up folders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 &amp; Analysis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research reports, competitor analysis, data gathering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 Creation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Spreadsheets from raw data, formatted reports, CSV exports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&amp; Analysis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Invoice reconciliation, expense tracking, performance dashboards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29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For Business Owners:</a:t>
            </a:r>
            <a:endParaRPr/>
          </a:p>
        </p:txBody>
      </p:sp>
      <p:sp>
        <p:nvSpPr>
          <p:cNvPr id="262" name="Google Shape;262;p29"/>
          <p:cNvSpPr txBox="1"/>
          <p:nvPr/>
        </p:nvSpPr>
        <p:spPr>
          <a:xfrm>
            <a:off x="731520" y="4846320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Monthly financial reconciliation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Client file organization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Marketing performance reports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Content calendar generation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Email template creation</a:t>
            </a:r>
            <a:endParaRPr/>
          </a:p>
        </p:txBody>
      </p:sp>
      <p:sp>
        <p:nvSpPr>
          <p:cNvPr id="263" name="Google Shape;263;p2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20 / 23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Limitations</a:t>
            </a:r>
            <a:endParaRPr/>
          </a:p>
        </p:txBody>
      </p:sp>
      <p:sp>
        <p:nvSpPr>
          <p:cNvPr id="269" name="Google Shape;269;p30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0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Cowork is a Research Preview -- these will improve over time.</a:t>
            </a:r>
            <a:endParaRPr/>
          </a:p>
        </p:txBody>
      </p:sp>
      <p:graphicFrame>
        <p:nvGraphicFramePr>
          <p:cNvPr id="271" name="Google Shape;271;p30"/>
          <p:cNvGraphicFramePr/>
          <p:nvPr/>
        </p:nvGraphicFramePr>
        <p:xfrm>
          <a:off x="731520" y="2377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{DD2A856C-F6B5-4FC3-9548-35E962C256CF}</a:tableStyleId>
              </a:tblPr>
              <a:tblGrid>
                <a:gridCol w="2743200"/>
                <a:gridCol w="73152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cross-session memory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Doesn't remember previous sessions. Workaround: maintain files documenting work.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chat sharing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Can't easily share Cowork chats with other users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Desktop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Requires Claude Desktop app (not on mobile/web)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Session persistence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must stay open -- closing stops the task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Computer resources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Tasks consume local compute power while running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5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 consumption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Heavier tasks burn through usage allowance faster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p3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21 / 23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Tips for Effective Prompting</a:t>
            </a:r>
            <a:endParaRPr/>
          </a:p>
        </p:txBody>
      </p:sp>
      <p:sp>
        <p:nvSpPr>
          <p:cNvPr id="278" name="Google Shape;278;p31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1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Do:</a:t>
            </a:r>
            <a:endParaRPr/>
          </a:p>
        </p:txBody>
      </p:sp>
      <p:sp>
        <p:nvSpPr>
          <p:cNvPr id="280" name="Google Shape;280;p31"/>
          <p:cNvSpPr txBox="1"/>
          <p:nvPr/>
        </p:nvSpPr>
        <p:spPr>
          <a:xfrm>
            <a:off x="731520" y="2377440"/>
            <a:ext cx="4572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Give clear instructions and goals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 specific about desired output format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Let Cowork ask clarifying questions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 dedicated folders per task type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Start simple, then layer on complexity</a:t>
            </a:r>
            <a:endParaRPr/>
          </a:p>
        </p:txBody>
      </p:sp>
      <p:sp>
        <p:nvSpPr>
          <p:cNvPr id="281" name="Google Shape;281;p31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Don't:</a:t>
            </a:r>
            <a:endParaRPr/>
          </a:p>
        </p:txBody>
      </p:sp>
      <p:sp>
        <p:nvSpPr>
          <p:cNvPr id="282" name="Google Shape;282;p31"/>
          <p:cNvSpPr txBox="1"/>
          <p:nvPr/>
        </p:nvSpPr>
        <p:spPr>
          <a:xfrm>
            <a:off x="6400800" y="237744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Over-engineer prompts -- plain English works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Give access to your entire filesystem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Run heavy tasks if you need token budget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Close the Desktop app mid-task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Expect perfection -- review outputs</a:t>
            </a:r>
            <a:endParaRPr/>
          </a:p>
        </p:txBody>
      </p:sp>
      <p:sp>
        <p:nvSpPr>
          <p:cNvPr id="283" name="Google Shape;283;p3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22 / 23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