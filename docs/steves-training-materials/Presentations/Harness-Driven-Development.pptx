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62000" y="1015901"/>
            <a:ext cx="2717304" cy="295275"/>
          </a:xfrm>
          <a:prstGeom prst="roundRect">
            <a:avLst>
              <a:gd fmla="val 17204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65150" y="1092101"/>
            <a:ext cx="235722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 FRAMEWORK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62000" y="1666726"/>
            <a:ext cx="777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Harness-Driven Development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62000" y="2316807"/>
            <a:ext cx="7772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Programmatic Quality Gates for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93C5FD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Enterprise Codebases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62000" y="3269307"/>
            <a:ext cx="7772400" cy="52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How autonomous agents ship production features on codebases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240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with technical debt -- without shortcuts, without hallucinations.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62000" y="4241899"/>
            <a:ext cx="7620000" cy="126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62000" y="4492675"/>
            <a:ext cx="154051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Shift4 Intelligence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11380" y="4492675"/>
            <a:ext cx="68403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34901" y="355550"/>
            <a:ext cx="543278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34901" y="574625"/>
            <a:ext cx="543278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Agents Fail on Real Codebases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34901" y="1015901"/>
            <a:ext cx="3682901" cy="793700"/>
          </a:xfrm>
          <a:prstGeom prst="rect">
            <a:avLst/>
          </a:prstGeom>
          <a:solidFill>
            <a:srgbClr val="EF4444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4"/>
          <p:cNvCxnSpPr/>
          <p:nvPr/>
        </p:nvCxnSpPr>
        <p:spPr>
          <a:xfrm>
            <a:off x="658713" y="1015901"/>
            <a:ext cx="0" cy="793700"/>
          </a:xfrm>
          <a:prstGeom prst="straightConnector1">
            <a:avLst/>
          </a:prstGeom>
          <a:noFill/>
          <a:ln cap="flat" cmpd="sng" w="476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"/>
          <p:cNvSpPr/>
          <p:nvPr/>
        </p:nvSpPr>
        <p:spPr>
          <a:xfrm>
            <a:off x="885676" y="1168301"/>
            <a:ext cx="329355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ECACA"/>
                </a:solidFill>
                <a:latin typeface="Arial"/>
                <a:ea typeface="Arial"/>
                <a:cs typeface="Arial"/>
                <a:sym typeface="Arial"/>
              </a:rPr>
              <a:t>Self-Certification Bias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85676" y="1371451"/>
            <a:ext cx="32935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Agents declare "done" without objective verification. They optimize for completing the task, not for correctness.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34901" y="1962001"/>
            <a:ext cx="3682901" cy="936575"/>
          </a:xfrm>
          <a:prstGeom prst="rect">
            <a:avLst/>
          </a:prstGeom>
          <a:solidFill>
            <a:srgbClr val="EF4444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658713" y="1962001"/>
            <a:ext cx="0" cy="936575"/>
          </a:xfrm>
          <a:prstGeom prst="straightConnector1">
            <a:avLst/>
          </a:prstGeom>
          <a:noFill/>
          <a:ln cap="flat" cmpd="sng" w="476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885676" y="2114401"/>
            <a:ext cx="329355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ECACA"/>
                </a:solidFill>
                <a:latin typeface="Arial"/>
                <a:ea typeface="Arial"/>
                <a:cs typeface="Arial"/>
                <a:sym typeface="Arial"/>
              </a:rPr>
              <a:t>Technical Debt Amplification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85676" y="2317552"/>
            <a:ext cx="32935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On codebases with existing debt, agents compound shortcuts. Dict[str, Any] cascades into unvalidated data flows.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34901" y="3050977"/>
            <a:ext cx="3682901" cy="793700"/>
          </a:xfrm>
          <a:prstGeom prst="rect">
            <a:avLst/>
          </a:prstGeom>
          <a:solidFill>
            <a:srgbClr val="EF4444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4"/>
          <p:cNvCxnSpPr/>
          <p:nvPr/>
        </p:nvCxnSpPr>
        <p:spPr>
          <a:xfrm>
            <a:off x="658713" y="3050977"/>
            <a:ext cx="0" cy="793700"/>
          </a:xfrm>
          <a:prstGeom prst="straightConnector1">
            <a:avLst/>
          </a:prstGeom>
          <a:noFill/>
          <a:ln cap="flat" cmpd="sng" w="476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4"/>
          <p:cNvSpPr/>
          <p:nvPr/>
        </p:nvSpPr>
        <p:spPr>
          <a:xfrm>
            <a:off x="885676" y="3203377"/>
            <a:ext cx="329355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ECACA"/>
                </a:solidFill>
                <a:latin typeface="Arial"/>
                <a:ea typeface="Arial"/>
                <a:cs typeface="Arial"/>
                <a:sym typeface="Arial"/>
              </a:rPr>
              <a:t>Hallucinated Completeness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85676" y="3406527"/>
            <a:ext cx="32935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Agents report passing tests they never ran, reference files that don't exist, and skip edge cases entirely.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698950" y="1015901"/>
            <a:ext cx="3936950" cy="1288703"/>
          </a:xfrm>
          <a:prstGeom prst="roundRect">
            <a:avLst>
              <a:gd fmla="val 7884" name="adj"/>
            </a:avLst>
          </a:prstGeom>
          <a:solidFill>
            <a:srgbClr val="136EF6">
              <a:alpha val="10196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911626" y="1203127"/>
            <a:ext cx="358183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WITHOUT HARNESSES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911626" y="1396752"/>
            <a:ext cx="358183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~40%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911626" y="1831628"/>
            <a:ext cx="35818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of agent-generated changes introduce regressions on complex codebases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698950" y="2431554"/>
            <a:ext cx="3936950" cy="1288703"/>
          </a:xfrm>
          <a:prstGeom prst="roundRect">
            <a:avLst>
              <a:gd fmla="val 7884" name="adj"/>
            </a:avLst>
          </a:prstGeom>
          <a:solidFill>
            <a:srgbClr val="136EF6">
              <a:alpha val="10196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911626" y="2618780"/>
            <a:ext cx="358183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AGENT SELF-ASSESSMENT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911626" y="2812405"/>
            <a:ext cx="358183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911626" y="3247281"/>
            <a:ext cx="35818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agents report "success" -- but only 60% pass objective programmatic verification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698950" y="3897957"/>
            <a:ext cx="401568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The gap between agent confidence and actual quality is where production incidents live.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34901" y="355550"/>
            <a:ext cx="39610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34901" y="574625"/>
            <a:ext cx="396104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Programmatic Toll Gates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34901" y="1117550"/>
            <a:ext cx="7874198" cy="1292721"/>
          </a:xfrm>
          <a:prstGeom prst="roundRect">
            <a:avLst>
              <a:gd fmla="val 9824" name="adj"/>
            </a:avLst>
          </a:prstGeom>
          <a:solidFill>
            <a:srgbClr val="136EF6">
              <a:alpha val="12156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49226" y="1355675"/>
            <a:ext cx="739045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Core Principle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49226" y="1603325"/>
            <a:ext cx="7390459" cy="568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agent cannot self-certify. </a:t>
            </a: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Machines verify.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Every phase transition requires objective, programmatic proof -- not the agent's word.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34901" y="2438400"/>
            <a:ext cx="1816150" cy="1828354"/>
          </a:xfrm>
          <a:prstGeom prst="roundRect">
            <a:avLst>
              <a:gd fmla="val 5594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47576" y="2625626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44528" y="2625626"/>
            <a:ext cx="310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47576" y="3031927"/>
            <a:ext cx="14186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 Machines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47576" y="3279577"/>
            <a:ext cx="1418615" cy="79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Pydantic-enforced phase transitions. Invalid states are impossible. Hooks block edits outside permitted phases.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654201" y="2438400"/>
            <a:ext cx="1816298" cy="1828354"/>
          </a:xfrm>
          <a:prstGeom prst="roundRect">
            <a:avLst>
              <a:gd fmla="val 5594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866876" y="2625626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863828" y="2625626"/>
            <a:ext cx="310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866876" y="3031927"/>
            <a:ext cx="141876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Layered Checks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866876" y="3279577"/>
            <a:ext cx="1418767" cy="79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6-16 independent verification layers. Each layer tests one concern. Failures are specific, not subjective.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673650" y="2438400"/>
            <a:ext cx="1816150" cy="1828354"/>
          </a:xfrm>
          <a:prstGeom prst="roundRect">
            <a:avLst>
              <a:gd fmla="val 5594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886325" y="2625626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883277" y="2625626"/>
            <a:ext cx="310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886325" y="3031927"/>
            <a:ext cx="14186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Exit Codes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886325" y="3279577"/>
            <a:ext cx="1418615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 = pass, 1 = fail, 2 = infra. No ambiguity. The state machine reads exit codes, not prose.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692950" y="2438400"/>
            <a:ext cx="1816150" cy="1828354"/>
          </a:xfrm>
          <a:prstGeom prst="roundRect">
            <a:avLst>
              <a:gd fmla="val 5594" name="adj"/>
            </a:avLst>
          </a:prstGeom>
          <a:solidFill>
            <a:srgbClr val="FFFFFF">
              <a:alpha val="3921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905625" y="2625626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902577" y="2625626"/>
            <a:ext cx="3108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905625" y="3031927"/>
            <a:ext cx="14186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 Trail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905625" y="3279577"/>
            <a:ext cx="1418615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Every gate, decision, and finding persisted to JSON. Full traceability from plan to ship.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34901" y="304800"/>
            <a:ext cx="562072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LIFECYCLE HARNESS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34901" y="498425"/>
            <a:ext cx="5620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Autonomous Development State Machine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81000" y="1066800"/>
            <a:ext cx="1164282" cy="647402"/>
          </a:xfrm>
          <a:prstGeom prst="roundRect">
            <a:avLst>
              <a:gd fmla="val 15694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08562" y="1177826"/>
            <a:ext cx="90915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08562" y="1330226"/>
            <a:ext cx="90915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08562" y="1507927"/>
            <a:ext cx="90915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parallel agents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594254" y="1285726"/>
            <a:ext cx="1814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824633" y="990600"/>
            <a:ext cx="1164134" cy="799802"/>
          </a:xfrm>
          <a:prstGeom prst="roundRect">
            <a:avLst>
              <a:gd fmla="val 12703" name="adj"/>
            </a:avLst>
          </a:prstGeom>
          <a:solidFill>
            <a:srgbClr val="F59E0B">
              <a:alpha val="1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952196" y="1101626"/>
            <a:ext cx="9090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HUMAN GATE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952196" y="1254026"/>
            <a:ext cx="90900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952196" y="1584127"/>
            <a:ext cx="909006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User approves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037738" y="1285726"/>
            <a:ext cx="1814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268117" y="1066800"/>
            <a:ext cx="1164282" cy="647402"/>
          </a:xfrm>
          <a:prstGeom prst="roundRect">
            <a:avLst>
              <a:gd fmla="val 15694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395679" y="1177826"/>
            <a:ext cx="90915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395679" y="1330226"/>
            <a:ext cx="90915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395679" y="1507927"/>
            <a:ext cx="90915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WP dispatch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481371" y="1285726"/>
            <a:ext cx="1814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711750" y="1066800"/>
            <a:ext cx="1164134" cy="647402"/>
          </a:xfrm>
          <a:prstGeom prst="roundRect">
            <a:avLst>
              <a:gd fmla="val 15694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839313" y="1177826"/>
            <a:ext cx="9090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839313" y="1330226"/>
            <a:ext cx="9090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VERIFYING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839313" y="1507927"/>
            <a:ext cx="909006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Codex + UAT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924855" y="1285726"/>
            <a:ext cx="1814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155234" y="1066800"/>
            <a:ext cx="1164282" cy="647402"/>
          </a:xfrm>
          <a:prstGeom prst="roundRect">
            <a:avLst>
              <a:gd fmla="val 15694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282796" y="1177826"/>
            <a:ext cx="90915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282796" y="1330226"/>
            <a:ext cx="90915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TRIAGING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282796" y="1507927"/>
            <a:ext cx="90915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P0-P3 classify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368488" y="1285726"/>
            <a:ext cx="18140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598866" y="990600"/>
            <a:ext cx="1164134" cy="799802"/>
          </a:xfrm>
          <a:prstGeom prst="roundRect">
            <a:avLst>
              <a:gd fmla="val 12703" name="adj"/>
            </a:avLst>
          </a:prstGeom>
          <a:solidFill>
            <a:srgbClr val="F59E0B">
              <a:alpha val="1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726430" y="1101626"/>
            <a:ext cx="9090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HUMAN GATE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726430" y="1254026"/>
            <a:ext cx="90900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SHIP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726430" y="1584127"/>
            <a:ext cx="909006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User approves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872308" y="1777901"/>
            <a:ext cx="3399383" cy="209550"/>
          </a:xfrm>
          <a:prstGeom prst="roundRect">
            <a:avLst>
              <a:gd fmla="val 24242" name="adj"/>
            </a:avLst>
          </a:prstGeom>
          <a:solidFill>
            <a:srgbClr val="F59E0B">
              <a:alpha val="10196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034233" y="1825526"/>
            <a:ext cx="313704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← Autonomous loop: up to 3 iterations (TRIAGING → BUILDING)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81000" y="2057400"/>
            <a:ext cx="2000250" cy="1117104"/>
          </a:xfrm>
          <a:prstGeom prst="roundRect">
            <a:avLst>
              <a:gd fmla="val 6821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42925" y="2193875"/>
            <a:ext cx="17099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Investigation Swarm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2925" y="2377976"/>
            <a:ext cx="1709928" cy="66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Wave 1: 6 Sonnet agents (schema scout, code path tracer, pattern matcher, test inventory, dependency mapper, external schema). Cross-validated before Wave 2.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508200" y="2057400"/>
            <a:ext cx="2000399" cy="1117104"/>
          </a:xfrm>
          <a:prstGeom prst="roundRect">
            <a:avLst>
              <a:gd fmla="val 6821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670125" y="2193875"/>
            <a:ext cx="171008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Builder Dispatch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670125" y="2377976"/>
            <a:ext cx="1710080" cy="66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Work packages assigned with file ownership. Opus for complex multi-file, Sonnet for focused. Each WP gets one commit. Builders never touch git.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635550" y="2057400"/>
            <a:ext cx="2000250" cy="1117104"/>
          </a:xfrm>
          <a:prstGeom prst="roundRect">
            <a:avLst>
              <a:gd fmla="val 6821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797475" y="2193875"/>
            <a:ext cx="17099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Codex Adversarial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797475" y="2377976"/>
            <a:ext cx="1709928" cy="52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Plan, work, and ship reviewed by Codex agents. Session reuse: same reviewer context from plan through ship. Catches unseen gaps.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762750" y="2057400"/>
            <a:ext cx="2000250" cy="1117104"/>
          </a:xfrm>
          <a:prstGeom prst="roundRect">
            <a:avLst>
              <a:gd fmla="val 6821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924675" y="2193875"/>
            <a:ext cx="17099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Atomic State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924675" y="2377976"/>
            <a:ext cx="1709928" cy="52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1,393-line Pydantic state machine. JSON persistence with atomic writes. Every gate, decision, regression tracked. Full audit trail at ship.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34901" y="304800"/>
            <a:ext cx="50050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TOLL GATES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34901" y="498425"/>
            <a:ext cx="500500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 Verification at Every Phase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07950" y="965150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31726" y="1050875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177802" y="1050875"/>
            <a:ext cx="553237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codex_plan_review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Adversarial review of spec: file paths exist, sigs verified, ACs falsifiable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804845" y="1039862"/>
            <a:ext cx="831205" cy="164902"/>
          </a:xfrm>
          <a:prstGeom prst="roundRect">
            <a:avLst>
              <a:gd fmla="val 23105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906345" y="1065163"/>
            <a:ext cx="64076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07950" y="1355675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F59E0B">
              <a:alpha val="1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31726" y="1441400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PLAN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177802" y="1441400"/>
            <a:ext cx="57933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user_plan_approval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Human approves engineering spec, Codex findings, verification 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060680" y="1430387"/>
            <a:ext cx="575370" cy="164902"/>
          </a:xfrm>
          <a:prstGeom prst="roundRect">
            <a:avLst>
              <a:gd fmla="val 23105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162181" y="1455688"/>
            <a:ext cx="37981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07950" y="1746200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31726" y="1831925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INTEGRATING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177802" y="1831925"/>
            <a:ext cx="553237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static_validation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Python/TS compilation, import resolution, AST parse -- zero tolerance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804845" y="1820912"/>
            <a:ext cx="831205" cy="164902"/>
          </a:xfrm>
          <a:prstGeom prst="roundRect">
            <a:avLst>
              <a:gd fmla="val 23105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906345" y="1846213"/>
            <a:ext cx="64076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07950" y="2136725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31726" y="2222450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TRIAGING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177802" y="2222450"/>
            <a:ext cx="553237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finding_classification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P0-P3 severity, loop vs ship decision, regression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804845" y="2211437"/>
            <a:ext cx="831205" cy="164902"/>
          </a:xfrm>
          <a:prstGeom prst="roundRect">
            <a:avLst>
              <a:gd fmla="val 23105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906345" y="2236738"/>
            <a:ext cx="64076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07950" y="2527250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F59E0B">
              <a:alpha val="1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31726" y="2612975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SHIP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177802" y="2612975"/>
            <a:ext cx="57933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user_ship_approval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Human approves audit trail, QA results, known issues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060680" y="2601962"/>
            <a:ext cx="575370" cy="164902"/>
          </a:xfrm>
          <a:prstGeom prst="roundRect">
            <a:avLst>
              <a:gd fmla="val 23105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162181" y="2627263"/>
            <a:ext cx="37981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07950" y="2917775"/>
            <a:ext cx="1542901" cy="314325"/>
          </a:xfrm>
          <a:prstGeom prst="roundRect">
            <a:avLst>
              <a:gd fmla="val 16162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31726" y="3003500"/>
            <a:ext cx="1295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SHIPPING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2177802" y="3003500"/>
            <a:ext cx="53234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UAT harness exit 0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Full 6-layer verification must pass. No exit 0 = no ship.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600057" y="2992487"/>
            <a:ext cx="1035993" cy="164902"/>
          </a:xfrm>
          <a:prstGeom prst="roundRect">
            <a:avLst>
              <a:gd fmla="val 23105" name="adj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701558" y="3017788"/>
            <a:ext cx="84965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PROGRAMMATIC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07950" y="4102150"/>
            <a:ext cx="8128099" cy="660350"/>
          </a:xfrm>
          <a:prstGeom prst="roundRect">
            <a:avLst>
              <a:gd fmla="val 15386" name="adj"/>
            </a:avLst>
          </a:prstGeom>
          <a:solidFill>
            <a:srgbClr val="F59E0B">
              <a:alpha val="7843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746075" y="4264075"/>
            <a:ext cx="780488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"Known issue" is NOT an escape hatch.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46075" y="4467225"/>
            <a:ext cx="78048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Every finding must be FIXED or presented to the human gate with evidence of WHY it cannot be fixed. The agent cannot wave away problems.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34901" y="4902250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34901" y="304800"/>
            <a:ext cx="536902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CASE STUDIES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34901" y="498425"/>
            <a:ext cx="53690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Features Shipped via Lifecycle Harness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07950" y="990600"/>
            <a:ext cx="2682925" cy="2549426"/>
          </a:xfrm>
          <a:prstGeom prst="roundRect">
            <a:avLst>
              <a:gd fmla="val 398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720626" y="1177826"/>
            <a:ext cx="1826270" cy="190500"/>
          </a:xfrm>
          <a:prstGeom prst="roundRect">
            <a:avLst>
              <a:gd fmla="val 2000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47576" y="1215926"/>
            <a:ext cx="160381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PLATFORM COMPILER PHASE 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20626" y="1469827"/>
            <a:ext cx="2302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Manifest-Driven Agent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20626" y="1698427"/>
            <a:ext cx="2302725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Rewired ws_chat_v2.py to be fully manifest-driven. Removed all legacy if/elif agent routing. PlannerReactStrategy: 1,207 lines.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20626" y="2245519"/>
            <a:ext cx="804863" cy="615851"/>
          </a:xfrm>
          <a:prstGeom prst="roundRect">
            <a:avLst>
              <a:gd fmla="val 824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16108" y="2321719"/>
            <a:ext cx="61389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ITERATIONS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16108" y="2461320"/>
            <a:ext cx="61389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626989" y="2245519"/>
            <a:ext cx="601861" cy="615851"/>
          </a:xfrm>
          <a:prstGeom prst="roundRect">
            <a:avLst>
              <a:gd fmla="val 8440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724501" y="2321719"/>
            <a:ext cx="4068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CODEX PASSES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724501" y="2575620"/>
            <a:ext cx="40683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2330351" y="2245519"/>
            <a:ext cx="647849" cy="615851"/>
          </a:xfrm>
          <a:prstGeom prst="roundRect">
            <a:avLst>
              <a:gd fmla="val 824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427403" y="2321719"/>
            <a:ext cx="45374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CHECKS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427403" y="2461320"/>
            <a:ext cx="45374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40/40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20626" y="2937570"/>
            <a:ext cx="2302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Commit: 5429725 | Branch: fix/foundry-merchant-lookup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368576" y="990600"/>
            <a:ext cx="2544812" cy="2549426"/>
          </a:xfrm>
          <a:prstGeom prst="roundRect">
            <a:avLst>
              <a:gd fmla="val 3992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581251" y="1177826"/>
            <a:ext cx="1589336" cy="190500"/>
          </a:xfrm>
          <a:prstGeom prst="roundRect">
            <a:avLst>
              <a:gd fmla="val 20000" name="adj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708202" y="1215926"/>
            <a:ext cx="136214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REDIS SESSION REGISTRY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581251" y="1469827"/>
            <a:ext cx="216185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Horizontal Scaling + Cross-Pod Reconnect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581251" y="1850827"/>
            <a:ext cx="2161851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Redis registry for horizontal scaling. Main chat migrated. Cross-pod reconnect. 5-layer verification harness built as WP6.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581251" y="2397919"/>
            <a:ext cx="428625" cy="501551"/>
          </a:xfrm>
          <a:prstGeom prst="roundRect">
            <a:avLst>
              <a:gd fmla="val 11852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80496" y="2474119"/>
            <a:ext cx="23013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WPs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680496" y="2613720"/>
            <a:ext cx="23013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111377" y="2397919"/>
            <a:ext cx="504527" cy="501551"/>
          </a:xfrm>
          <a:prstGeom prst="roundRect">
            <a:avLst>
              <a:gd fmla="val 1012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209862" y="2474119"/>
            <a:ext cx="3075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FILES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209862" y="2613720"/>
            <a:ext cx="30755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717405" y="2397919"/>
            <a:ext cx="983307" cy="501551"/>
          </a:xfrm>
          <a:prstGeom prst="roundRect">
            <a:avLst>
              <a:gd fmla="val 1012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811103" y="2474119"/>
            <a:ext cx="7959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811103" y="2613720"/>
            <a:ext cx="79591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SHIPPED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581251" y="2975670"/>
            <a:ext cx="2161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Commits: ad9878c, cd28c08 | Per-WP commits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091089" y="990600"/>
            <a:ext cx="2544961" cy="2549426"/>
          </a:xfrm>
          <a:prstGeom prst="roundRect">
            <a:avLst>
              <a:gd fmla="val 3992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303764" y="1177826"/>
            <a:ext cx="1722834" cy="190500"/>
          </a:xfrm>
          <a:prstGeom prst="roundRect">
            <a:avLst>
              <a:gd fmla="val 20000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430714" y="1215926"/>
            <a:ext cx="1498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SALES AGENT (MULTI-PHASE)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303764" y="1469827"/>
            <a:ext cx="21620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LangGraph Agent + Jira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303764" y="1850827"/>
            <a:ext cx="2162002" cy="59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DB migration, schemas, frontend hooks, JiraService, LangGraph agent, chat UI, admin lead API, portfolio intents, verification suite.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303764" y="2546449"/>
            <a:ext cx="621357" cy="501551"/>
          </a:xfrm>
          <a:prstGeom prst="roundRect">
            <a:avLst>
              <a:gd fmla="val 1012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401081" y="2622649"/>
            <a:ext cx="42672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WPs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401081" y="2762250"/>
            <a:ext cx="42672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026622" y="2546449"/>
            <a:ext cx="621357" cy="501551"/>
          </a:xfrm>
          <a:prstGeom prst="roundRect">
            <a:avLst>
              <a:gd fmla="val 1012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123939" y="2622649"/>
            <a:ext cx="42672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123939" y="2762250"/>
            <a:ext cx="42672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749480" y="2546449"/>
            <a:ext cx="673894" cy="501551"/>
          </a:xfrm>
          <a:prstGeom prst="roundRect">
            <a:avLst>
              <a:gd fmla="val 10129" name="adj"/>
            </a:avLst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846272" y="2622649"/>
            <a:ext cx="4803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E2E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846272" y="2762250"/>
            <a:ext cx="48031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303764" y="3124200"/>
            <a:ext cx="21620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WP0-WP9 | Unit + API verifier + Playwright E2E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34901" y="304800"/>
            <a:ext cx="65669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MODULAR HARNESS #1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34901" y="498425"/>
            <a:ext cx="656691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UAT Harness: 6-Layer Programmatic Verification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07950" y="990600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44426" y="1088975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41632" y="1088975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025277" y="1093738"/>
            <a:ext cx="225096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025277" y="1249263"/>
            <a:ext cx="225096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Playwright login, cookie verification, storageState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07950" y="1542901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44426" y="1641277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41632" y="1641277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025277" y="1646039"/>
            <a:ext cx="23815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Navigation &amp; 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025277" y="1801564"/>
            <a:ext cx="23815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Visit routes, check no 500/blank, expected selectors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07950" y="2095202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44426" y="2193578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41632" y="2193578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025277" y="2198340"/>
            <a:ext cx="247107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Console Error Audit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025277" y="2353866"/>
            <a:ext cx="247107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Collect errors, filter 30 SAFE_CONSOLE_PATTERNS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07950" y="2647504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44426" y="2745879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41632" y="2745879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025277" y="2750641"/>
            <a:ext cx="250113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Contract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025277" y="2906167"/>
            <a:ext cx="250113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httpx checks against endpoint registry (status + JSON)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507950" y="3199805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44426" y="3298180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41632" y="3298180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025277" y="3302943"/>
            <a:ext cx="24850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Smoke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025277" y="3458468"/>
            <a:ext cx="248504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WebSocket client sends prompts, verifies done events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07950" y="3752106"/>
            <a:ext cx="3936950" cy="476101"/>
          </a:xfrm>
          <a:prstGeom prst="roundRect">
            <a:avLst>
              <a:gd fmla="val 16005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44426" y="3850481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41632" y="3850481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025277" y="3855244"/>
            <a:ext cx="216412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UX Interaction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025277" y="4010769"/>
            <a:ext cx="216412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Mechanical UX scenarios: click, fill, wait, assert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699099" y="1117550"/>
            <a:ext cx="3936950" cy="1022896"/>
          </a:xfrm>
          <a:prstGeom prst="roundRect">
            <a:avLst>
              <a:gd fmla="val 9933" name="adj"/>
            </a:avLst>
          </a:prstGeom>
          <a:solidFill>
            <a:srgbClr val="22C55E">
              <a:alpha val="7843"/>
            </a:srgbClr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911775" y="1279475"/>
            <a:ext cx="358183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Why This Keeps the Agent Objective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911775" y="1498550"/>
            <a:ext cx="3581832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Zero LLM tokens for verification. The harness is pure Playwright + httpx. The agent cannot influence the outcome. Exit code 0 means pass. Exit code 1 means fail. No interpretation, no rationalization.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699099" y="2241947"/>
            <a:ext cx="3936950" cy="1371154"/>
          </a:xfrm>
          <a:prstGeom prst="roundRect">
            <a:avLst>
              <a:gd fmla="val 5557" name="adj"/>
            </a:avLst>
          </a:prstGeom>
          <a:solidFill>
            <a:srgbClr val="000000">
              <a:alpha val="30196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4886325" y="2378422"/>
            <a:ext cx="363374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$ python3 scripts/qa_uat_harness.py --full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886325" y="2562523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Layer 1: AUTH ............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886325" y="2689473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Layer 2: NAVIGATION ......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886325" y="2816423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Layer 3: CONSOLE .........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886325" y="2943374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Layer 4: API .............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886325" y="3070324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DE68A"/>
                </a:solidFill>
                <a:latin typeface="Courier New"/>
                <a:ea typeface="Courier New"/>
                <a:cs typeface="Courier New"/>
                <a:sym typeface="Courier New"/>
              </a:rPr>
              <a:t>Layer 5: AGENT ........... WARN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886325" y="3197275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Layer 6: UX .............. 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4886325" y="3362325"/>
            <a:ext cx="36337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Exit code: 0 (87.3s)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699099" y="3714601"/>
            <a:ext cx="4015689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Target: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&lt;90 seconds for layers 1-5. Two modes: CLI (zero tokens) + LLM-guided directive JSON.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34901" y="304800"/>
            <a:ext cx="523984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855F7"/>
                </a:solidFill>
                <a:latin typeface="Arial"/>
                <a:ea typeface="Arial"/>
                <a:cs typeface="Arial"/>
                <a:sym typeface="Arial"/>
              </a:rPr>
              <a:t>MODULAR HARNESS #2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34901" y="498425"/>
            <a:ext cx="523984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Hardening: Self-Improving Loop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507950" y="939701"/>
            <a:ext cx="1291084" cy="729853"/>
          </a:xfrm>
          <a:prstGeom prst="roundRect">
            <a:avLst>
              <a:gd fmla="val 10440" name="adj"/>
            </a:avLst>
          </a:prstGeom>
          <a:solidFill>
            <a:srgbClr val="A855F7">
              <a:alpha val="14901"/>
            </a:srgbClr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34244" y="1050727"/>
            <a:ext cx="103849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34244" y="1190327"/>
            <a:ext cx="103849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INITIALIZING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34244" y="1368028"/>
            <a:ext cx="1038496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Docker + API + DB health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1875234" y="939701"/>
            <a:ext cx="1291233" cy="729853"/>
          </a:xfrm>
          <a:prstGeom prst="roundRect">
            <a:avLst>
              <a:gd fmla="val 10440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2001527" y="1050727"/>
            <a:ext cx="10386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2001527" y="1190327"/>
            <a:ext cx="10386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2001527" y="1368028"/>
            <a:ext cx="103864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personas, real prompts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3242667" y="939701"/>
            <a:ext cx="1291084" cy="729853"/>
          </a:xfrm>
          <a:prstGeom prst="roundRect">
            <a:avLst>
              <a:gd fmla="val 10440" name="adj"/>
            </a:avLst>
          </a:prstGeom>
          <a:solidFill>
            <a:srgbClr val="F59E0B">
              <a:alpha val="14901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3368961" y="1050727"/>
            <a:ext cx="103849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3368961" y="1190327"/>
            <a:ext cx="103849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TRIAGING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3368961" y="1368028"/>
            <a:ext cx="1038496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BUG / DATA / FEATURE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4609951" y="939701"/>
            <a:ext cx="1291233" cy="729853"/>
          </a:xfrm>
          <a:prstGeom prst="roundRect">
            <a:avLst>
              <a:gd fmla="val 10440" name="adj"/>
            </a:avLst>
          </a:prstGeom>
          <a:solidFill>
            <a:srgbClr val="EF4444">
              <a:alpha val="14901"/>
            </a:srgbClr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4736244" y="1050727"/>
            <a:ext cx="10386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4736244" y="1190327"/>
            <a:ext cx="10386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736244" y="1368028"/>
            <a:ext cx="103864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Opus builders dispatch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5977384" y="939701"/>
            <a:ext cx="1291233" cy="729853"/>
          </a:xfrm>
          <a:prstGeom prst="roundRect">
            <a:avLst>
              <a:gd fmla="val 10440" name="adj"/>
            </a:avLst>
          </a:prstGeom>
          <a:solidFill>
            <a:srgbClr val="22C55E">
              <a:alpha val="14901"/>
            </a:srgbClr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6103677" y="1050727"/>
            <a:ext cx="10386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PHASE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6103677" y="1190327"/>
            <a:ext cx="10386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VERIFYING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6103677" y="1368028"/>
            <a:ext cx="103864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Re-run failing + regression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7344817" y="939701"/>
            <a:ext cx="1291233" cy="729853"/>
          </a:xfrm>
          <a:prstGeom prst="roundRect">
            <a:avLst>
              <a:gd fmla="val 10440" name="adj"/>
            </a:avLst>
          </a:prstGeom>
          <a:solidFill>
            <a:srgbClr val="A855F7">
              <a:alpha val="14901"/>
            </a:srgbClr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7471109" y="1050727"/>
            <a:ext cx="103864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PHASE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471109" y="1190327"/>
            <a:ext cx="10386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7471109" y="1368028"/>
            <a:ext cx="1038648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Summary + loop back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507950" y="2412950"/>
            <a:ext cx="2590800" cy="1453009"/>
          </a:xfrm>
          <a:prstGeom prst="roundRect">
            <a:avLst>
              <a:gd fmla="val 5244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695176" y="2549426"/>
            <a:ext cx="22606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Finding Categories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95176" y="2733526"/>
            <a:ext cx="2260675" cy="99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BUG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Code defect</a:t>
            </a:r>
            <a:b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Previously working</a:t>
            </a:r>
            <a:b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DATA_ACCURACY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Wrong numbers</a:t>
            </a:r>
            <a:b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MEMORY_ISSUE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Context lost</a:t>
            </a:r>
            <a:b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PREFERENCE_VIOLATION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Format</a:t>
            </a:r>
            <a:b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FEATURE_GAP_SMALL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-- Quick fix</a:t>
            </a:r>
            <a:b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FEATURE_GAP_LARGE -- Backlog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3276451" y="2412950"/>
            <a:ext cx="2590949" cy="1453009"/>
          </a:xfrm>
          <a:prstGeom prst="roundRect">
            <a:avLst>
              <a:gd fmla="val 5244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3463677" y="2549426"/>
            <a:ext cx="2260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Status Lifecycle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3463677" y="2733526"/>
            <a:ext cx="226082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Finding discovered: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3463677" y="2911227"/>
            <a:ext cx="2260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OPEN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3463677" y="3069878"/>
            <a:ext cx="226082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 fixes locally: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463677" y="3209479"/>
            <a:ext cx="2260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FIXED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463677" y="3368129"/>
            <a:ext cx="226082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Can't fix? Escalate to GitLab: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3463677" y="3507730"/>
            <a:ext cx="2260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REGISTERED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045101" y="2412950"/>
            <a:ext cx="2590949" cy="1453009"/>
          </a:xfrm>
          <a:prstGeom prst="roundRect">
            <a:avLst>
              <a:gd fmla="val 5244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232327" y="2549426"/>
            <a:ext cx="22608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Objectivity Mechanisms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232327" y="2733526"/>
            <a:ext cx="2260827" cy="711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SHA-256 finding fingerprints prevent duplicates. Atomic JSON persistence with fcntl locks. Re-runs exact failing questions (not paraphrased). Regression checks 5 previously-passing tests. Every finding has a status -- none disappear.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34901" y="4902250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634901" y="304800"/>
            <a:ext cx="528872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GITLAB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634901" y="498425"/>
            <a:ext cx="52887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Automated Issue Management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07950" y="990600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505157" y="990600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914251" y="990600"/>
            <a:ext cx="37307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914251" y="1168301"/>
            <a:ext cx="37307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Hardening harness tests agent as 3 restaurant owner personas. Findings auto-registered with SHA-256 fingerprint.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507950" y="1561951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05157" y="1561951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914251" y="1561951"/>
            <a:ext cx="37307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Classify &amp; Triage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914251" y="1739652"/>
            <a:ext cx="37307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Each finding gets category (BUG, DATA_ACCURACY, etc.) and priority (P0-P3). Agent attempts fix locally first.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507950" y="2133302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505157" y="2133302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914251" y="2133302"/>
            <a:ext cx="37307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Escalate to GitLab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914251" y="2311003"/>
            <a:ext cx="37307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Unfixable findings auto-create GitLab issues with structured labels, priority, reproduce steps, and finding_id marker.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507950" y="2704654"/>
            <a:ext cx="279350" cy="279350"/>
          </a:xfrm>
          <a:prstGeom prst="roundRect">
            <a:avLst>
              <a:gd fmla="val 5000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505157" y="2704654"/>
            <a:ext cx="284937" cy="27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914251" y="2704654"/>
            <a:ext cx="37307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Retrieve &amp; Close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914251" y="2882354"/>
            <a:ext cx="37307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Future iterations find existing issues by finding_id. When fixed, auto-close with resolution note. Dedup prevents duplicates.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4826050" y="990600"/>
            <a:ext cx="38862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Structured Labels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4826050" y="1212949"/>
            <a:ext cx="880616" cy="164902"/>
          </a:xfrm>
          <a:prstGeom prst="roundRect">
            <a:avLst>
              <a:gd fmla="val 23105" name="adj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4927550" y="1238250"/>
            <a:ext cx="69116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hardening::bug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5799832" y="1212949"/>
            <a:ext cx="1185267" cy="164902"/>
          </a:xfrm>
          <a:prstGeom prst="roundRect">
            <a:avLst>
              <a:gd fmla="val 23105" name="adj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5901333" y="1238250"/>
            <a:ext cx="100191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hardening::regression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7078266" y="1212949"/>
            <a:ext cx="1348829" cy="164902"/>
          </a:xfrm>
          <a:prstGeom prst="roundRect">
            <a:avLst>
              <a:gd fmla="val 23105" name="adj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7179766" y="1238250"/>
            <a:ext cx="116874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hardening::data-accuracy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4826050" y="1428750"/>
            <a:ext cx="1077813" cy="164902"/>
          </a:xfrm>
          <a:prstGeom prst="roundRect">
            <a:avLst>
              <a:gd fmla="val 23105" name="adj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4927550" y="1454051"/>
            <a:ext cx="89230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hardening::memory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997029" y="1428750"/>
            <a:ext cx="1399729" cy="164902"/>
          </a:xfrm>
          <a:prstGeom prst="roundRect">
            <a:avLst>
              <a:gd fmla="val 23105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6098530" y="1454051"/>
            <a:ext cx="122066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hardening::feature-request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4826050" y="1644551"/>
            <a:ext cx="1710184" cy="164902"/>
          </a:xfrm>
          <a:prstGeom prst="roundRect">
            <a:avLst>
              <a:gd fmla="val 23105" name="adj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927550" y="1669852"/>
            <a:ext cx="153732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hardening::preference-adherence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826050" y="1974503"/>
            <a:ext cx="3810000" cy="1164878"/>
          </a:xfrm>
          <a:prstGeom prst="roundRect">
            <a:avLst>
              <a:gd fmla="val 6541" name="adj"/>
            </a:avLst>
          </a:prstGeom>
          <a:solidFill>
            <a:srgbClr val="000000">
              <a:alpha val="30196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5013275" y="2110978"/>
            <a:ext cx="3504259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ourier New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Auto-create GitLab issue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5013275" y="2253853"/>
            <a:ext cx="35042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python3 scripts/gitlab_issues.py create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5140226" y="2380804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--title "Bug: Revenue off by 3%"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140226" y="2507754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--labels "hardening::data-accuracy"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5140226" y="2634704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--priority "priority::P1"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140226" y="2761655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--finding-id "F-a3c9e1"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5140226" y="2888605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--iteration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4826050" y="3266331"/>
            <a:ext cx="3810000" cy="809476"/>
          </a:xfrm>
          <a:prstGeom prst="roundRect">
            <a:avLst>
              <a:gd fmla="val 9413" name="adj"/>
            </a:avLst>
          </a:prstGeom>
          <a:solidFill>
            <a:srgbClr val="000000">
              <a:alpha val="30196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5013275" y="3402806"/>
            <a:ext cx="3504259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ourier New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Dedup: find existing before creating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013275" y="3545681"/>
            <a:ext cx="35042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python3 scripts/gitlab_issues.py find \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5140226" y="3672632"/>
            <a:ext cx="3374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--finding-id "F-a3c9e1"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013275" y="3825032"/>
            <a:ext cx="35042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Found: issue #42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634901" y="304800"/>
            <a:ext cx="4646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MODULAR HARNESSES #3 &amp; #4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634901" y="498425"/>
            <a:ext cx="464643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ORM Drift + Production Hardening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507950" y="990600"/>
            <a:ext cx="3975199" cy="2231082"/>
          </a:xfrm>
          <a:prstGeom prst="roundRect">
            <a:avLst>
              <a:gd fmla="val 4554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720626" y="1177826"/>
            <a:ext cx="362084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ORM Drift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720626" y="1371451"/>
            <a:ext cx="3620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16 Layers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720626" y="1663452"/>
            <a:ext cx="3620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Schema alignment + code integrity verification against live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720626" y="2025402"/>
            <a:ext cx="76200" cy="762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847576" y="2006352"/>
            <a:ext cx="180769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L1-4: Schema, columns, types, nullable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720626" y="2165003"/>
            <a:ext cx="76200" cy="76200"/>
          </a:xfrm>
          <a:prstGeom prst="roundRect">
            <a:avLst>
              <a:gd fmla="val 50000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847576" y="2145953"/>
            <a:ext cx="117436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L5: FK integrity resolution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720626" y="2304604"/>
            <a:ext cx="76200" cy="762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847576" y="2285554"/>
            <a:ext cx="177307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L6-7: Forbidden attrs, import validation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720626" y="2444204"/>
            <a:ext cx="76200" cy="762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847576" y="2425154"/>
            <a:ext cx="173831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L8: Module import test (AttributeError)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720626" y="2583805"/>
            <a:ext cx="76200" cy="762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847576" y="2564755"/>
            <a:ext cx="192867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L9-12: Query SQL, location guards, labels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720626" y="2723406"/>
            <a:ext cx="76200" cy="762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847576" y="2704356"/>
            <a:ext cx="161186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L13-16: Defaults, text SQL, metrics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720626" y="2920157"/>
            <a:ext cx="36208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38 ORM models | AST parsing | No DB changes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660850" y="990600"/>
            <a:ext cx="3975199" cy="2158752"/>
          </a:xfrm>
          <a:prstGeom prst="roundRect">
            <a:avLst>
              <a:gd fmla="val 4706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873526" y="1177826"/>
            <a:ext cx="362084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Production Hardening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4873526" y="1371451"/>
            <a:ext cx="3620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3-Way Reconciliation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4873526" y="1663452"/>
            <a:ext cx="362084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MSSQL source of truth vs RDS vs Agent response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4873526" y="1892052"/>
            <a:ext cx="76200" cy="762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5000476" y="1873002"/>
            <a:ext cx="216002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ETL_DRIFT:</a:t>
            </a: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MSSQL != RDS (not agent's fault)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4873526" y="2031653"/>
            <a:ext cx="76200" cy="762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5000476" y="2012603"/>
            <a:ext cx="196587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AGENT_DRIFT:</a:t>
            </a: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RDS != Agent (agent bug)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4873526" y="2171254"/>
            <a:ext cx="76200" cy="76200"/>
          </a:xfrm>
          <a:prstGeom prst="roundRect">
            <a:avLst>
              <a:gd fmla="val 50000" name="adj"/>
            </a:avLst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5000476" y="2152204"/>
            <a:ext cx="141041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E2E_DRIFT:</a:t>
            </a: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All three disagree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4873526" y="2310854"/>
            <a:ext cx="76200" cy="762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5000476" y="2291804"/>
            <a:ext cx="185141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ALL_MATCH:</a:t>
            </a: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Source of truth confirmed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873526" y="2507605"/>
            <a:ext cx="3620845" cy="26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Thresholds:</a:t>
            </a: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Currency +/-1%, counts exact +/-1, percentages +/-0.5pp PASS / +/-1pp WARN / +/-2pp FAIL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4873526" y="2847826"/>
            <a:ext cx="362084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 (2-way) or Prod (3-way) mode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634901" y="304800"/>
            <a:ext cx="60169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COMPOSITION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634901" y="498425"/>
            <a:ext cx="60169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Modular Harnesses Chain Into Full Pipelines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5079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660413" y="1127075"/>
            <a:ext cx="965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UAT HARNESS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660413" y="128572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layers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660413" y="142532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UI + API + Agent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18795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2032013" y="1127075"/>
            <a:ext cx="965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HARDENING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2032013" y="128572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phases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2032013" y="142532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Agent quality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32511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3403613" y="1127075"/>
            <a:ext cx="965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ORM DRIFT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3403613" y="128572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 layers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3403613" y="142532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Schema integrity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46227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4775213" y="1127075"/>
            <a:ext cx="96517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PROD HARDENING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4775213" y="141907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3-way reconcile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4775213" y="155867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Data accuracy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59943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6146813" y="1127075"/>
            <a:ext cx="965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RELOAD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6146813" y="128572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 layers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6146813" y="142532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ETL accuracy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7365950" y="990600"/>
            <a:ext cx="1270099" cy="799802"/>
          </a:xfrm>
          <a:prstGeom prst="roundRect">
            <a:avLst>
              <a:gd fmla="val 952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7518413" y="1127075"/>
            <a:ext cx="96517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7518413" y="1285726"/>
            <a:ext cx="96517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tiers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7518413" y="1425327"/>
            <a:ext cx="96517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Investigation QA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507950" y="2489150"/>
            <a:ext cx="829066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Example: Lifecycle SHIPPING Phase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507950" y="2765227"/>
            <a:ext cx="841177" cy="412700"/>
          </a:xfrm>
          <a:prstGeom prst="roundRect">
            <a:avLst>
              <a:gd fmla="val 12309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638744" y="2850952"/>
            <a:ext cx="57959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ORM Drift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638744" y="2996952"/>
            <a:ext cx="579590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Schema safe?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1399877" y="2885926"/>
            <a:ext cx="155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1603028" y="2765227"/>
            <a:ext cx="1155948" cy="412700"/>
          </a:xfrm>
          <a:prstGeom prst="roundRect">
            <a:avLst>
              <a:gd fmla="val 12309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1730673" y="2850952"/>
            <a:ext cx="90065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1730673" y="2996952"/>
            <a:ext cx="90065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Compiles?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2809726" y="2885926"/>
            <a:ext cx="155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3012877" y="2765227"/>
            <a:ext cx="906066" cy="412700"/>
          </a:xfrm>
          <a:prstGeom prst="roundRect">
            <a:avLst>
              <a:gd fmla="val 12309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3143021" y="2850952"/>
            <a:ext cx="64577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UAT Smoke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3143021" y="2996952"/>
            <a:ext cx="645777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L1-L2 pass?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3969693" y="2885926"/>
            <a:ext cx="155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4172843" y="2765227"/>
            <a:ext cx="734318" cy="412700"/>
          </a:xfrm>
          <a:prstGeom prst="roundRect">
            <a:avLst>
              <a:gd fmla="val 12309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4304705" y="2850952"/>
            <a:ext cx="47059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UAT Full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304705" y="2996952"/>
            <a:ext cx="470595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All 6 layers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4957911" y="2885926"/>
            <a:ext cx="155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5161062" y="2765227"/>
            <a:ext cx="838200" cy="412700"/>
          </a:xfrm>
          <a:prstGeom prst="roundRect">
            <a:avLst>
              <a:gd fmla="val 12309" name="adj"/>
            </a:avLst>
          </a:prstGeom>
          <a:solidFill>
            <a:srgbClr val="136EF6">
              <a:alpha val="14901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5291885" y="2850952"/>
            <a:ext cx="57655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5291885" y="2996952"/>
            <a:ext cx="576554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 quality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6050012" y="2885926"/>
            <a:ext cx="1554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6253163" y="2765227"/>
            <a:ext cx="682972" cy="412700"/>
          </a:xfrm>
          <a:prstGeom prst="roundRect">
            <a:avLst>
              <a:gd fmla="val 12309" name="adj"/>
            </a:avLst>
          </a:prstGeom>
          <a:solidFill>
            <a:srgbClr val="22C55E">
              <a:alpha val="14901"/>
            </a:srgbClr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6385538" y="2850952"/>
            <a:ext cx="41822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SHIP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6385538" y="2996952"/>
            <a:ext cx="418222" cy="9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Exit 0 only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507950" y="3336727"/>
            <a:ext cx="8128099" cy="837456"/>
          </a:xfrm>
          <a:prstGeom prst="roundRect">
            <a:avLst>
              <a:gd fmla="val 12132" name="adj"/>
            </a:avLst>
          </a:prstGeom>
          <a:solidFill>
            <a:srgbClr val="22C55E">
              <a:alpha val="5882"/>
            </a:srgbClr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720626" y="3498652"/>
            <a:ext cx="785680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Key Insight: Each Harness is an Independent 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720626" y="3692277"/>
            <a:ext cx="785680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Every harness has: a CLI entry point, Pydantic models for all I/O, exit codes (0/1/2), JSON output, and no dependency on other harnesses. Teams compose them into pipelines matching their codebase's specific quality concerns.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4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634901" y="304800"/>
            <a:ext cx="601662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CONTEXT REPOSITORY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634901" y="498425"/>
            <a:ext cx="60166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Documentation as the Knowledge Backbone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507950" y="990600"/>
            <a:ext cx="3886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docs/ Directory: 15 Sections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507950" y="1234976"/>
            <a:ext cx="44678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609451" y="1285726"/>
            <a:ext cx="248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ARCH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1056233" y="1234976"/>
            <a:ext cx="223350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 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1056233" y="1380976"/>
            <a:ext cx="223350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10-section system overview, layered 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507950" y="1596777"/>
            <a:ext cx="44678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609451" y="1647527"/>
            <a:ext cx="248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1056233" y="1596777"/>
            <a:ext cx="211281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Architecture 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1056233" y="1742777"/>
            <a:ext cx="211281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Two-schema pipeline, table reference, filtering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507950" y="1958578"/>
            <a:ext cx="44678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609451" y="2009329"/>
            <a:ext cx="248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AGNT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1056233" y="1958578"/>
            <a:ext cx="230242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Platform Guide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1056233" y="2104579"/>
            <a:ext cx="230242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ADDING_AN_AGENT.md: 1,655 lines, 5 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507950" y="2320379"/>
            <a:ext cx="44678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609451" y="2371130"/>
            <a:ext cx="248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STBI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1056233" y="2320379"/>
            <a:ext cx="19399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STBI Migration Bible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1056233" y="2466380"/>
            <a:ext cx="19399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 invariants, 7 critical gaps, truth hierarchy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507950" y="2682180"/>
            <a:ext cx="32489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609451" y="2732931"/>
            <a:ext cx="12432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934343" y="2682180"/>
            <a:ext cx="191137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Stored Procedure 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934343" y="2828181"/>
            <a:ext cx="19113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51 STBI SPs documented, flag definitions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507950" y="3043982"/>
            <a:ext cx="446782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609451" y="3094732"/>
            <a:ext cx="248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MIGR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1056233" y="3043982"/>
            <a:ext cx="18249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Migration + Discrepancy 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1056233" y="3189982"/>
            <a:ext cx="182499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 locations, rollback guide, FK indexes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507950" y="3405783"/>
            <a:ext cx="385911" cy="215801"/>
          </a:xfrm>
          <a:prstGeom prst="roundRect">
            <a:avLst>
              <a:gd fmla="val 23540" name="adj"/>
            </a:avLst>
          </a:prstGeom>
          <a:solidFill>
            <a:srgbClr val="136EF6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609451" y="3456533"/>
            <a:ext cx="18656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SOP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995363" y="3405783"/>
            <a:ext cx="196905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SOPs + Runbooks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995363" y="3551783"/>
            <a:ext cx="196905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Deployment, development, troubleshooting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4572149" y="990600"/>
            <a:ext cx="4063901" cy="2314277"/>
          </a:xfrm>
          <a:prstGeom prst="roundRect">
            <a:avLst>
              <a:gd fmla="val 4390" name="adj"/>
            </a:avLst>
          </a:prstGeom>
          <a:solidFill>
            <a:srgbClr val="F59E0B">
              <a:alpha val="5882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4784824" y="1152525"/>
            <a:ext cx="371132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How Agents Use the Context Repository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4784824" y="1396901"/>
            <a:ext cx="371132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During PLANNING, investigation agents read these docs to ground their specs in reality. Every file path, function signature, and SQL column referenced in a plan is verified against actual documentation and code.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4784824" y="2184202"/>
            <a:ext cx="371132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Self-Check Quality Gate:</a:t>
            </a: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"Every file path in spec exists in codebase" -- enforced before PLAN_REVIEW.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4784824" y="2628602"/>
            <a:ext cx="371132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other teams:</a:t>
            </a: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The docs/ directory IS the agent's memory. New engineers read docs. So do agents. Same source of truth, same context, same grounding.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4572149" y="3482578"/>
            <a:ext cx="414517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Plans as Living Artifacts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4572149" y="3701653"/>
            <a:ext cx="4145179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.claude/plans/ contains engineering specs with file:line references, Pydantic interface contracts, falsifiable ACs, and risk registers. These persist across sessions and codex reviews.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5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634901" y="304800"/>
            <a:ext cx="766917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ADOPTION RECIPE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634901" y="498425"/>
            <a:ext cx="76691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Applying Harness-Driven Development to Any Codebase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507950" y="990600"/>
            <a:ext cx="2590800" cy="1578322"/>
          </a:xfrm>
          <a:prstGeom prst="roundRect">
            <a:avLst>
              <a:gd fmla="val 643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720626" y="1196876"/>
            <a:ext cx="292447" cy="304800"/>
          </a:xfrm>
          <a:prstGeom prst="roundRect">
            <a:avLst>
              <a:gd fmla="val 52112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717701" y="1196876"/>
            <a:ext cx="2982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1114574" y="1177826"/>
            <a:ext cx="18069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Identify Quality Concerns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720626" y="1596926"/>
            <a:ext cx="2208758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What breaks most? Schema drift? Data accuracy? UI regressions? API contracts? Each concern maps to a harness type.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720626" y="2153096"/>
            <a:ext cx="22087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Example: Payment gateway team needs API contract checks + data reconciliation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3276451" y="990600"/>
            <a:ext cx="2590949" cy="1578322"/>
          </a:xfrm>
          <a:prstGeom prst="roundRect">
            <a:avLst>
              <a:gd fmla="val 643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3489127" y="1196876"/>
            <a:ext cx="273100" cy="304800"/>
          </a:xfrm>
          <a:prstGeom prst="roundRect">
            <a:avLst>
              <a:gd fmla="val 55804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3486396" y="1196876"/>
            <a:ext cx="2785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3863727" y="1177826"/>
            <a:ext cx="18268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Pydantic Models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3489127" y="1596926"/>
            <a:ext cx="2208910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Define findings, thresholds, verdicts, and reports as typed models. No Dict[str, Any]. The model IS the specification.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3489127" y="2153096"/>
            <a:ext cx="2208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Example: MetricThreshold, AgentClaim, DBGroundTruth, Verdict enum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6045101" y="990600"/>
            <a:ext cx="2590949" cy="1578322"/>
          </a:xfrm>
          <a:prstGeom prst="roundRect">
            <a:avLst>
              <a:gd fmla="val 6437" name="adj"/>
            </a:avLst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6257776" y="1196876"/>
            <a:ext cx="291257" cy="304800"/>
          </a:xfrm>
          <a:prstGeom prst="roundRect">
            <a:avLst>
              <a:gd fmla="val 52325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6254864" y="1196876"/>
            <a:ext cx="29708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6650534" y="1177826"/>
            <a:ext cx="18082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Layers Incrementally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6257776" y="1596926"/>
            <a:ext cx="2208910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Start with 2-3 layers. Add more as you discover what breaks. Each layer has one concern, one exit code, one verdict.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6257776" y="2153096"/>
            <a:ext cx="2208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Example: Start with auth + navigation, add console audit later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507950" y="2746623"/>
            <a:ext cx="8128099" cy="1450777"/>
          </a:xfrm>
          <a:prstGeom prst="roundRect">
            <a:avLst>
              <a:gd fmla="val 7003" name="adj"/>
            </a:avLst>
          </a:prstGeom>
          <a:solidFill>
            <a:srgbClr val="136EF6">
              <a:alpha val="7843"/>
            </a:srgbClr>
          </a:solidFill>
          <a:ln cap="flat" cmpd="sng" w="95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746075" y="2933849"/>
            <a:ext cx="2428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You 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746075" y="3152924"/>
            <a:ext cx="2428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Agents that ship production code on codebases with 100K+ lines and years of technical debt -- because every phase transition is verified by machines, not by the agent's self-assessment.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3381226" y="2933849"/>
            <a:ext cx="242902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Costs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3381226" y="3152924"/>
            <a:ext cx="242902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One Pydantic state machine (~1,000 lines). Domain-specific verification layers (~500 lines each). Claude Code hooks for enforcement. Total: 2-5 days for the first harness, 1 day for each additional.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6016526" y="2933849"/>
            <a:ext cx="242902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Saves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6016526" y="3152924"/>
            <a:ext cx="242902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Zero regressions from 30+ features shipped through lifecycle. Every finding tracked. Every decision auditable. Every ship verified by 6+ programmatic layers.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634901" y="4851499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6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634901" y="304800"/>
            <a:ext cx="51516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ENTERPRISE APPLICABILITY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634901" y="498425"/>
            <a:ext cx="515164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Harness Catalog: Pick What You Need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644426" y="1088975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Harness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1997125" y="1088975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2878931" y="1088975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5076081" y="1088975"/>
            <a:ext cx="183987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CLI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7152829" y="1088975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Best For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644426" y="14064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Lifecycle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1997125" y="14064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phases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2878931" y="14064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Full development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5076081" y="14159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lifecycle_state.py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7152829" y="14064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Feature 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644426" y="17112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1997125" y="17112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2878931" y="17112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UI/API/agent verification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5076081" y="17207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qa_uat_harness.py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7152829" y="17112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Web applications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644426" y="20160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1997125" y="20160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phases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2878931" y="20160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 quality + GitLab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5076081" y="20255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hardening_runner.py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7152829" y="20160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AI/chat agents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644426" y="23208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ORM Drift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1997125" y="23208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 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2878931" y="23208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Schema + code integrity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5076081" y="23303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verify_orm_drift.py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7152829" y="23208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Any ORM codebase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644426" y="26256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 Hardening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1997125" y="26256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3-way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2878931" y="26256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Data reconciliation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5076081" y="26351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prod_hardening_runner.py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7152829" y="26256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ETL + data pipelines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644426" y="2930426"/>
            <a:ext cx="110134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/>
          <p:nvPr/>
        </p:nvSpPr>
        <p:spPr>
          <a:xfrm>
            <a:off x="1997125" y="2930426"/>
            <a:ext cx="621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 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2878931" y="2930426"/>
            <a:ext cx="196268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ETL accuracy + diagnosis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5076081" y="2939951"/>
            <a:ext cx="183987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reload_harness.py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7152829" y="2930426"/>
            <a:ext cx="1373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Data migrations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6"/>
          <p:cNvSpPr/>
          <p:nvPr/>
        </p:nvSpPr>
        <p:spPr>
          <a:xfrm>
            <a:off x="507950" y="4089499"/>
            <a:ext cx="1898749" cy="673001"/>
          </a:xfrm>
          <a:prstGeom prst="roundRect">
            <a:avLst>
              <a:gd fmla="val 11322" name="adj"/>
            </a:avLst>
          </a:prstGeom>
          <a:solidFill>
            <a:srgbClr val="F59E0B">
              <a:alpha val="5882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695176" y="4225975"/>
            <a:ext cx="155478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Payment Gateway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695176" y="4397425"/>
            <a:ext cx="1554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Lifecycle + UAT + Prod Hardening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2584400" y="4089499"/>
            <a:ext cx="1898749" cy="673001"/>
          </a:xfrm>
          <a:prstGeom prst="roundRect">
            <a:avLst>
              <a:gd fmla="val 11322" name="adj"/>
            </a:avLst>
          </a:prstGeom>
          <a:solidFill>
            <a:srgbClr val="F59E0B">
              <a:alpha val="5882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2771626" y="4225975"/>
            <a:ext cx="155478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SkyTab POS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2771626" y="4397425"/>
            <a:ext cx="155478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Lifecycle + ORM Drift + UAT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4660850" y="4089499"/>
            <a:ext cx="1898749" cy="673001"/>
          </a:xfrm>
          <a:prstGeom prst="roundRect">
            <a:avLst>
              <a:gd fmla="val 11322" name="adj"/>
            </a:avLst>
          </a:prstGeom>
          <a:solidFill>
            <a:srgbClr val="F59E0B">
              <a:alpha val="5882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4848076" y="4225975"/>
            <a:ext cx="155478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Data Platform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4848076" y="4397425"/>
            <a:ext cx="1554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Lifecycle + Reload + Prod Hardening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6737300" y="4089499"/>
            <a:ext cx="1898749" cy="673001"/>
          </a:xfrm>
          <a:prstGeom prst="roundRect">
            <a:avLst>
              <a:gd fmla="val 11322" name="adj"/>
            </a:avLst>
          </a:prstGeom>
          <a:solidFill>
            <a:srgbClr val="F59E0B">
              <a:alpha val="5882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6924526" y="4225975"/>
            <a:ext cx="155478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Any AI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6924526" y="4397425"/>
            <a:ext cx="155478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Lifecycle + Hardening + UAT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634901" y="4902250"/>
            <a:ext cx="267479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7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762000" y="762000"/>
            <a:ext cx="7772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6E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36EF6"/>
                </a:solidFill>
                <a:latin typeface="Arial"/>
                <a:ea typeface="Arial"/>
                <a:cs typeface="Arial"/>
                <a:sym typeface="Arial"/>
              </a:rPr>
              <a:t>THE BOTTOM 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762000" y="1006376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Agent Is Not the Product.</a:t>
            </a:r>
            <a:b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The Harness Is.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762000" y="1920776"/>
            <a:ext cx="7620000" cy="1257300"/>
          </a:xfrm>
          <a:prstGeom prst="rect">
            <a:avLst/>
          </a:prstGeom>
          <a:solidFill>
            <a:srgbClr val="136EF6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9" name="Google Shape;629;p17"/>
          <p:cNvCxnSpPr/>
          <p:nvPr/>
        </p:nvCxnSpPr>
        <p:spPr>
          <a:xfrm>
            <a:off x="785813" y="1920776"/>
            <a:ext cx="0" cy="1257300"/>
          </a:xfrm>
          <a:prstGeom prst="straightConnector1">
            <a:avLst/>
          </a:prstGeom>
          <a:noFill/>
          <a:ln cap="flat" cmpd="sng" w="47625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0" name="Google Shape;630;p17"/>
          <p:cNvSpPr/>
          <p:nvPr/>
        </p:nvSpPr>
        <p:spPr>
          <a:xfrm>
            <a:off x="1114425" y="2149376"/>
            <a:ext cx="710203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 will keep improving. Models will change. But the discipline of programmatic verification -- state machines, exit codes, layered checks, and audit trails -- that is the durable competitive advantage.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762000" y="3431977"/>
            <a:ext cx="1714500" cy="25301"/>
          </a:xfrm>
          <a:prstGeom prst="roundRect">
            <a:avLst>
              <a:gd fmla="val 50196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744855" y="3558778"/>
            <a:ext cx="174879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7"/>
          <p:cNvSpPr/>
          <p:nvPr/>
        </p:nvSpPr>
        <p:spPr>
          <a:xfrm>
            <a:off x="744855" y="4019104"/>
            <a:ext cx="17487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Features shipped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through lifecycle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2730401" y="3431977"/>
            <a:ext cx="1714649" cy="25301"/>
          </a:xfrm>
          <a:prstGeom prst="roundRect">
            <a:avLst>
              <a:gd fmla="val 50196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2713254" y="3558778"/>
            <a:ext cx="174894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7"/>
          <p:cNvSpPr/>
          <p:nvPr/>
        </p:nvSpPr>
        <p:spPr>
          <a:xfrm>
            <a:off x="2713254" y="4019104"/>
            <a:ext cx="17489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Production regressions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from harness-verified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4698950" y="3431977"/>
            <a:ext cx="1714500" cy="25301"/>
          </a:xfrm>
          <a:prstGeom prst="roundRect">
            <a:avLst>
              <a:gd fmla="val 50196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7"/>
          <p:cNvSpPr/>
          <p:nvPr/>
        </p:nvSpPr>
        <p:spPr>
          <a:xfrm>
            <a:off x="4681805" y="3558778"/>
            <a:ext cx="174879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7"/>
          <p:cNvSpPr/>
          <p:nvPr/>
        </p:nvSpPr>
        <p:spPr>
          <a:xfrm>
            <a:off x="4681805" y="4019104"/>
            <a:ext cx="17487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Modular harnesses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ready to compose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7"/>
          <p:cNvSpPr/>
          <p:nvPr/>
        </p:nvSpPr>
        <p:spPr>
          <a:xfrm>
            <a:off x="6667351" y="3431977"/>
            <a:ext cx="1714649" cy="25301"/>
          </a:xfrm>
          <a:prstGeom prst="roundRect">
            <a:avLst>
              <a:gd fmla="val 50196" name="adj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7"/>
          <p:cNvSpPr/>
          <p:nvPr/>
        </p:nvSpPr>
        <p:spPr>
          <a:xfrm>
            <a:off x="6650205" y="3558778"/>
            <a:ext cx="174894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7"/>
          <p:cNvSpPr/>
          <p:nvPr/>
        </p:nvSpPr>
        <p:spPr>
          <a:xfrm>
            <a:off x="6650205" y="4019104"/>
            <a:ext cx="17489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Audit trail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from plan to 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762000" y="4305449"/>
            <a:ext cx="7620000" cy="1265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762000" y="4435525"/>
            <a:ext cx="7772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Shift4 Intelligence Platform | Harness-Driven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762000" y="4629150"/>
            <a:ext cx="77724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Confidential -- For internal distribution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