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Inter"/>
      <p:regular r:id="rId24"/>
      <p:bold r:id="rId25"/>
      <p:italic r:id="rId26"/>
      <p:boldItalic r:id="rId27"/>
    </p:embeddedFont>
    <p:embeddedFont>
      <p:font typeface="JetBrains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nter-regular.fntdata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JetBrainsMono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etBrainsMono-boldItalic.fntdata"/><Relationship Id="rId30" Type="http://schemas.openxmlformats.org/officeDocument/2006/relationships/font" Target="fonts/JetBrains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6caa7a6d9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6caa7a6d9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6caa7a6d9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6caa7a6d9_2_8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6caa7a6d9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6caa7a6d9_2_11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6caa7a6d9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e6caa7a6d9_2_14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6caa7a6d9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6caa7a6d9_2_17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6caa7a6d9_2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6caa7a6d9_2_19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6caa7a6d9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e6caa7a6d9_2_22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6caa7a6d9_2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e6caa7a6d9_2_23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6caa7a6d9_2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e6caa7a6d9_2_26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6caa7a6d9_2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e6caa7a6d9_2_28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6caa7a6d9_2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e6caa7a6d9_2_29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6caa7a6d9_2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e6caa7a6d9_2_35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6caa7a6d9_2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e6caa7a6d9_2_38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e6caa7a6d9_2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e6caa7a6d9_2_42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6caa7a6d9_2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e6caa7a6d9_2_45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e6caa7a6d9_2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e6caa7a6d9_2_4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e6caa7a6d9_2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e6caa7a6d9_2_50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-685818" y="4389120"/>
            <a:ext cx="10287274" cy="41148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548655" y="1097280"/>
            <a:ext cx="7544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SKYTAB INTELLIGENCE  ·  AGENT PLATFORM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548655" y="1440180"/>
            <a:ext cx="822981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4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Tools, Not Telephones.</a:t>
            </a:r>
            <a:endParaRPr sz="1100"/>
          </a:p>
        </p:txBody>
      </p:sp>
      <p:sp>
        <p:nvSpPr>
          <p:cNvPr id="133" name="Google Shape;133;p25"/>
          <p:cNvSpPr txBox="1"/>
          <p:nvPr/>
        </p:nvSpPr>
        <p:spPr>
          <a:xfrm>
            <a:off x="548655" y="2400300"/>
            <a:ext cx="8229819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Why we build agent integrations on SDKs and CLIs —</a:t>
            </a:r>
            <a:br>
              <a:rPr b="0" i="0" lang="en" sz="17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7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and keep MCP off the hot path.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548655" y="384048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A token-economics, topology, and progressive-disclosure playbook.</a:t>
            </a:r>
            <a:endParaRPr sz="1100"/>
          </a:p>
        </p:txBody>
      </p:sp>
      <p:sp>
        <p:nvSpPr>
          <p:cNvPr id="135" name="Google Shape;135;p25"/>
          <p:cNvSpPr txBox="1"/>
          <p:nvPr/>
        </p:nvSpPr>
        <p:spPr>
          <a:xfrm>
            <a:off x="548655" y="459486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Foundry  ·  Jira  ·  ReAct  ·  Topology  ·  Templates</a:t>
            </a:r>
            <a:endParaRPr sz="1100"/>
          </a:p>
        </p:txBody>
      </p:sp>
      <p:sp>
        <p:nvSpPr>
          <p:cNvPr id="136" name="Google Shape;136;p25"/>
          <p:cNvSpPr txBox="1"/>
          <p:nvPr/>
        </p:nvSpPr>
        <p:spPr>
          <a:xfrm>
            <a:off x="8092656" y="459486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01 / 17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01 · THE THESIS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The cheapest tool call is the one you didn't have to widen.</a:t>
            </a:r>
            <a:endParaRPr sz="1100"/>
          </a:p>
        </p:txBody>
      </p:sp>
      <p:sp>
        <p:nvSpPr>
          <p:cNvPr id="145" name="Google Shape;145;p26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02 / 17</a:t>
            </a:r>
            <a:endParaRPr sz="1100"/>
          </a:p>
        </p:txBody>
      </p:sp>
      <p:sp>
        <p:nvSpPr>
          <p:cNvPr id="146" name="Google Shape;146;p26"/>
          <p:cNvSpPr/>
          <p:nvPr/>
        </p:nvSpPr>
        <p:spPr>
          <a:xfrm>
            <a:off x="480073" y="1440180"/>
            <a:ext cx="2743273" cy="315468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/>
          <p:nvPr/>
        </p:nvSpPr>
        <p:spPr>
          <a:xfrm>
            <a:off x="651527" y="1611630"/>
            <a:ext cx="41149" cy="240030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822982" y="1563624"/>
            <a:ext cx="2400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MCP</a:t>
            </a:r>
            <a:endParaRPr sz="1100"/>
          </a:p>
        </p:txBody>
      </p:sp>
      <p:sp>
        <p:nvSpPr>
          <p:cNvPr id="149" name="Google Shape;149;p26"/>
          <p:cNvSpPr txBox="1"/>
          <p:nvPr/>
        </p:nvSpPr>
        <p:spPr>
          <a:xfrm>
            <a:off x="651527" y="1954530"/>
            <a:ext cx="24003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Generic protocol over a generic tool surface.</a:t>
            </a:r>
            <a:endParaRPr sz="1100"/>
          </a:p>
        </p:txBody>
      </p:sp>
      <p:sp>
        <p:nvSpPr>
          <p:cNvPr id="150" name="Google Shape;150;p26"/>
          <p:cNvSpPr txBox="1"/>
          <p:nvPr/>
        </p:nvSpPr>
        <p:spPr>
          <a:xfrm>
            <a:off x="651527" y="2503170"/>
            <a:ext cx="240036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Server picks the shape of every reply.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Token cost scales with the server's verbosity, not your need.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Re-discovers schema each session.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Encourages 'just ask' loops that fan out and stall.</a:t>
            </a:r>
            <a:endParaRPr sz="1100"/>
          </a:p>
        </p:txBody>
      </p:sp>
      <p:sp>
        <p:nvSpPr>
          <p:cNvPr id="151" name="Google Shape;151;p26"/>
          <p:cNvSpPr/>
          <p:nvPr/>
        </p:nvSpPr>
        <p:spPr>
          <a:xfrm>
            <a:off x="3394800" y="1440180"/>
            <a:ext cx="2743273" cy="315468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3566255" y="1611630"/>
            <a:ext cx="41149" cy="240030"/>
          </a:xfrm>
          <a:prstGeom prst="rect">
            <a:avLst/>
          </a:prstGeom>
          <a:solidFill>
            <a:srgbClr val="4AD0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3737710" y="1563624"/>
            <a:ext cx="2400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Vendor SDK</a:t>
            </a:r>
            <a:endParaRPr sz="1100"/>
          </a:p>
        </p:txBody>
      </p:sp>
      <p:sp>
        <p:nvSpPr>
          <p:cNvPr id="154" name="Google Shape;154;p26"/>
          <p:cNvSpPr txBox="1"/>
          <p:nvPr/>
        </p:nvSpPr>
        <p:spPr>
          <a:xfrm>
            <a:off x="3566255" y="1954530"/>
            <a:ext cx="24003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Typed methods, typed responses, your code.</a:t>
            </a:r>
            <a:endParaRPr sz="1100"/>
          </a:p>
        </p:txBody>
      </p:sp>
      <p:sp>
        <p:nvSpPr>
          <p:cNvPr id="155" name="Google Shape;155;p26"/>
          <p:cNvSpPr txBox="1"/>
          <p:nvPr/>
        </p:nvSpPr>
        <p:spPr>
          <a:xfrm>
            <a:off x="3566255" y="2503170"/>
            <a:ext cx="240036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You choose the fields, the page size, the cache key.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Errors arrive as exceptions, not paragraphs.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Cache layer sits inside the service, not the agent.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Pydantic in, Pydantic out — no re-parsing.</a:t>
            </a:r>
            <a:endParaRPr sz="1100"/>
          </a:p>
        </p:txBody>
      </p:sp>
      <p:sp>
        <p:nvSpPr>
          <p:cNvPr id="156" name="Google Shape;156;p26"/>
          <p:cNvSpPr/>
          <p:nvPr/>
        </p:nvSpPr>
        <p:spPr>
          <a:xfrm>
            <a:off x="6309528" y="1440180"/>
            <a:ext cx="2743273" cy="315468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6480983" y="1611630"/>
            <a:ext cx="41149" cy="24003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6652437" y="1563624"/>
            <a:ext cx="2400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CLI</a:t>
            </a:r>
            <a:endParaRPr sz="1100"/>
          </a:p>
        </p:txBody>
      </p:sp>
      <p:sp>
        <p:nvSpPr>
          <p:cNvPr id="159" name="Google Shape;159;p26"/>
          <p:cNvSpPr txBox="1"/>
          <p:nvPr/>
        </p:nvSpPr>
        <p:spPr>
          <a:xfrm>
            <a:off x="6480983" y="1954530"/>
            <a:ext cx="24003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When there is no SDK, wrap the CLI.</a:t>
            </a:r>
            <a:endParaRPr sz="1100"/>
          </a:p>
        </p:txBody>
      </p:sp>
      <p:sp>
        <p:nvSpPr>
          <p:cNvPr id="160" name="Google Shape;160;p26"/>
          <p:cNvSpPr txBox="1"/>
          <p:nvPr/>
        </p:nvSpPr>
        <p:spPr>
          <a:xfrm>
            <a:off x="6480983" y="2503170"/>
            <a:ext cx="240036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Argv lists, deterministic exit codes.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Streams stdout — agent reads, doesn't fish.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One subprocess per intent. No daemon bloat.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Easy to dry-run, snapshot-test, and replay.</a:t>
            </a:r>
            <a:endParaRPr sz="1100"/>
          </a:p>
        </p:txBody>
      </p:sp>
      <p:sp>
        <p:nvSpPr>
          <p:cNvPr id="161" name="Google Shape;161;p26"/>
          <p:cNvSpPr txBox="1"/>
          <p:nvPr/>
        </p:nvSpPr>
        <p:spPr>
          <a:xfrm>
            <a:off x="480073" y="469773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Rule:  the integration owns the contract.  The agent owns the question.  Neither owns both.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02 · WHY NOT MCP</a:t>
            </a:r>
            <a:endParaRPr sz="1100"/>
          </a:p>
        </p:txBody>
      </p:sp>
      <p:sp>
        <p:nvSpPr>
          <p:cNvPr id="169" name="Google Shape;169;p27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MCP is great at discovery. We've already discovered.</a:t>
            </a:r>
            <a:endParaRPr sz="1100"/>
          </a:p>
        </p:txBody>
      </p:sp>
      <p:sp>
        <p:nvSpPr>
          <p:cNvPr id="170" name="Google Shape;170;p27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03 / 17</a:t>
            </a:r>
            <a:endParaRPr sz="1100"/>
          </a:p>
        </p:txBody>
      </p:sp>
      <p:sp>
        <p:nvSpPr>
          <p:cNvPr id="171" name="Google Shape;171;p27"/>
          <p:cNvSpPr txBox="1"/>
          <p:nvPr/>
        </p:nvSpPr>
        <p:spPr>
          <a:xfrm>
            <a:off x="480073" y="137160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MCP optimises for an open-world agent meeting an unknown server.</a:t>
            </a:r>
            <a:br>
              <a:rPr b="0" i="0" lang="en" sz="11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1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Our agents already know what to ask, who to ask, and how the answer should look.</a:t>
            </a:r>
            <a:endParaRPr sz="1100"/>
          </a:p>
        </p:txBody>
      </p:sp>
      <p:sp>
        <p:nvSpPr>
          <p:cNvPr id="172" name="Google Shape;172;p27"/>
          <p:cNvSpPr/>
          <p:nvPr/>
        </p:nvSpPr>
        <p:spPr>
          <a:xfrm>
            <a:off x="480073" y="2125980"/>
            <a:ext cx="3909164" cy="370332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617236" y="2215134"/>
            <a:ext cx="37034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MCP   Schema discovery on every connect</a:t>
            </a:r>
            <a:endParaRPr sz="1100"/>
          </a:p>
        </p:txBody>
      </p:sp>
      <p:sp>
        <p:nvSpPr>
          <p:cNvPr id="174" name="Google Shape;174;p27"/>
          <p:cNvSpPr/>
          <p:nvPr/>
        </p:nvSpPr>
        <p:spPr>
          <a:xfrm>
            <a:off x="4492110" y="2125980"/>
            <a:ext cx="4149201" cy="370332"/>
          </a:xfrm>
          <a:prstGeom prst="rect">
            <a:avLst/>
          </a:prstGeom>
          <a:solidFill>
            <a:srgbClr val="101A28"/>
          </a:solidFill>
          <a:ln cap="flat" cmpd="sng" w="9525">
            <a:solidFill>
              <a:srgbClr val="1B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4629273" y="2215134"/>
            <a:ext cx="39091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OURS  We import a typed Python module. The compiler checks shapes at deploy.</a:t>
            </a:r>
            <a:endParaRPr sz="1100"/>
          </a:p>
        </p:txBody>
      </p:sp>
      <p:sp>
        <p:nvSpPr>
          <p:cNvPr id="176" name="Google Shape;176;p27"/>
          <p:cNvSpPr/>
          <p:nvPr/>
        </p:nvSpPr>
        <p:spPr>
          <a:xfrm>
            <a:off x="480073" y="2551176"/>
            <a:ext cx="3909164" cy="370332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617236" y="2640330"/>
            <a:ext cx="37034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MCP   Server-defined response shape</a:t>
            </a:r>
            <a:endParaRPr sz="1100"/>
          </a:p>
        </p:txBody>
      </p:sp>
      <p:sp>
        <p:nvSpPr>
          <p:cNvPr id="178" name="Google Shape;178;p27"/>
          <p:cNvSpPr/>
          <p:nvPr/>
        </p:nvSpPr>
        <p:spPr>
          <a:xfrm>
            <a:off x="4492110" y="2551176"/>
            <a:ext cx="4149201" cy="370332"/>
          </a:xfrm>
          <a:prstGeom prst="rect">
            <a:avLst/>
          </a:prstGeom>
          <a:solidFill>
            <a:srgbClr val="101A28"/>
          </a:solidFill>
          <a:ln cap="flat" cmpd="sng" w="9525">
            <a:solidFill>
              <a:srgbClr val="1B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4629273" y="2640330"/>
            <a:ext cx="39091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OURS  Mixin returns a Pydantic model — we set the field whitelist, not the vendor.</a:t>
            </a:r>
            <a:endParaRPr sz="1100"/>
          </a:p>
        </p:txBody>
      </p:sp>
      <p:sp>
        <p:nvSpPr>
          <p:cNvPr id="180" name="Google Shape;180;p27"/>
          <p:cNvSpPr/>
          <p:nvPr/>
        </p:nvSpPr>
        <p:spPr>
          <a:xfrm>
            <a:off x="480073" y="2976372"/>
            <a:ext cx="3909164" cy="370332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617236" y="3065526"/>
            <a:ext cx="37034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MCP   Streaming text blocks per tool call</a:t>
            </a:r>
            <a:endParaRPr sz="1100"/>
          </a:p>
        </p:txBody>
      </p:sp>
      <p:sp>
        <p:nvSpPr>
          <p:cNvPr id="182" name="Google Shape;182;p27"/>
          <p:cNvSpPr/>
          <p:nvPr/>
        </p:nvSpPr>
        <p:spPr>
          <a:xfrm>
            <a:off x="4492110" y="2976372"/>
            <a:ext cx="4149201" cy="370332"/>
          </a:xfrm>
          <a:prstGeom prst="rect">
            <a:avLst/>
          </a:prstGeom>
          <a:solidFill>
            <a:srgbClr val="101A28"/>
          </a:solidFill>
          <a:ln cap="flat" cmpd="sng" w="9525">
            <a:solidFill>
              <a:srgbClr val="1B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4629273" y="3065526"/>
            <a:ext cx="39091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OURS  Direct method returns one validated object — single tool envelope, single token cost.</a:t>
            </a:r>
            <a:endParaRPr sz="1100"/>
          </a:p>
        </p:txBody>
      </p:sp>
      <p:sp>
        <p:nvSpPr>
          <p:cNvPr id="184" name="Google Shape;184;p27"/>
          <p:cNvSpPr/>
          <p:nvPr/>
        </p:nvSpPr>
        <p:spPr>
          <a:xfrm>
            <a:off x="480073" y="3401568"/>
            <a:ext cx="3909164" cy="370332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617236" y="3490722"/>
            <a:ext cx="37034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MCP   Auth handshakes per session</a:t>
            </a:r>
            <a:endParaRPr sz="1100"/>
          </a:p>
        </p:txBody>
      </p:sp>
      <p:sp>
        <p:nvSpPr>
          <p:cNvPr id="186" name="Google Shape;186;p27"/>
          <p:cNvSpPr/>
          <p:nvPr/>
        </p:nvSpPr>
        <p:spPr>
          <a:xfrm>
            <a:off x="4492110" y="3401568"/>
            <a:ext cx="4149201" cy="370332"/>
          </a:xfrm>
          <a:prstGeom prst="rect">
            <a:avLst/>
          </a:prstGeom>
          <a:solidFill>
            <a:srgbClr val="101A28"/>
          </a:solidFill>
          <a:ln cap="flat" cmpd="sng" w="9525">
            <a:solidFill>
              <a:srgbClr val="1B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4629273" y="3490722"/>
            <a:ext cx="39091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OURS  Singleton service, lazy client, basic auth in env. One handshake per process.</a:t>
            </a:r>
            <a:endParaRPr sz="1100"/>
          </a:p>
        </p:txBody>
      </p:sp>
      <p:sp>
        <p:nvSpPr>
          <p:cNvPr id="188" name="Google Shape;188;p27"/>
          <p:cNvSpPr/>
          <p:nvPr/>
        </p:nvSpPr>
        <p:spPr>
          <a:xfrm>
            <a:off x="480073" y="3826764"/>
            <a:ext cx="3909164" cy="370332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617236" y="3915918"/>
            <a:ext cx="37034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MCP   Tool fan-out via 'list_tools'</a:t>
            </a:r>
            <a:endParaRPr sz="1100"/>
          </a:p>
        </p:txBody>
      </p:sp>
      <p:sp>
        <p:nvSpPr>
          <p:cNvPr id="190" name="Google Shape;190;p27"/>
          <p:cNvSpPr/>
          <p:nvPr/>
        </p:nvSpPr>
        <p:spPr>
          <a:xfrm>
            <a:off x="4492110" y="3826764"/>
            <a:ext cx="4149201" cy="370332"/>
          </a:xfrm>
          <a:prstGeom prst="rect">
            <a:avLst/>
          </a:prstGeom>
          <a:solidFill>
            <a:srgbClr val="101A28"/>
          </a:solidFill>
          <a:ln cap="flat" cmpd="sng" w="9525">
            <a:solidFill>
              <a:srgbClr val="1B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4629273" y="3915918"/>
            <a:ext cx="39091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OURS  Tools are declared in manifests; the catalog is the index, not a network call.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03 · TOKEN ECONOMICS</a:t>
            </a:r>
            <a:endParaRPr sz="1100"/>
          </a:p>
        </p:txBody>
      </p:sp>
      <p:sp>
        <p:nvSpPr>
          <p:cNvPr id="199" name="Google Shape;199;p28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The cost of a question is mostly the cost of the answer's shape.</a:t>
            </a:r>
            <a:endParaRPr sz="1100"/>
          </a:p>
        </p:txBody>
      </p:sp>
      <p:sp>
        <p:nvSpPr>
          <p:cNvPr id="200" name="Google Shape;200;p28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04 / 17</a:t>
            </a:r>
            <a:endParaRPr sz="1100"/>
          </a:p>
        </p:txBody>
      </p:sp>
      <p:sp>
        <p:nvSpPr>
          <p:cNvPr id="201" name="Google Shape;201;p28"/>
          <p:cNvSpPr txBox="1"/>
          <p:nvPr/>
        </p:nvSpPr>
        <p:spPr>
          <a:xfrm>
            <a:off x="480073" y="137160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Same intent — "what's going on with merchant 0021773366" — three integration shapes, three bills.</a:t>
            </a:r>
            <a:endParaRPr sz="1100"/>
          </a:p>
        </p:txBody>
      </p:sp>
      <p:sp>
        <p:nvSpPr>
          <p:cNvPr id="202" name="Google Shape;202;p28"/>
          <p:cNvSpPr/>
          <p:nvPr/>
        </p:nvSpPr>
        <p:spPr>
          <a:xfrm>
            <a:off x="480073" y="2057400"/>
            <a:ext cx="5486546" cy="2468880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617236" y="2414016"/>
            <a:ext cx="23317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MCP, generic 'query' tool, fan-out</a:t>
            </a:r>
            <a:endParaRPr sz="1100"/>
          </a:p>
        </p:txBody>
      </p:sp>
      <p:sp>
        <p:nvSpPr>
          <p:cNvPr id="204" name="Google Shape;204;p28"/>
          <p:cNvSpPr/>
          <p:nvPr/>
        </p:nvSpPr>
        <p:spPr>
          <a:xfrm>
            <a:off x="2949019" y="2331720"/>
            <a:ext cx="2811854" cy="377190"/>
          </a:xfrm>
          <a:prstGeom prst="rect">
            <a:avLst/>
          </a:prstGeom>
          <a:solidFill>
            <a:srgbClr val="0A101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2949019" y="2331720"/>
            <a:ext cx="2586906" cy="377190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5638797" y="2414016"/>
            <a:ext cx="13716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~14,200 tok</a:t>
            </a:r>
            <a:endParaRPr sz="1100"/>
          </a:p>
        </p:txBody>
      </p:sp>
      <p:sp>
        <p:nvSpPr>
          <p:cNvPr id="207" name="Google Shape;207;p28"/>
          <p:cNvSpPr txBox="1"/>
          <p:nvPr/>
        </p:nvSpPr>
        <p:spPr>
          <a:xfrm>
            <a:off x="617236" y="2942082"/>
            <a:ext cx="23317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MCP, narrowed by tool name</a:t>
            </a:r>
            <a:endParaRPr sz="1100"/>
          </a:p>
        </p:txBody>
      </p:sp>
      <p:sp>
        <p:nvSpPr>
          <p:cNvPr id="208" name="Google Shape;208;p28"/>
          <p:cNvSpPr/>
          <p:nvPr/>
        </p:nvSpPr>
        <p:spPr>
          <a:xfrm>
            <a:off x="2949019" y="2859786"/>
            <a:ext cx="2811854" cy="377190"/>
          </a:xfrm>
          <a:prstGeom prst="rect">
            <a:avLst/>
          </a:prstGeom>
          <a:solidFill>
            <a:srgbClr val="0A101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2949019" y="2859786"/>
            <a:ext cx="1546520" cy="377190"/>
          </a:xfrm>
          <a:prstGeom prst="rect">
            <a:avLst/>
          </a:prstGeom>
          <a:solidFill>
            <a:srgbClr val="F4A8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4598412" y="2942082"/>
            <a:ext cx="13716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~8,400 tok</a:t>
            </a:r>
            <a:endParaRPr sz="1100"/>
          </a:p>
        </p:txBody>
      </p:sp>
      <p:sp>
        <p:nvSpPr>
          <p:cNvPr id="211" name="Google Shape;211;p28"/>
          <p:cNvSpPr txBox="1"/>
          <p:nvPr/>
        </p:nvSpPr>
        <p:spPr>
          <a:xfrm>
            <a:off x="617236" y="3470148"/>
            <a:ext cx="23317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Vendor SDK, typed mixin (ours)</a:t>
            </a:r>
            <a:endParaRPr sz="1100"/>
          </a:p>
        </p:txBody>
      </p:sp>
      <p:sp>
        <p:nvSpPr>
          <p:cNvPr id="212" name="Google Shape;212;p28"/>
          <p:cNvSpPr/>
          <p:nvPr/>
        </p:nvSpPr>
        <p:spPr>
          <a:xfrm>
            <a:off x="2949019" y="3387852"/>
            <a:ext cx="2811854" cy="377190"/>
          </a:xfrm>
          <a:prstGeom prst="rect">
            <a:avLst/>
          </a:prstGeom>
          <a:solidFill>
            <a:srgbClr val="0A101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2949019" y="3387852"/>
            <a:ext cx="506134" cy="377190"/>
          </a:xfrm>
          <a:prstGeom prst="rect">
            <a:avLst/>
          </a:prstGeom>
          <a:solidFill>
            <a:srgbClr val="4AD0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8"/>
          <p:cNvSpPr txBox="1"/>
          <p:nvPr/>
        </p:nvSpPr>
        <p:spPr>
          <a:xfrm>
            <a:off x="3558025" y="3470148"/>
            <a:ext cx="13716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~2,700 tok</a:t>
            </a:r>
            <a:endParaRPr sz="1100"/>
          </a:p>
        </p:txBody>
      </p:sp>
      <p:sp>
        <p:nvSpPr>
          <p:cNvPr id="215" name="Google Shape;215;p28"/>
          <p:cNvSpPr txBox="1"/>
          <p:nvPr/>
        </p:nvSpPr>
        <p:spPr>
          <a:xfrm>
            <a:off x="617236" y="3998214"/>
            <a:ext cx="23317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CLI, jq-shaped pipeline</a:t>
            </a:r>
            <a:endParaRPr sz="1100"/>
          </a:p>
        </p:txBody>
      </p:sp>
      <p:sp>
        <p:nvSpPr>
          <p:cNvPr id="216" name="Google Shape;216;p28"/>
          <p:cNvSpPr/>
          <p:nvPr/>
        </p:nvSpPr>
        <p:spPr>
          <a:xfrm>
            <a:off x="2949019" y="3915918"/>
            <a:ext cx="2811854" cy="377190"/>
          </a:xfrm>
          <a:prstGeom prst="rect">
            <a:avLst/>
          </a:prstGeom>
          <a:solidFill>
            <a:srgbClr val="0A101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8"/>
          <p:cNvSpPr/>
          <p:nvPr/>
        </p:nvSpPr>
        <p:spPr>
          <a:xfrm>
            <a:off x="2949019" y="3915918"/>
            <a:ext cx="393659" cy="37719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3445551" y="3998214"/>
            <a:ext cx="13716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~2,100 tok</a:t>
            </a:r>
            <a:endParaRPr sz="1100"/>
          </a:p>
        </p:txBody>
      </p:sp>
      <p:sp>
        <p:nvSpPr>
          <p:cNvPr id="219" name="Google Shape;219;p28"/>
          <p:cNvSpPr/>
          <p:nvPr/>
        </p:nvSpPr>
        <p:spPr>
          <a:xfrm>
            <a:off x="6172365" y="2057400"/>
            <a:ext cx="2468946" cy="2468880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6343819" y="2160270"/>
            <a:ext cx="21260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Where the tokens go</a:t>
            </a:r>
            <a:endParaRPr sz="1100"/>
          </a:p>
        </p:txBody>
      </p:sp>
      <p:sp>
        <p:nvSpPr>
          <p:cNvPr id="221" name="Google Shape;221;p28"/>
          <p:cNvSpPr txBox="1"/>
          <p:nvPr/>
        </p:nvSpPr>
        <p:spPr>
          <a:xfrm>
            <a:off x="6343819" y="2503170"/>
            <a:ext cx="2126037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Tool surface negotiation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list_tools, schema, auth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Verbose result envelopes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text blocks, content arrays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Reflection / re-asking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ReAct loop widening too fast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Untyped error paragraphs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models retry from prose</a:t>
            </a:r>
            <a:endParaRPr sz="1100"/>
          </a:p>
        </p:txBody>
      </p:sp>
      <p:sp>
        <p:nvSpPr>
          <p:cNvPr id="222" name="Google Shape;222;p28"/>
          <p:cNvSpPr txBox="1"/>
          <p:nvPr/>
        </p:nvSpPr>
        <p:spPr>
          <a:xfrm>
            <a:off x="480073" y="476631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Estimates from internal Langfuse traces · gpt-4o tokenizer · same intent across three implementations.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04 · THE REACT LOOP</a:t>
            </a:r>
            <a:endParaRPr sz="1100"/>
          </a:p>
        </p:txBody>
      </p:sp>
      <p:sp>
        <p:nvSpPr>
          <p:cNvPr id="230" name="Google Shape;230;p29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Think → Act → Observe — but observe narrowly.</a:t>
            </a:r>
            <a:endParaRPr sz="1100"/>
          </a:p>
        </p:txBody>
      </p:sp>
      <p:sp>
        <p:nvSpPr>
          <p:cNvPr id="231" name="Google Shape;231;p29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05 / 17</a:t>
            </a:r>
            <a:endParaRPr sz="1100"/>
          </a:p>
        </p:txBody>
      </p:sp>
      <p:sp>
        <p:nvSpPr>
          <p:cNvPr id="232" name="Google Shape;232;p29"/>
          <p:cNvSpPr/>
          <p:nvPr/>
        </p:nvSpPr>
        <p:spPr>
          <a:xfrm>
            <a:off x="480073" y="1508760"/>
            <a:ext cx="2640400" cy="178308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651527" y="1680210"/>
            <a:ext cx="41149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822982" y="1632204"/>
            <a:ext cx="22974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THINK</a:t>
            </a:r>
            <a:endParaRPr sz="1100"/>
          </a:p>
        </p:txBody>
      </p:sp>
      <p:sp>
        <p:nvSpPr>
          <p:cNvPr id="235" name="Google Shape;235;p29"/>
          <p:cNvSpPr txBox="1"/>
          <p:nvPr/>
        </p:nvSpPr>
        <p:spPr>
          <a:xfrm>
            <a:off x="651527" y="2160270"/>
            <a:ext cx="2297491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Agent forms a hypothesis,</a:t>
            </a:r>
            <a:b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picks ONE tool,</a:t>
            </a:r>
            <a:b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commits to ONE shape of question.</a:t>
            </a:r>
            <a:endParaRPr sz="1100"/>
          </a:p>
        </p:txBody>
      </p:sp>
      <p:sp>
        <p:nvSpPr>
          <p:cNvPr id="236" name="Google Shape;236;p29"/>
          <p:cNvSpPr/>
          <p:nvPr/>
        </p:nvSpPr>
        <p:spPr>
          <a:xfrm>
            <a:off x="3147906" y="2263140"/>
            <a:ext cx="185171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3360510" y="1508760"/>
            <a:ext cx="2640400" cy="178308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3531964" y="1680210"/>
            <a:ext cx="41149" cy="308610"/>
          </a:xfrm>
          <a:prstGeom prst="rect">
            <a:avLst/>
          </a:prstGeom>
          <a:solidFill>
            <a:srgbClr val="4AD0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3703419" y="1632204"/>
            <a:ext cx="22974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ACT</a:t>
            </a:r>
            <a:endParaRPr sz="1100"/>
          </a:p>
        </p:txBody>
      </p:sp>
      <p:sp>
        <p:nvSpPr>
          <p:cNvPr id="240" name="Google Shape;240;p29"/>
          <p:cNvSpPr txBox="1"/>
          <p:nvPr/>
        </p:nvSpPr>
        <p:spPr>
          <a:xfrm>
            <a:off x="3531964" y="2160270"/>
            <a:ext cx="2297491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Tool runs against the SDK.</a:t>
            </a:r>
            <a:b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Returns a typed Pydantic object.</a:t>
            </a:r>
            <a:b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No prose, no envelopes.</a:t>
            </a:r>
            <a:endParaRPr sz="1100"/>
          </a:p>
        </p:txBody>
      </p:sp>
      <p:sp>
        <p:nvSpPr>
          <p:cNvPr id="241" name="Google Shape;241;p29"/>
          <p:cNvSpPr/>
          <p:nvPr/>
        </p:nvSpPr>
        <p:spPr>
          <a:xfrm>
            <a:off x="6028343" y="2263140"/>
            <a:ext cx="185171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6240946" y="1508760"/>
            <a:ext cx="2640400" cy="178308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6412401" y="1680210"/>
            <a:ext cx="41149" cy="308610"/>
          </a:xfrm>
          <a:prstGeom prst="rect">
            <a:avLst/>
          </a:prstGeom>
          <a:solidFill>
            <a:srgbClr val="F4A8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6583856" y="1632204"/>
            <a:ext cx="22974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OBSERVE</a:t>
            </a:r>
            <a:endParaRPr sz="1100"/>
          </a:p>
        </p:txBody>
      </p:sp>
      <p:sp>
        <p:nvSpPr>
          <p:cNvPr id="245" name="Google Shape;245;p29"/>
          <p:cNvSpPr txBox="1"/>
          <p:nvPr/>
        </p:nvSpPr>
        <p:spPr>
          <a:xfrm>
            <a:off x="6412401" y="2160270"/>
            <a:ext cx="2297491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Agent reads the smallest</a:t>
            </a:r>
            <a:b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useful slice — never the full payload.</a:t>
            </a:r>
            <a:b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Asks: do I need to widen?</a:t>
            </a:r>
            <a:endParaRPr sz="1100"/>
          </a:p>
        </p:txBody>
      </p:sp>
      <p:sp>
        <p:nvSpPr>
          <p:cNvPr id="246" name="Google Shape;246;p29"/>
          <p:cNvSpPr txBox="1"/>
          <p:nvPr/>
        </p:nvSpPr>
        <p:spPr>
          <a:xfrm>
            <a:off x="480073" y="349758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↻  Loop only when the typed result tells you to.  Never loop because the response was vague.</a:t>
            </a:r>
            <a:endParaRPr sz="1100"/>
          </a:p>
        </p:txBody>
      </p:sp>
      <p:sp>
        <p:nvSpPr>
          <p:cNvPr id="247" name="Google Shape;247;p29"/>
          <p:cNvSpPr txBox="1"/>
          <p:nvPr/>
        </p:nvSpPr>
        <p:spPr>
          <a:xfrm>
            <a:off x="480073" y="3909060"/>
            <a:ext cx="822981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Stop conditions are part of the contract — every Pydantic response carries enough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  signal (status, total_count, has_more) for the agent to decide without re-asking.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Errors short-circuit the loop. ToolResult.connection_error halts widening, doesn't seed it.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Loop budget is set by the manifest, not the model. ≤3 turns per intent is the default.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05 · PROGRESSIVE QUERY WIDENING</a:t>
            </a:r>
            <a:endParaRPr sz="1100"/>
          </a:p>
        </p:txBody>
      </p:sp>
      <p:sp>
        <p:nvSpPr>
          <p:cNvPr id="255" name="Google Shape;255;p30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Start cheap. Widen on evidence. Never on vibes.</a:t>
            </a:r>
            <a:endParaRPr sz="1100"/>
          </a:p>
        </p:txBody>
      </p:sp>
      <p:sp>
        <p:nvSpPr>
          <p:cNvPr id="256" name="Google Shape;256;p30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06 / 17</a:t>
            </a:r>
            <a:endParaRPr sz="1100"/>
          </a:p>
        </p:txBody>
      </p:sp>
      <p:sp>
        <p:nvSpPr>
          <p:cNvPr id="257" name="Google Shape;257;p30"/>
          <p:cNvSpPr/>
          <p:nvPr/>
        </p:nvSpPr>
        <p:spPr>
          <a:xfrm>
            <a:off x="480073" y="1577340"/>
            <a:ext cx="1645964" cy="48006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617236" y="1680210"/>
            <a:ext cx="41149" cy="274320"/>
          </a:xfrm>
          <a:prstGeom prst="rect">
            <a:avLst/>
          </a:prstGeom>
          <a:solidFill>
            <a:srgbClr val="4AD0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0"/>
          <p:cNvSpPr txBox="1"/>
          <p:nvPr/>
        </p:nvSpPr>
        <p:spPr>
          <a:xfrm>
            <a:off x="788691" y="1632204"/>
            <a:ext cx="2400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L0  exact key</a:t>
            </a:r>
            <a:endParaRPr sz="1100"/>
          </a:p>
        </p:txBody>
      </p:sp>
      <p:sp>
        <p:nvSpPr>
          <p:cNvPr id="260" name="Google Shape;260;p30"/>
          <p:cNvSpPr txBox="1"/>
          <p:nvPr/>
        </p:nvSpPr>
        <p:spPr>
          <a:xfrm>
            <a:off x="788691" y="1837944"/>
            <a:ext cx="123447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MID, issue key, case #</a:t>
            </a:r>
            <a:endParaRPr sz="1100"/>
          </a:p>
        </p:txBody>
      </p:sp>
      <p:sp>
        <p:nvSpPr>
          <p:cNvPr id="261" name="Google Shape;261;p30"/>
          <p:cNvSpPr/>
          <p:nvPr/>
        </p:nvSpPr>
        <p:spPr>
          <a:xfrm>
            <a:off x="480073" y="2125980"/>
            <a:ext cx="3086182" cy="48006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617236" y="2228850"/>
            <a:ext cx="41149" cy="274320"/>
          </a:xfrm>
          <a:prstGeom prst="rect">
            <a:avLst/>
          </a:prstGeom>
          <a:solidFill>
            <a:srgbClr val="4AD0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788691" y="2180844"/>
            <a:ext cx="2400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L1  exact field</a:t>
            </a:r>
            <a:endParaRPr sz="1100"/>
          </a:p>
        </p:txBody>
      </p:sp>
      <p:sp>
        <p:nvSpPr>
          <p:cNvPr id="264" name="Google Shape;264;p30"/>
          <p:cNvSpPr txBox="1"/>
          <p:nvPr/>
        </p:nvSpPr>
        <p:spPr>
          <a:xfrm>
            <a:off x="788691" y="2386584"/>
            <a:ext cx="26746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email, phone, sf_id</a:t>
            </a:r>
            <a:endParaRPr sz="1100"/>
          </a:p>
        </p:txBody>
      </p:sp>
      <p:sp>
        <p:nvSpPr>
          <p:cNvPr id="265" name="Google Shape;265;p30"/>
          <p:cNvSpPr/>
          <p:nvPr/>
        </p:nvSpPr>
        <p:spPr>
          <a:xfrm>
            <a:off x="480073" y="2674620"/>
            <a:ext cx="4526401" cy="48006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0"/>
          <p:cNvSpPr/>
          <p:nvPr/>
        </p:nvSpPr>
        <p:spPr>
          <a:xfrm>
            <a:off x="617236" y="2777490"/>
            <a:ext cx="41149" cy="274320"/>
          </a:xfrm>
          <a:prstGeom prst="rect">
            <a:avLst/>
          </a:prstGeom>
          <a:solidFill>
            <a:srgbClr val="F4A8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788691" y="2729484"/>
            <a:ext cx="2400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L2  prefix / contains</a:t>
            </a:r>
            <a:endParaRPr sz="1100"/>
          </a:p>
        </p:txBody>
      </p:sp>
      <p:sp>
        <p:nvSpPr>
          <p:cNvPr id="268" name="Google Shape;268;p30"/>
          <p:cNvSpPr txBox="1"/>
          <p:nvPr/>
        </p:nvSpPr>
        <p:spPr>
          <a:xfrm>
            <a:off x="788691" y="2935224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containsAnyTerm on dba_name</a:t>
            </a:r>
            <a:endParaRPr sz="1100"/>
          </a:p>
        </p:txBody>
      </p:sp>
      <p:sp>
        <p:nvSpPr>
          <p:cNvPr id="269" name="Google Shape;269;p30"/>
          <p:cNvSpPr/>
          <p:nvPr/>
        </p:nvSpPr>
        <p:spPr>
          <a:xfrm>
            <a:off x="480073" y="3223260"/>
            <a:ext cx="5966618" cy="48006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0"/>
          <p:cNvSpPr/>
          <p:nvPr/>
        </p:nvSpPr>
        <p:spPr>
          <a:xfrm>
            <a:off x="617236" y="3326130"/>
            <a:ext cx="41149" cy="274320"/>
          </a:xfrm>
          <a:prstGeom prst="rect">
            <a:avLst/>
          </a:prstGeom>
          <a:solidFill>
            <a:srgbClr val="F4A8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0"/>
          <p:cNvSpPr txBox="1"/>
          <p:nvPr/>
        </p:nvSpPr>
        <p:spPr>
          <a:xfrm>
            <a:off x="788691" y="3278124"/>
            <a:ext cx="2400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L3  text search</a:t>
            </a:r>
            <a:endParaRPr sz="1100"/>
          </a:p>
        </p:txBody>
      </p:sp>
      <p:sp>
        <p:nvSpPr>
          <p:cNvPr id="272" name="Google Shape;272;p30"/>
          <p:cNvSpPr txBox="1"/>
          <p:nvPr/>
        </p:nvSpPr>
        <p:spPr>
          <a:xfrm>
            <a:off x="788691" y="3483864"/>
            <a:ext cx="555512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Jira `text ~`, bounded -365d</a:t>
            </a:r>
            <a:endParaRPr sz="1100"/>
          </a:p>
        </p:txBody>
      </p:sp>
      <p:sp>
        <p:nvSpPr>
          <p:cNvPr id="273" name="Google Shape;273;p30"/>
          <p:cNvSpPr/>
          <p:nvPr/>
        </p:nvSpPr>
        <p:spPr>
          <a:xfrm>
            <a:off x="480073" y="3771900"/>
            <a:ext cx="7406837" cy="48006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0"/>
          <p:cNvSpPr/>
          <p:nvPr/>
        </p:nvSpPr>
        <p:spPr>
          <a:xfrm>
            <a:off x="617236" y="3874770"/>
            <a:ext cx="41149" cy="274320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788691" y="3826764"/>
            <a:ext cx="2400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L4  cross-domain</a:t>
            </a:r>
            <a:endParaRPr sz="1100"/>
          </a:p>
        </p:txBody>
      </p:sp>
      <p:sp>
        <p:nvSpPr>
          <p:cNvPr id="276" name="Google Shape;276;p30"/>
          <p:cNvSpPr txBox="1"/>
          <p:nvPr/>
        </p:nvSpPr>
        <p:spPr>
          <a:xfrm>
            <a:off x="788691" y="4032504"/>
            <a:ext cx="69953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fan-out to 2+ services</a:t>
            </a:r>
            <a:endParaRPr sz="1100"/>
          </a:p>
        </p:txBody>
      </p:sp>
      <p:sp>
        <p:nvSpPr>
          <p:cNvPr id="277" name="Google Shape;277;p30"/>
          <p:cNvSpPr txBox="1"/>
          <p:nvPr/>
        </p:nvSpPr>
        <p:spPr>
          <a:xfrm>
            <a:off x="480073" y="438912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Each step has a guard: if L(n) returns a hit, do not widen to L(n+1).  The agent reads total_count, not vibes.</a:t>
            </a:r>
            <a:endParaRPr sz="1100"/>
          </a:p>
        </p:txBody>
      </p:sp>
      <p:sp>
        <p:nvSpPr>
          <p:cNvPr id="278" name="Google Shape;278;p30"/>
          <p:cNvSpPr txBox="1"/>
          <p:nvPr/>
        </p:nvSpPr>
        <p:spPr>
          <a:xfrm>
            <a:off x="480073" y="469773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L4 always passes through a planner — never a free-running agent.  Cross-service fan-out is a budget decision.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1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06 · FOUNDRY · CASE STUDY</a:t>
            </a:r>
            <a:endParaRPr sz="1100"/>
          </a:p>
        </p:txBody>
      </p:sp>
      <p:sp>
        <p:nvSpPr>
          <p:cNvPr id="286" name="Google Shape;286;p31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search_merchants() — auto-detect the cheapest level first.</a:t>
            </a:r>
            <a:endParaRPr sz="1100"/>
          </a:p>
        </p:txBody>
      </p:sp>
      <p:sp>
        <p:nvSpPr>
          <p:cNvPr id="287" name="Google Shape;287;p31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07 / 17</a:t>
            </a:r>
            <a:endParaRPr sz="1100"/>
          </a:p>
        </p:txBody>
      </p:sp>
      <p:sp>
        <p:nvSpPr>
          <p:cNvPr id="288" name="Google Shape;288;p31"/>
          <p:cNvSpPr txBox="1"/>
          <p:nvPr/>
        </p:nvSpPr>
        <p:spPr>
          <a:xfrm>
            <a:off x="480073" y="137160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One method, four resolved query types.  The integration picks the level — the agent never has to guess.</a:t>
            </a:r>
            <a:endParaRPr sz="1100"/>
          </a:p>
        </p:txBody>
      </p:sp>
      <p:sp>
        <p:nvSpPr>
          <p:cNvPr id="289" name="Google Shape;289;p31"/>
          <p:cNvSpPr/>
          <p:nvPr/>
        </p:nvSpPr>
        <p:spPr>
          <a:xfrm>
            <a:off x="480073" y="1851660"/>
            <a:ext cx="5486546" cy="2743200"/>
          </a:xfrm>
          <a:prstGeom prst="rect">
            <a:avLst/>
          </a:prstGeom>
          <a:solidFill>
            <a:srgbClr val="080C10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1"/>
          <p:cNvSpPr txBox="1"/>
          <p:nvPr/>
        </p:nvSpPr>
        <p:spPr>
          <a:xfrm>
            <a:off x="617236" y="1988820"/>
            <a:ext cx="5212219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backend/app/services/foundry/search.py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 def search_merchants(self, query, search_type="auto", limit=20):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search_type == "auto":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if query.strip().isdigit():           resolved = "mid"      # L0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elif "@" in query:                     resolved = "email"    # L1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elif len(re.sub(r"\D","",query))&gt;=10: resolved = "phone"    # L1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else:                                  resolved = "name"     # L2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E8ECF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where = {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"mid":   {"type": "eq",                "field": "merchantId", "value": q},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"email": {"type": "eq",                "field": "dbaEmail",   "value": q},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"phone": {"type": "eq",                "field": "phone",      "value": digits},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"name":  {"type": "containsAnyTerm",   "field": "dbaName",    "value": q},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}[resolved]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E8ECF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# ↳ select=[]  →  vendor returns indexed columns only.  No body bloat.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result = client.ontologies.OntologyObject.search(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ontology=self._ontology_id,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object_type="Merchant",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where=where,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select=[],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page_size=limit,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# ↳ Cache the typed Pydantic response, not the SDK object graph.</a:t>
            </a:r>
            <a:endParaRPr sz="1100"/>
          </a:p>
        </p:txBody>
      </p:sp>
      <p:sp>
        <p:nvSpPr>
          <p:cNvPr id="291" name="Google Shape;291;p31"/>
          <p:cNvSpPr/>
          <p:nvPr/>
        </p:nvSpPr>
        <p:spPr>
          <a:xfrm>
            <a:off x="6172365" y="1851660"/>
            <a:ext cx="2468946" cy="2743200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1"/>
          <p:cNvSpPr txBox="1"/>
          <p:nvPr/>
        </p:nvSpPr>
        <p:spPr>
          <a:xfrm>
            <a:off x="6343819" y="1954530"/>
            <a:ext cx="21260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Why it's cheap</a:t>
            </a:r>
            <a:endParaRPr sz="1100"/>
          </a:p>
        </p:txBody>
      </p:sp>
      <p:sp>
        <p:nvSpPr>
          <p:cNvPr id="293" name="Google Shape;293;p31"/>
          <p:cNvSpPr txBox="1"/>
          <p:nvPr/>
        </p:nvSpPr>
        <p:spPr>
          <a:xfrm>
            <a:off x="6343819" y="2263140"/>
            <a:ext cx="2126037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Auto-detect collapses 4 calls into 1.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containsAnyTerm only fires when L0/L1 fail.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select=[] keeps the vendor honest about payload size.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300s cache TTL — same MID twice in a flow is free.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Pydantic at the boundary; agent sees a list of typed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    MerchantSearchResult, never the SDK record dict.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·  match_field travels back so the agent can show its work.</a:t>
            </a:r>
            <a:endParaRPr sz="1100"/>
          </a:p>
        </p:txBody>
      </p:sp>
      <p:sp>
        <p:nvSpPr>
          <p:cNvPr id="294" name="Google Shape;294;p31"/>
          <p:cNvSpPr txBox="1"/>
          <p:nvPr/>
        </p:nvSpPr>
        <p:spPr>
          <a:xfrm>
            <a:off x="480073" y="473202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Result: one tool call, one shape of answer, the agent decides whether to widen — based on total_count, not heuristics.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2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07 · FOUNDRY · CASE STUDY</a:t>
            </a:r>
            <a:endParaRPr sz="1100"/>
          </a:p>
        </p:txBody>
      </p:sp>
      <p:sp>
        <p:nvSpPr>
          <p:cNvPr id="302" name="Google Shape;302;p32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get_account_hierarchy() — three cheap probes, not one omniscient call.</a:t>
            </a:r>
            <a:endParaRPr sz="1100"/>
          </a:p>
        </p:txBody>
      </p:sp>
      <p:sp>
        <p:nvSpPr>
          <p:cNvPr id="303" name="Google Shape;303;p32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08 / 17</a:t>
            </a:r>
            <a:endParaRPr sz="1100"/>
          </a:p>
        </p:txBody>
      </p:sp>
      <p:sp>
        <p:nvSpPr>
          <p:cNvPr id="304" name="Google Shape;304;p32"/>
          <p:cNvSpPr txBox="1"/>
          <p:nvPr/>
        </p:nvSpPr>
        <p:spPr>
          <a:xfrm>
            <a:off x="480073" y="137160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Same intent, but split so each step's failure is local — and skippable.</a:t>
            </a:r>
            <a:endParaRPr sz="1100"/>
          </a:p>
        </p:txBody>
      </p:sp>
      <p:sp>
        <p:nvSpPr>
          <p:cNvPr id="305" name="Google Shape;305;p32"/>
          <p:cNvSpPr/>
          <p:nvPr/>
        </p:nvSpPr>
        <p:spPr>
          <a:xfrm>
            <a:off x="480073" y="1851660"/>
            <a:ext cx="8161238" cy="720090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2"/>
          <p:cNvSpPr/>
          <p:nvPr/>
        </p:nvSpPr>
        <p:spPr>
          <a:xfrm>
            <a:off x="582946" y="1988820"/>
            <a:ext cx="41149" cy="44577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2"/>
          <p:cNvSpPr/>
          <p:nvPr/>
        </p:nvSpPr>
        <p:spPr>
          <a:xfrm>
            <a:off x="720109" y="2023110"/>
            <a:ext cx="377200" cy="37719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308" name="Google Shape;308;p32"/>
          <p:cNvSpPr txBox="1"/>
          <p:nvPr/>
        </p:nvSpPr>
        <p:spPr>
          <a:xfrm>
            <a:off x="1268764" y="1975104"/>
            <a:ext cx="27432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Resolve identifier</a:t>
            </a:r>
            <a:endParaRPr sz="1100"/>
          </a:p>
        </p:txBody>
      </p:sp>
      <p:sp>
        <p:nvSpPr>
          <p:cNvPr id="309" name="Google Shape;309;p32"/>
          <p:cNvSpPr txBox="1"/>
          <p:nvPr/>
        </p:nvSpPr>
        <p:spPr>
          <a:xfrm>
            <a:off x="1268764" y="2194560"/>
            <a:ext cx="72696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MID lookup OR Salesforce account lookup.</a:t>
            </a:r>
            <a:b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Returns one record or None.</a:t>
            </a:r>
            <a:b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If None: stop here, return null hierarchy.</a:t>
            </a:r>
            <a:endParaRPr sz="1100"/>
          </a:p>
        </p:txBody>
      </p:sp>
      <p:sp>
        <p:nvSpPr>
          <p:cNvPr id="310" name="Google Shape;310;p32"/>
          <p:cNvSpPr/>
          <p:nvPr/>
        </p:nvSpPr>
        <p:spPr>
          <a:xfrm>
            <a:off x="480073" y="2674620"/>
            <a:ext cx="8161238" cy="720090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2"/>
          <p:cNvSpPr/>
          <p:nvPr/>
        </p:nvSpPr>
        <p:spPr>
          <a:xfrm>
            <a:off x="582946" y="2811780"/>
            <a:ext cx="41149" cy="44577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2"/>
          <p:cNvSpPr/>
          <p:nvPr/>
        </p:nvSpPr>
        <p:spPr>
          <a:xfrm>
            <a:off x="720109" y="2846070"/>
            <a:ext cx="377200" cy="37719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313" name="Google Shape;313;p32"/>
          <p:cNvSpPr txBox="1"/>
          <p:nvPr/>
        </p:nvSpPr>
        <p:spPr>
          <a:xfrm>
            <a:off x="1268764" y="2798064"/>
            <a:ext cx="27432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Climb to parent</a:t>
            </a:r>
            <a:endParaRPr sz="1100"/>
          </a:p>
        </p:txBody>
      </p:sp>
      <p:sp>
        <p:nvSpPr>
          <p:cNvPr id="314" name="Google Shape;314;p32"/>
          <p:cNvSpPr txBox="1"/>
          <p:nvPr/>
        </p:nvSpPr>
        <p:spPr>
          <a:xfrm>
            <a:off x="1268764" y="3017520"/>
            <a:ext cx="72696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SalesforceAccount eq id → parent.</a:t>
            </a:r>
            <a:b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Falls back to MerchantFullInformation only on miss.</a:t>
            </a:r>
            <a:b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Never both.</a:t>
            </a:r>
            <a:endParaRPr sz="1100"/>
          </a:p>
        </p:txBody>
      </p:sp>
      <p:sp>
        <p:nvSpPr>
          <p:cNvPr id="315" name="Google Shape;315;p32"/>
          <p:cNvSpPr/>
          <p:nvPr/>
        </p:nvSpPr>
        <p:spPr>
          <a:xfrm>
            <a:off x="480073" y="3497580"/>
            <a:ext cx="8161238" cy="720090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2"/>
          <p:cNvSpPr/>
          <p:nvPr/>
        </p:nvSpPr>
        <p:spPr>
          <a:xfrm>
            <a:off x="582946" y="3634740"/>
            <a:ext cx="41149" cy="44577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2"/>
          <p:cNvSpPr/>
          <p:nvPr/>
        </p:nvSpPr>
        <p:spPr>
          <a:xfrm>
            <a:off x="720109" y="3669030"/>
            <a:ext cx="377200" cy="37719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318" name="Google Shape;318;p32"/>
          <p:cNvSpPr txBox="1"/>
          <p:nvPr/>
        </p:nvSpPr>
        <p:spPr>
          <a:xfrm>
            <a:off x="1268764" y="3621024"/>
            <a:ext cx="27432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Enumerate children</a:t>
            </a:r>
            <a:endParaRPr sz="1100"/>
          </a:p>
        </p:txBody>
      </p:sp>
      <p:sp>
        <p:nvSpPr>
          <p:cNvPr id="319" name="Google Shape;319;p32"/>
          <p:cNvSpPr txBox="1"/>
          <p:nvPr/>
        </p:nvSpPr>
        <p:spPr>
          <a:xfrm>
            <a:off x="1268764" y="3840480"/>
            <a:ext cx="72696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MerchantEnterpriseGroupingDataset by mid.</a:t>
            </a:r>
            <a:b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Filtered to siblings.</a:t>
            </a:r>
            <a:b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Capped at 50 page_size.</a:t>
            </a:r>
            <a:endParaRPr sz="1100"/>
          </a:p>
        </p:txBody>
      </p:sp>
      <p:sp>
        <p:nvSpPr>
          <p:cNvPr id="320" name="Google Shape;320;p32"/>
          <p:cNvSpPr txBox="1"/>
          <p:nvPr/>
        </p:nvSpPr>
        <p:spPr>
          <a:xfrm>
            <a:off x="480073" y="4491990"/>
            <a:ext cx="8229819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Each probe has its own try/except — one Foundry hiccup degrades a single field, not the whole answer.</a:t>
            </a:r>
            <a:endParaRPr sz="1100"/>
          </a:p>
        </p:txBody>
      </p:sp>
      <p:sp>
        <p:nvSpPr>
          <p:cNvPr id="321" name="Google Shape;321;p32"/>
          <p:cNvSpPr txBox="1"/>
          <p:nvPr/>
        </p:nvSpPr>
        <p:spPr>
          <a:xfrm>
            <a:off x="480073" y="480060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1800s cache TTL on the assembled tree.  Topology probes don't run on every conversation turn.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08 · JIRA · CASE STUDY</a:t>
            </a:r>
            <a:endParaRPr sz="1100"/>
          </a:p>
        </p:txBody>
      </p:sp>
      <p:sp>
        <p:nvSpPr>
          <p:cNvPr id="329" name="Google Shape;329;p33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search_jira() — regex first, JQL last.</a:t>
            </a:r>
            <a:endParaRPr sz="1100"/>
          </a:p>
        </p:txBody>
      </p:sp>
      <p:sp>
        <p:nvSpPr>
          <p:cNvPr id="330" name="Google Shape;330;p33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09 / 17</a:t>
            </a:r>
            <a:endParaRPr sz="1100"/>
          </a:p>
        </p:txBody>
      </p:sp>
      <p:sp>
        <p:nvSpPr>
          <p:cNvPr id="331" name="Google Shape;331;p33"/>
          <p:cNvSpPr txBox="1"/>
          <p:nvPr/>
        </p:nvSpPr>
        <p:spPr>
          <a:xfrm>
            <a:off x="480073" y="137160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We do two regexes before we touch the network.  One issue-key call beats one full-text JQL by an order of magnitude.</a:t>
            </a:r>
            <a:endParaRPr sz="1100"/>
          </a:p>
        </p:txBody>
      </p:sp>
      <p:sp>
        <p:nvSpPr>
          <p:cNvPr id="332" name="Google Shape;332;p33"/>
          <p:cNvSpPr/>
          <p:nvPr/>
        </p:nvSpPr>
        <p:spPr>
          <a:xfrm>
            <a:off x="480073" y="1851660"/>
            <a:ext cx="5760874" cy="2537460"/>
          </a:xfrm>
          <a:prstGeom prst="rect">
            <a:avLst/>
          </a:prstGeom>
          <a:solidFill>
            <a:srgbClr val="080C10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617236" y="1988820"/>
            <a:ext cx="5486546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backend/app/agents/admin_assistant/tools/jira_tools.py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_ISSUE_KEY_PATTERN = re.compile(r"^[A-Z][A-Z0-9]+-\d+$", re.IGNORECASE)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_MID_PATTERN       = re.compile(r"^\d{8,12}$")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E8ECF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@tool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 def search_jira(query: str, search_type="text") -&gt; dict: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_ISSUE_KEY_PATTERN.match(query):           # L0 — direct fetch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issue = await service.get_issue(query.upper())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ToolResult.ok(...)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_MID_PATTERN.match(query):                 # L1 — text~MID, bounded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await service.search_by_text(query)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search_type == "merchant":                 # L2 — name OR mid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await service.search_by_merchant(query)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if search_type == "jql":                      # L3 — escape hatch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return await service.search(query)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await service.search_by_text(query)    # default: bounded text</a:t>
            </a:r>
            <a:endParaRPr sz="1100"/>
          </a:p>
        </p:txBody>
      </p:sp>
      <p:sp>
        <p:nvSpPr>
          <p:cNvPr id="334" name="Google Shape;334;p33"/>
          <p:cNvSpPr/>
          <p:nvPr/>
        </p:nvSpPr>
        <p:spPr>
          <a:xfrm>
            <a:off x="6446692" y="1851660"/>
            <a:ext cx="2194619" cy="2537460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6583856" y="1954530"/>
            <a:ext cx="2057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Each branch is a budget</a:t>
            </a:r>
            <a:endParaRPr sz="1100"/>
          </a:p>
        </p:txBody>
      </p:sp>
      <p:sp>
        <p:nvSpPr>
          <p:cNvPr id="336" name="Google Shape;336;p33"/>
          <p:cNvSpPr txBox="1"/>
          <p:nvPr/>
        </p:nvSpPr>
        <p:spPr>
          <a:xfrm>
            <a:off x="6583856" y="2263140"/>
            <a:ext cx="205745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AD095"/>
                </a:solidFill>
                <a:latin typeface="Inter"/>
                <a:ea typeface="Inter"/>
                <a:cs typeface="Inter"/>
                <a:sym typeface="Inter"/>
              </a:rPr>
              <a:t>L0  GET /issue/KEY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    1 round-trip · ~600 tok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AD095"/>
                </a:solidFill>
                <a:latin typeface="Inter"/>
                <a:ea typeface="Inter"/>
                <a:cs typeface="Inter"/>
                <a:sym typeface="Inter"/>
              </a:rPr>
              <a:t>L1  text~MID, ≤365d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    1 JQL · ~1.2k tok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4A83A"/>
                </a:solidFill>
                <a:latin typeface="Inter"/>
                <a:ea typeface="Inter"/>
                <a:cs typeface="Inter"/>
                <a:sym typeface="Inter"/>
              </a:rPr>
              <a:t>L2  name OR mid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    1 JQL · ~1.8k tok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E55A5A"/>
                </a:solidFill>
                <a:latin typeface="Inter"/>
                <a:ea typeface="Inter"/>
                <a:cs typeface="Inter"/>
                <a:sym typeface="Inter"/>
              </a:rPr>
              <a:t>L3  raw JQL (admin only)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    bounded by capability</a:t>
            </a:r>
            <a:endParaRPr sz="1100"/>
          </a:p>
        </p:txBody>
      </p:sp>
      <p:sp>
        <p:nvSpPr>
          <p:cNvPr id="337" name="Google Shape;337;p33"/>
          <p:cNvSpPr txBox="1"/>
          <p:nvPr/>
        </p:nvSpPr>
        <p:spPr>
          <a:xfrm>
            <a:off x="480073" y="456057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If the input shape tells you the level, the agent never has to.  No reasoning tokens spent picking a tool.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4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09 · JIRA · PAYLOAD DISCIPLINE</a:t>
            </a:r>
            <a:endParaRPr sz="1100"/>
          </a:p>
        </p:txBody>
      </p:sp>
      <p:sp>
        <p:nvSpPr>
          <p:cNvPr id="345" name="Google Shape;345;p34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The cheapest field is the one you didn't ask for.</a:t>
            </a:r>
            <a:endParaRPr sz="1100"/>
          </a:p>
        </p:txBody>
      </p:sp>
      <p:sp>
        <p:nvSpPr>
          <p:cNvPr id="346" name="Google Shape;346;p34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10 / 17</a:t>
            </a:r>
            <a:endParaRPr sz="1100"/>
          </a:p>
        </p:txBody>
      </p:sp>
      <p:sp>
        <p:nvSpPr>
          <p:cNvPr id="347" name="Google Shape;347;p34"/>
          <p:cNvSpPr/>
          <p:nvPr/>
        </p:nvSpPr>
        <p:spPr>
          <a:xfrm>
            <a:off x="480073" y="1371600"/>
            <a:ext cx="5212219" cy="2468880"/>
          </a:xfrm>
          <a:prstGeom prst="rect">
            <a:avLst/>
          </a:prstGeom>
          <a:solidFill>
            <a:srgbClr val="080C10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4"/>
          <p:cNvSpPr txBox="1"/>
          <p:nvPr/>
        </p:nvSpPr>
        <p:spPr>
          <a:xfrm>
            <a:off x="617236" y="1508760"/>
            <a:ext cx="4937892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backend/app/services/jira_service.py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_SEARCH_FIELDS = (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"key,summary,status,priority,assignee,reporter,"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"created,updated,project,labels,issuetype,description"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_DESCRIPTION_PREVIEW_LENGTH = 500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_DEFAULT_DATE_BOUND_DAYS    = 365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E8ECF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 def search_by_text(self, text: str, max_results: int = 20):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safe = text.replace('"', '\\"')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jql = (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f'text ~ "{safe}" '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f"AND created &gt;= -{_DEFAULT_DATE_BOUND_DAYS}d "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f"ORDER BY created DESC"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await self.search(jql, max_results)   # cached, capped, typed</a:t>
            </a:r>
            <a:endParaRPr sz="1100"/>
          </a:p>
        </p:txBody>
      </p:sp>
      <p:sp>
        <p:nvSpPr>
          <p:cNvPr id="349" name="Google Shape;349;p34"/>
          <p:cNvSpPr/>
          <p:nvPr/>
        </p:nvSpPr>
        <p:spPr>
          <a:xfrm>
            <a:off x="5829455" y="1371600"/>
            <a:ext cx="2811854" cy="2468880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6000910" y="1474470"/>
            <a:ext cx="24689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Four guardrails per call</a:t>
            </a:r>
            <a:endParaRPr sz="1100"/>
          </a:p>
        </p:txBody>
      </p:sp>
      <p:sp>
        <p:nvSpPr>
          <p:cNvPr id="351" name="Google Shape;351;p34"/>
          <p:cNvSpPr txBox="1"/>
          <p:nvPr/>
        </p:nvSpPr>
        <p:spPr>
          <a:xfrm>
            <a:off x="6000910" y="1783080"/>
            <a:ext cx="246894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Field whitelist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·  ~12 fields, not the 200+ Jira can return.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Description preview cap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·  500 chars max — descriptions don't blow the context.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Date bound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·  -365d default — full history is opt-in via JQL.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max_results clamp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·  min(max(n,1),50) — agents can't ask for the firehose.</a:t>
            </a:r>
            <a:endParaRPr sz="1100"/>
          </a:p>
        </p:txBody>
      </p:sp>
      <p:sp>
        <p:nvSpPr>
          <p:cNvPr id="352" name="Google Shape;352;p34"/>
          <p:cNvSpPr txBox="1"/>
          <p:nvPr/>
        </p:nvSpPr>
        <p:spPr>
          <a:xfrm>
            <a:off x="480073" y="4011930"/>
            <a:ext cx="82298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Same constraint pattern lives in Foundry's `select=[]`, `page_size=`, and 2000-char description trim.</a:t>
            </a:r>
            <a:endParaRPr sz="1100"/>
          </a:p>
        </p:txBody>
      </p:sp>
      <p:sp>
        <p:nvSpPr>
          <p:cNvPr id="353" name="Google Shape;353;p34"/>
          <p:cNvSpPr txBox="1"/>
          <p:nvPr/>
        </p:nvSpPr>
        <p:spPr>
          <a:xfrm>
            <a:off x="480073" y="4457700"/>
            <a:ext cx="82298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When you build the integration, you set the maximum cost per call.  The agent doesn't get a vote.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5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5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10 · PROGRESSIVE DISCLOSURE</a:t>
            </a:r>
            <a:endParaRPr sz="1100"/>
          </a:p>
        </p:txBody>
      </p:sp>
      <p:sp>
        <p:nvSpPr>
          <p:cNvPr id="361" name="Google Shape;361;p35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Reveal in layers. The agent pulls the next layer only on demand.</a:t>
            </a:r>
            <a:endParaRPr sz="1100"/>
          </a:p>
        </p:txBody>
      </p:sp>
      <p:sp>
        <p:nvSpPr>
          <p:cNvPr id="362" name="Google Shape;362;p35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11 / 17</a:t>
            </a:r>
            <a:endParaRPr sz="1100"/>
          </a:p>
        </p:txBody>
      </p:sp>
      <p:sp>
        <p:nvSpPr>
          <p:cNvPr id="363" name="Google Shape;363;p35"/>
          <p:cNvSpPr/>
          <p:nvPr/>
        </p:nvSpPr>
        <p:spPr>
          <a:xfrm>
            <a:off x="480073" y="1371600"/>
            <a:ext cx="1508800" cy="384048"/>
          </a:xfrm>
          <a:prstGeom prst="rect">
            <a:avLst/>
          </a:prstGeom>
          <a:solidFill>
            <a:srgbClr val="1822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5"/>
          <p:cNvSpPr txBox="1"/>
          <p:nvPr/>
        </p:nvSpPr>
        <p:spPr>
          <a:xfrm>
            <a:off x="603520" y="1453896"/>
            <a:ext cx="13030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Tier</a:t>
            </a:r>
            <a:endParaRPr sz="1100"/>
          </a:p>
        </p:txBody>
      </p:sp>
      <p:sp>
        <p:nvSpPr>
          <p:cNvPr id="365" name="Google Shape;365;p35"/>
          <p:cNvSpPr/>
          <p:nvPr/>
        </p:nvSpPr>
        <p:spPr>
          <a:xfrm>
            <a:off x="1988873" y="1371600"/>
            <a:ext cx="3154764" cy="384048"/>
          </a:xfrm>
          <a:prstGeom prst="rect">
            <a:avLst/>
          </a:prstGeom>
          <a:solidFill>
            <a:srgbClr val="1822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5"/>
          <p:cNvSpPr txBox="1"/>
          <p:nvPr/>
        </p:nvSpPr>
        <p:spPr>
          <a:xfrm>
            <a:off x="2112320" y="1453896"/>
            <a:ext cx="29490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Content</a:t>
            </a:r>
            <a:endParaRPr sz="1100"/>
          </a:p>
        </p:txBody>
      </p:sp>
      <p:sp>
        <p:nvSpPr>
          <p:cNvPr id="367" name="Google Shape;367;p35"/>
          <p:cNvSpPr/>
          <p:nvPr/>
        </p:nvSpPr>
        <p:spPr>
          <a:xfrm>
            <a:off x="5143637" y="1371600"/>
            <a:ext cx="2537528" cy="384048"/>
          </a:xfrm>
          <a:prstGeom prst="rect">
            <a:avLst/>
          </a:prstGeom>
          <a:solidFill>
            <a:srgbClr val="1822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5"/>
          <p:cNvSpPr txBox="1"/>
          <p:nvPr/>
        </p:nvSpPr>
        <p:spPr>
          <a:xfrm>
            <a:off x="5267084" y="1453896"/>
            <a:ext cx="2331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Trigger to widen</a:t>
            </a:r>
            <a:endParaRPr sz="1100"/>
          </a:p>
        </p:txBody>
      </p:sp>
      <p:sp>
        <p:nvSpPr>
          <p:cNvPr id="369" name="Google Shape;369;p35"/>
          <p:cNvSpPr/>
          <p:nvPr/>
        </p:nvSpPr>
        <p:spPr>
          <a:xfrm>
            <a:off x="7681165" y="1371600"/>
            <a:ext cx="1097309" cy="384048"/>
          </a:xfrm>
          <a:prstGeom prst="rect">
            <a:avLst/>
          </a:prstGeom>
          <a:solidFill>
            <a:srgbClr val="1822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5"/>
          <p:cNvSpPr txBox="1"/>
          <p:nvPr/>
        </p:nvSpPr>
        <p:spPr>
          <a:xfrm>
            <a:off x="7804612" y="1453896"/>
            <a:ext cx="8915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Cost</a:t>
            </a:r>
            <a:endParaRPr sz="1100"/>
          </a:p>
        </p:txBody>
      </p:sp>
      <p:sp>
        <p:nvSpPr>
          <p:cNvPr id="371" name="Google Shape;371;p35"/>
          <p:cNvSpPr/>
          <p:nvPr/>
        </p:nvSpPr>
        <p:spPr>
          <a:xfrm>
            <a:off x="480073" y="1796796"/>
            <a:ext cx="1508800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5"/>
          <p:cNvSpPr txBox="1"/>
          <p:nvPr/>
        </p:nvSpPr>
        <p:spPr>
          <a:xfrm>
            <a:off x="603520" y="1879092"/>
            <a:ext cx="13030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Headline</a:t>
            </a:r>
            <a:endParaRPr sz="1100"/>
          </a:p>
        </p:txBody>
      </p:sp>
      <p:sp>
        <p:nvSpPr>
          <p:cNvPr id="373" name="Google Shape;373;p35"/>
          <p:cNvSpPr/>
          <p:nvPr/>
        </p:nvSpPr>
        <p:spPr>
          <a:xfrm>
            <a:off x="1988873" y="1796796"/>
            <a:ext cx="3154764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5"/>
          <p:cNvSpPr txBox="1"/>
          <p:nvPr/>
        </p:nvSpPr>
        <p:spPr>
          <a:xfrm>
            <a:off x="2112320" y="1879092"/>
            <a:ext cx="29490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key, status, dba_name, total_count</a:t>
            </a:r>
            <a:endParaRPr sz="1100"/>
          </a:p>
        </p:txBody>
      </p:sp>
      <p:sp>
        <p:nvSpPr>
          <p:cNvPr id="375" name="Google Shape;375;p35"/>
          <p:cNvSpPr/>
          <p:nvPr/>
        </p:nvSpPr>
        <p:spPr>
          <a:xfrm>
            <a:off x="5143637" y="1796796"/>
            <a:ext cx="2537528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5"/>
          <p:cNvSpPr txBox="1"/>
          <p:nvPr/>
        </p:nvSpPr>
        <p:spPr>
          <a:xfrm>
            <a:off x="5267084" y="1879092"/>
            <a:ext cx="2331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always returned</a:t>
            </a:r>
            <a:endParaRPr sz="1100"/>
          </a:p>
        </p:txBody>
      </p:sp>
      <p:sp>
        <p:nvSpPr>
          <p:cNvPr id="377" name="Google Shape;377;p35"/>
          <p:cNvSpPr/>
          <p:nvPr/>
        </p:nvSpPr>
        <p:spPr>
          <a:xfrm>
            <a:off x="7681165" y="1796796"/>
            <a:ext cx="1097309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5"/>
          <p:cNvSpPr txBox="1"/>
          <p:nvPr/>
        </p:nvSpPr>
        <p:spPr>
          <a:xfrm>
            <a:off x="7804612" y="1879092"/>
            <a:ext cx="8915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~80 tok</a:t>
            </a:r>
            <a:endParaRPr sz="1100"/>
          </a:p>
        </p:txBody>
      </p:sp>
      <p:sp>
        <p:nvSpPr>
          <p:cNvPr id="379" name="Google Shape;379;p35"/>
          <p:cNvSpPr/>
          <p:nvPr/>
        </p:nvSpPr>
        <p:spPr>
          <a:xfrm>
            <a:off x="480073" y="2221992"/>
            <a:ext cx="1508800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5"/>
          <p:cNvSpPr txBox="1"/>
          <p:nvPr/>
        </p:nvSpPr>
        <p:spPr>
          <a:xfrm>
            <a:off x="603520" y="2304288"/>
            <a:ext cx="13030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Card</a:t>
            </a:r>
            <a:endParaRPr sz="1100"/>
          </a:p>
        </p:txBody>
      </p:sp>
      <p:sp>
        <p:nvSpPr>
          <p:cNvPr id="381" name="Google Shape;381;p35"/>
          <p:cNvSpPr/>
          <p:nvPr/>
        </p:nvSpPr>
        <p:spPr>
          <a:xfrm>
            <a:off x="1988873" y="2221992"/>
            <a:ext cx="3154764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5"/>
          <p:cNvSpPr txBox="1"/>
          <p:nvPr/>
        </p:nvSpPr>
        <p:spPr>
          <a:xfrm>
            <a:off x="2112320" y="2304288"/>
            <a:ext cx="29490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+ subject, priority, owner, dates</a:t>
            </a:r>
            <a:endParaRPr sz="1100"/>
          </a:p>
        </p:txBody>
      </p:sp>
      <p:sp>
        <p:nvSpPr>
          <p:cNvPr id="383" name="Google Shape;383;p35"/>
          <p:cNvSpPr/>
          <p:nvPr/>
        </p:nvSpPr>
        <p:spPr>
          <a:xfrm>
            <a:off x="5143637" y="2221992"/>
            <a:ext cx="2537528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5"/>
          <p:cNvSpPr txBox="1"/>
          <p:nvPr/>
        </p:nvSpPr>
        <p:spPr>
          <a:xfrm>
            <a:off x="5267084" y="2304288"/>
            <a:ext cx="2331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agent renders to user</a:t>
            </a:r>
            <a:endParaRPr sz="1100"/>
          </a:p>
        </p:txBody>
      </p:sp>
      <p:sp>
        <p:nvSpPr>
          <p:cNvPr id="385" name="Google Shape;385;p35"/>
          <p:cNvSpPr/>
          <p:nvPr/>
        </p:nvSpPr>
        <p:spPr>
          <a:xfrm>
            <a:off x="7681165" y="2221992"/>
            <a:ext cx="1097309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5"/>
          <p:cNvSpPr txBox="1"/>
          <p:nvPr/>
        </p:nvSpPr>
        <p:spPr>
          <a:xfrm>
            <a:off x="7804612" y="2304288"/>
            <a:ext cx="8915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~250 tok</a:t>
            </a:r>
            <a:endParaRPr sz="1100"/>
          </a:p>
        </p:txBody>
      </p:sp>
      <p:sp>
        <p:nvSpPr>
          <p:cNvPr id="387" name="Google Shape;387;p35"/>
          <p:cNvSpPr/>
          <p:nvPr/>
        </p:nvSpPr>
        <p:spPr>
          <a:xfrm>
            <a:off x="480073" y="2647188"/>
            <a:ext cx="1508800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5"/>
          <p:cNvSpPr txBox="1"/>
          <p:nvPr/>
        </p:nvSpPr>
        <p:spPr>
          <a:xfrm>
            <a:off x="603520" y="2729484"/>
            <a:ext cx="13030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Detail</a:t>
            </a:r>
            <a:endParaRPr sz="1100"/>
          </a:p>
        </p:txBody>
      </p:sp>
      <p:sp>
        <p:nvSpPr>
          <p:cNvPr id="389" name="Google Shape;389;p35"/>
          <p:cNvSpPr/>
          <p:nvPr/>
        </p:nvSpPr>
        <p:spPr>
          <a:xfrm>
            <a:off x="1988873" y="2647188"/>
            <a:ext cx="3154764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5"/>
          <p:cNvSpPr txBox="1"/>
          <p:nvPr/>
        </p:nvSpPr>
        <p:spPr>
          <a:xfrm>
            <a:off x="2112320" y="2729484"/>
            <a:ext cx="29490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+ description preview (500c), timeline</a:t>
            </a:r>
            <a:endParaRPr sz="1100"/>
          </a:p>
        </p:txBody>
      </p:sp>
      <p:sp>
        <p:nvSpPr>
          <p:cNvPr id="391" name="Google Shape;391;p35"/>
          <p:cNvSpPr/>
          <p:nvPr/>
        </p:nvSpPr>
        <p:spPr>
          <a:xfrm>
            <a:off x="5143637" y="2647188"/>
            <a:ext cx="2537528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5"/>
          <p:cNvSpPr txBox="1"/>
          <p:nvPr/>
        </p:nvSpPr>
        <p:spPr>
          <a:xfrm>
            <a:off x="5267084" y="2729484"/>
            <a:ext cx="2331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user clicks / asks why</a:t>
            </a:r>
            <a:endParaRPr sz="1100"/>
          </a:p>
        </p:txBody>
      </p:sp>
      <p:sp>
        <p:nvSpPr>
          <p:cNvPr id="393" name="Google Shape;393;p35"/>
          <p:cNvSpPr/>
          <p:nvPr/>
        </p:nvSpPr>
        <p:spPr>
          <a:xfrm>
            <a:off x="7681165" y="2647188"/>
            <a:ext cx="1097309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5"/>
          <p:cNvSpPr txBox="1"/>
          <p:nvPr/>
        </p:nvSpPr>
        <p:spPr>
          <a:xfrm>
            <a:off x="7804612" y="2729484"/>
            <a:ext cx="8915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~600 tok</a:t>
            </a:r>
            <a:endParaRPr sz="1100"/>
          </a:p>
        </p:txBody>
      </p:sp>
      <p:sp>
        <p:nvSpPr>
          <p:cNvPr id="395" name="Google Shape;395;p35"/>
          <p:cNvSpPr/>
          <p:nvPr/>
        </p:nvSpPr>
        <p:spPr>
          <a:xfrm>
            <a:off x="480073" y="3072384"/>
            <a:ext cx="1508800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5"/>
          <p:cNvSpPr txBox="1"/>
          <p:nvPr/>
        </p:nvSpPr>
        <p:spPr>
          <a:xfrm>
            <a:off x="603520" y="3154680"/>
            <a:ext cx="13030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Investigation</a:t>
            </a:r>
            <a:endParaRPr sz="1100"/>
          </a:p>
        </p:txBody>
      </p:sp>
      <p:sp>
        <p:nvSpPr>
          <p:cNvPr id="397" name="Google Shape;397;p35"/>
          <p:cNvSpPr/>
          <p:nvPr/>
        </p:nvSpPr>
        <p:spPr>
          <a:xfrm>
            <a:off x="1988873" y="3072384"/>
            <a:ext cx="3154764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5"/>
          <p:cNvSpPr txBox="1"/>
          <p:nvPr/>
        </p:nvSpPr>
        <p:spPr>
          <a:xfrm>
            <a:off x="2112320" y="3154680"/>
            <a:ext cx="29490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+ AI categorisation, related cases, hierarchy</a:t>
            </a:r>
            <a:endParaRPr sz="1100"/>
          </a:p>
        </p:txBody>
      </p:sp>
      <p:sp>
        <p:nvSpPr>
          <p:cNvPr id="399" name="Google Shape;399;p35"/>
          <p:cNvSpPr/>
          <p:nvPr/>
        </p:nvSpPr>
        <p:spPr>
          <a:xfrm>
            <a:off x="5143637" y="3072384"/>
            <a:ext cx="2537528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5"/>
          <p:cNvSpPr txBox="1"/>
          <p:nvPr/>
        </p:nvSpPr>
        <p:spPr>
          <a:xfrm>
            <a:off x="5267084" y="3154680"/>
            <a:ext cx="2331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explicit tool: investigate</a:t>
            </a:r>
            <a:endParaRPr sz="1100"/>
          </a:p>
        </p:txBody>
      </p:sp>
      <p:sp>
        <p:nvSpPr>
          <p:cNvPr id="401" name="Google Shape;401;p35"/>
          <p:cNvSpPr/>
          <p:nvPr/>
        </p:nvSpPr>
        <p:spPr>
          <a:xfrm>
            <a:off x="7681165" y="3072384"/>
            <a:ext cx="1097309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5"/>
          <p:cNvSpPr txBox="1"/>
          <p:nvPr/>
        </p:nvSpPr>
        <p:spPr>
          <a:xfrm>
            <a:off x="7804612" y="3154680"/>
            <a:ext cx="8915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~2k tok</a:t>
            </a:r>
            <a:endParaRPr sz="1100"/>
          </a:p>
        </p:txBody>
      </p:sp>
      <p:sp>
        <p:nvSpPr>
          <p:cNvPr id="403" name="Google Shape;403;p35"/>
          <p:cNvSpPr/>
          <p:nvPr/>
        </p:nvSpPr>
        <p:spPr>
          <a:xfrm>
            <a:off x="480073" y="3497580"/>
            <a:ext cx="1508800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5"/>
          <p:cNvSpPr txBox="1"/>
          <p:nvPr/>
        </p:nvSpPr>
        <p:spPr>
          <a:xfrm>
            <a:off x="603520" y="3579876"/>
            <a:ext cx="13030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Raw</a:t>
            </a:r>
            <a:endParaRPr sz="1100"/>
          </a:p>
        </p:txBody>
      </p:sp>
      <p:sp>
        <p:nvSpPr>
          <p:cNvPr id="405" name="Google Shape;405;p35"/>
          <p:cNvSpPr/>
          <p:nvPr/>
        </p:nvSpPr>
        <p:spPr>
          <a:xfrm>
            <a:off x="1988873" y="3497580"/>
            <a:ext cx="3154764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5"/>
          <p:cNvSpPr txBox="1"/>
          <p:nvPr/>
        </p:nvSpPr>
        <p:spPr>
          <a:xfrm>
            <a:off x="2112320" y="3579876"/>
            <a:ext cx="29490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full SDK record dump</a:t>
            </a:r>
            <a:endParaRPr sz="1100"/>
          </a:p>
        </p:txBody>
      </p:sp>
      <p:sp>
        <p:nvSpPr>
          <p:cNvPr id="407" name="Google Shape;407;p35"/>
          <p:cNvSpPr/>
          <p:nvPr/>
        </p:nvSpPr>
        <p:spPr>
          <a:xfrm>
            <a:off x="5143637" y="3497580"/>
            <a:ext cx="2537528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5267084" y="3579876"/>
            <a:ext cx="23317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developer-only flag</a:t>
            </a:r>
            <a:endParaRPr sz="1100"/>
          </a:p>
        </p:txBody>
      </p:sp>
      <p:sp>
        <p:nvSpPr>
          <p:cNvPr id="409" name="Google Shape;409;p35"/>
          <p:cNvSpPr/>
          <p:nvPr/>
        </p:nvSpPr>
        <p:spPr>
          <a:xfrm>
            <a:off x="7681165" y="3497580"/>
            <a:ext cx="1097309" cy="384048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7804612" y="3579876"/>
            <a:ext cx="8915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off-budget</a:t>
            </a:r>
            <a:endParaRPr sz="1100"/>
          </a:p>
        </p:txBody>
      </p:sp>
      <p:sp>
        <p:nvSpPr>
          <p:cNvPr id="411" name="Google Shape;411;p35"/>
          <p:cNvSpPr txBox="1"/>
          <p:nvPr/>
        </p:nvSpPr>
        <p:spPr>
          <a:xfrm>
            <a:off x="480073" y="411480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Headline travels in every response.  Detail rides on a separate tool call.  Raw is gated by capability.</a:t>
            </a:r>
            <a:endParaRPr sz="1100"/>
          </a:p>
        </p:txBody>
      </p:sp>
      <p:sp>
        <p:nvSpPr>
          <p:cNvPr id="412" name="Google Shape;412;p35"/>
          <p:cNvSpPr txBox="1"/>
          <p:nvPr/>
        </p:nvSpPr>
        <p:spPr>
          <a:xfrm>
            <a:off x="480073" y="445770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Frontend artifacts mirror this — chip → card → drawer → full report.  The data shape and the UI shape rhyme on purpose.</a:t>
            </a:r>
            <a:endParaRPr sz="1100"/>
          </a:p>
        </p:txBody>
      </p:sp>
      <p:sp>
        <p:nvSpPr>
          <p:cNvPr id="413" name="Google Shape;413;p35"/>
          <p:cNvSpPr txBox="1"/>
          <p:nvPr/>
        </p:nvSpPr>
        <p:spPr>
          <a:xfrm>
            <a:off x="480073" y="476631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4A83A"/>
                </a:solidFill>
                <a:latin typeface="Inter"/>
                <a:ea typeface="Inter"/>
                <a:cs typeface="Inter"/>
                <a:sym typeface="Inter"/>
              </a:rPr>
              <a:t>The model never asks 'tell me everything'.  There is no everything.  There is only the next tier.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6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6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11 · AGENT TOPOLOGY</a:t>
            </a:r>
            <a:endParaRPr sz="1100"/>
          </a:p>
        </p:txBody>
      </p:sp>
      <p:sp>
        <p:nvSpPr>
          <p:cNvPr id="421" name="Google Shape;421;p36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The shape of the agent decides the shape of the bill.</a:t>
            </a:r>
            <a:endParaRPr sz="1100"/>
          </a:p>
        </p:txBody>
      </p:sp>
      <p:sp>
        <p:nvSpPr>
          <p:cNvPr id="422" name="Google Shape;422;p36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12 / 17</a:t>
            </a:r>
            <a:endParaRPr sz="1100"/>
          </a:p>
        </p:txBody>
      </p:sp>
      <p:sp>
        <p:nvSpPr>
          <p:cNvPr id="423" name="Google Shape;423;p36"/>
          <p:cNvSpPr/>
          <p:nvPr/>
        </p:nvSpPr>
        <p:spPr>
          <a:xfrm>
            <a:off x="480073" y="1440180"/>
            <a:ext cx="2708982" cy="233172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6"/>
          <p:cNvSpPr/>
          <p:nvPr/>
        </p:nvSpPr>
        <p:spPr>
          <a:xfrm>
            <a:off x="651527" y="1611630"/>
            <a:ext cx="41149" cy="274320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6"/>
          <p:cNvSpPr txBox="1"/>
          <p:nvPr/>
        </p:nvSpPr>
        <p:spPr>
          <a:xfrm>
            <a:off x="822982" y="1563624"/>
            <a:ext cx="23660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Flat</a:t>
            </a:r>
            <a:endParaRPr sz="1100"/>
          </a:p>
        </p:txBody>
      </p:sp>
      <p:sp>
        <p:nvSpPr>
          <p:cNvPr id="426" name="Google Shape;426;p36"/>
          <p:cNvSpPr txBox="1"/>
          <p:nvPr/>
        </p:nvSpPr>
        <p:spPr>
          <a:xfrm>
            <a:off x="651527" y="2023110"/>
            <a:ext cx="236607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One big agent.  Sees every tool.</a:t>
            </a:r>
            <a:b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Reasons over everything.</a:t>
            </a:r>
            <a:b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React loop fans out by default.</a:t>
            </a:r>
            <a:endParaRPr sz="1100"/>
          </a:p>
        </p:txBody>
      </p:sp>
      <p:sp>
        <p:nvSpPr>
          <p:cNvPr id="427" name="Google Shape;427;p36"/>
          <p:cNvSpPr txBox="1"/>
          <p:nvPr/>
        </p:nvSpPr>
        <p:spPr>
          <a:xfrm>
            <a:off x="651527" y="3086100"/>
            <a:ext cx="2366073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E55A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Latency:   ⬤⬤⬤⬤⬤</a:t>
            </a:r>
            <a:br>
              <a:rPr b="1" i="0" lang="en" sz="900" u="none" cap="none" strike="noStrike">
                <a:solidFill>
                  <a:srgbClr val="E55A5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" sz="900" u="none" cap="none" strike="noStrike">
                <a:solidFill>
                  <a:srgbClr val="E55A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Tokens:    ⬤⬤⬤⬤⬤</a:t>
            </a:r>
            <a:br>
              <a:rPr b="1" i="0" lang="en" sz="900" u="none" cap="none" strike="noStrike">
                <a:solidFill>
                  <a:srgbClr val="E55A5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" sz="900" u="none" cap="none" strike="noStrike">
                <a:solidFill>
                  <a:srgbClr val="E55A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Debug:     ⬤◯◯◯◯</a:t>
            </a:r>
            <a:endParaRPr sz="1100"/>
          </a:p>
        </p:txBody>
      </p:sp>
      <p:sp>
        <p:nvSpPr>
          <p:cNvPr id="428" name="Google Shape;428;p36"/>
          <p:cNvSpPr/>
          <p:nvPr/>
        </p:nvSpPr>
        <p:spPr>
          <a:xfrm>
            <a:off x="3326219" y="1440180"/>
            <a:ext cx="2708982" cy="233172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3497673" y="1611630"/>
            <a:ext cx="41149" cy="274320"/>
          </a:xfrm>
          <a:prstGeom prst="rect">
            <a:avLst/>
          </a:prstGeom>
          <a:solidFill>
            <a:srgbClr val="F4A8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6"/>
          <p:cNvSpPr txBox="1"/>
          <p:nvPr/>
        </p:nvSpPr>
        <p:spPr>
          <a:xfrm>
            <a:off x="3669128" y="1563624"/>
            <a:ext cx="23660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Hub &amp; spoke</a:t>
            </a:r>
            <a:endParaRPr sz="1100"/>
          </a:p>
        </p:txBody>
      </p:sp>
      <p:sp>
        <p:nvSpPr>
          <p:cNvPr id="431" name="Google Shape;431;p36"/>
          <p:cNvSpPr txBox="1"/>
          <p:nvPr/>
        </p:nvSpPr>
        <p:spPr>
          <a:xfrm>
            <a:off x="3497673" y="2023110"/>
            <a:ext cx="236607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Router → specialist agents.</a:t>
            </a:r>
            <a:b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Each spoke owns its tool surface.</a:t>
            </a:r>
            <a:b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Session state stays at the hub.</a:t>
            </a:r>
            <a:endParaRPr sz="1100"/>
          </a:p>
        </p:txBody>
      </p:sp>
      <p:sp>
        <p:nvSpPr>
          <p:cNvPr id="432" name="Google Shape;432;p36"/>
          <p:cNvSpPr txBox="1"/>
          <p:nvPr/>
        </p:nvSpPr>
        <p:spPr>
          <a:xfrm>
            <a:off x="3497673" y="3086100"/>
            <a:ext cx="2366073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4A8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Latency:   ⬤⬤⬤◯◯</a:t>
            </a:r>
            <a:br>
              <a:rPr b="1" i="0" lang="en" sz="900" u="none" cap="none" strike="noStrike">
                <a:solidFill>
                  <a:srgbClr val="F4A83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" sz="900" u="none" cap="none" strike="noStrike">
                <a:solidFill>
                  <a:srgbClr val="F4A8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Tokens:    ⬤⬤◯◯◯</a:t>
            </a:r>
            <a:br>
              <a:rPr b="1" i="0" lang="en" sz="900" u="none" cap="none" strike="noStrike">
                <a:solidFill>
                  <a:srgbClr val="F4A83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" sz="900" u="none" cap="none" strike="noStrike">
                <a:solidFill>
                  <a:srgbClr val="F4A8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Debug:     ⬤⬤⬤⬤◯</a:t>
            </a:r>
            <a:endParaRPr sz="1100"/>
          </a:p>
        </p:txBody>
      </p:sp>
      <p:sp>
        <p:nvSpPr>
          <p:cNvPr id="433" name="Google Shape;433;p36"/>
          <p:cNvSpPr/>
          <p:nvPr/>
        </p:nvSpPr>
        <p:spPr>
          <a:xfrm>
            <a:off x="6172365" y="1440180"/>
            <a:ext cx="2708982" cy="233172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6343819" y="1611630"/>
            <a:ext cx="41149" cy="274320"/>
          </a:xfrm>
          <a:prstGeom prst="rect">
            <a:avLst/>
          </a:prstGeom>
          <a:solidFill>
            <a:srgbClr val="4AD0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6"/>
          <p:cNvSpPr txBox="1"/>
          <p:nvPr/>
        </p:nvSpPr>
        <p:spPr>
          <a:xfrm>
            <a:off x="6515274" y="1563624"/>
            <a:ext cx="236607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Manifest mixture</a:t>
            </a:r>
            <a:endParaRPr sz="1100"/>
          </a:p>
        </p:txBody>
      </p:sp>
      <p:sp>
        <p:nvSpPr>
          <p:cNvPr id="436" name="Google Shape;436;p36"/>
          <p:cNvSpPr txBox="1"/>
          <p:nvPr/>
        </p:nvSpPr>
        <p:spPr>
          <a:xfrm>
            <a:off x="6343819" y="2023110"/>
            <a:ext cx="236607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Manifest declares which tools.</a:t>
            </a:r>
            <a:b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Compiler builds the smallest graph.</a:t>
            </a:r>
            <a:b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9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Specialists never see siblings' tools.</a:t>
            </a:r>
            <a:endParaRPr sz="1100"/>
          </a:p>
        </p:txBody>
      </p:sp>
      <p:sp>
        <p:nvSpPr>
          <p:cNvPr id="437" name="Google Shape;437;p36"/>
          <p:cNvSpPr txBox="1"/>
          <p:nvPr/>
        </p:nvSpPr>
        <p:spPr>
          <a:xfrm>
            <a:off x="6343819" y="3086100"/>
            <a:ext cx="2366073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AD09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Latency:   ⬤⬤◯◯◯</a:t>
            </a:r>
            <a:br>
              <a:rPr b="1" i="0" lang="en" sz="900" u="none" cap="none" strike="noStrike">
                <a:solidFill>
                  <a:srgbClr val="4AD095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" sz="900" u="none" cap="none" strike="noStrike">
                <a:solidFill>
                  <a:srgbClr val="4AD09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Tokens:    ⬤◯◯◯◯</a:t>
            </a:r>
            <a:br>
              <a:rPr b="1" i="0" lang="en" sz="900" u="none" cap="none" strike="noStrike">
                <a:solidFill>
                  <a:srgbClr val="4AD095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" sz="900" u="none" cap="none" strike="noStrike">
                <a:solidFill>
                  <a:srgbClr val="4AD09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Debug:     ⬤⬤⬤⬤⬤</a:t>
            </a:r>
            <a:endParaRPr sz="1100"/>
          </a:p>
        </p:txBody>
      </p:sp>
      <p:sp>
        <p:nvSpPr>
          <p:cNvPr id="438" name="Google Shape;438;p36"/>
          <p:cNvSpPr txBox="1"/>
          <p:nvPr/>
        </p:nvSpPr>
        <p:spPr>
          <a:xfrm>
            <a:off x="480073" y="390906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Every tool a specialist doesn't know about is a tool the LLM doesn't have to read in its system prompt.</a:t>
            </a:r>
            <a:endParaRPr sz="1100"/>
          </a:p>
        </p:txBody>
      </p:sp>
      <p:sp>
        <p:nvSpPr>
          <p:cNvPr id="439" name="Google Shape;439;p36"/>
          <p:cNvSpPr txBox="1"/>
          <p:nvPr/>
        </p:nvSpPr>
        <p:spPr>
          <a:xfrm>
            <a:off x="480073" y="428625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Manifest mixture is our default — see backend/app/agents/platform/manifests/.</a:t>
            </a:r>
            <a:endParaRPr sz="1100"/>
          </a:p>
        </p:txBody>
      </p:sp>
      <p:sp>
        <p:nvSpPr>
          <p:cNvPr id="440" name="Google Shape;440;p36"/>
          <p:cNvSpPr txBox="1"/>
          <p:nvPr/>
        </p:nvSpPr>
        <p:spPr>
          <a:xfrm>
            <a:off x="480073" y="462915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Topology is a token decision before it is an architecture decision.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7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12 · TOPOLOGY × TOOLING</a:t>
            </a:r>
            <a:endParaRPr sz="1100"/>
          </a:p>
        </p:txBody>
      </p:sp>
      <p:sp>
        <p:nvSpPr>
          <p:cNvPr id="448" name="Google Shape;448;p37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Where the latency actually goes.</a:t>
            </a:r>
            <a:endParaRPr sz="1100"/>
          </a:p>
        </p:txBody>
      </p:sp>
      <p:sp>
        <p:nvSpPr>
          <p:cNvPr id="449" name="Google Shape;449;p37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13 / 17</a:t>
            </a:r>
            <a:endParaRPr sz="1100"/>
          </a:p>
        </p:txBody>
      </p:sp>
      <p:sp>
        <p:nvSpPr>
          <p:cNvPr id="450" name="Google Shape;450;p37"/>
          <p:cNvSpPr txBox="1"/>
          <p:nvPr/>
        </p:nvSpPr>
        <p:spPr>
          <a:xfrm>
            <a:off x="480073" y="137160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End-to-end response time for a single 'what's wrong with merchant X' question.</a:t>
            </a:r>
            <a:endParaRPr sz="1100"/>
          </a:p>
        </p:txBody>
      </p:sp>
      <p:sp>
        <p:nvSpPr>
          <p:cNvPr id="451" name="Google Shape;451;p37"/>
          <p:cNvSpPr txBox="1"/>
          <p:nvPr/>
        </p:nvSpPr>
        <p:spPr>
          <a:xfrm>
            <a:off x="480073" y="2180844"/>
            <a:ext cx="11658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Flat + MCP</a:t>
            </a:r>
            <a:endParaRPr sz="1100"/>
          </a:p>
        </p:txBody>
      </p:sp>
      <p:sp>
        <p:nvSpPr>
          <p:cNvPr id="452" name="Google Shape;452;p37"/>
          <p:cNvSpPr/>
          <p:nvPr/>
        </p:nvSpPr>
        <p:spPr>
          <a:xfrm>
            <a:off x="1714546" y="2057400"/>
            <a:ext cx="1172749" cy="48006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7"/>
          <p:cNvSpPr txBox="1"/>
          <p:nvPr/>
        </p:nvSpPr>
        <p:spPr>
          <a:xfrm>
            <a:off x="1783128" y="2208276"/>
            <a:ext cx="10355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B0F14"/>
                </a:solidFill>
                <a:latin typeface="Inter"/>
                <a:ea typeface="Inter"/>
                <a:cs typeface="Inter"/>
                <a:sym typeface="Inter"/>
              </a:rPr>
              <a:t>system prompt</a:t>
            </a:r>
            <a:endParaRPr sz="1100"/>
          </a:p>
        </p:txBody>
      </p:sp>
      <p:sp>
        <p:nvSpPr>
          <p:cNvPr id="454" name="Google Shape;454;p37"/>
          <p:cNvSpPr/>
          <p:nvPr/>
        </p:nvSpPr>
        <p:spPr>
          <a:xfrm>
            <a:off x="2887295" y="2057400"/>
            <a:ext cx="1433359" cy="480060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7"/>
          <p:cNvSpPr txBox="1"/>
          <p:nvPr/>
        </p:nvSpPr>
        <p:spPr>
          <a:xfrm>
            <a:off x="2955877" y="2208276"/>
            <a:ext cx="12961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B0F14"/>
                </a:solidFill>
                <a:latin typeface="Inter"/>
                <a:ea typeface="Inter"/>
                <a:cs typeface="Inter"/>
                <a:sym typeface="Inter"/>
              </a:rPr>
              <a:t>tool fan-out</a:t>
            </a:r>
            <a:endParaRPr sz="1100"/>
          </a:p>
        </p:txBody>
      </p:sp>
      <p:sp>
        <p:nvSpPr>
          <p:cNvPr id="456" name="Google Shape;456;p37"/>
          <p:cNvSpPr/>
          <p:nvPr/>
        </p:nvSpPr>
        <p:spPr>
          <a:xfrm>
            <a:off x="4320654" y="2057400"/>
            <a:ext cx="2215193" cy="480060"/>
          </a:xfrm>
          <a:prstGeom prst="rect">
            <a:avLst/>
          </a:prstGeom>
          <a:solidFill>
            <a:srgbClr val="F4A8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7"/>
          <p:cNvSpPr txBox="1"/>
          <p:nvPr/>
        </p:nvSpPr>
        <p:spPr>
          <a:xfrm>
            <a:off x="4389236" y="2208276"/>
            <a:ext cx="207802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B0F14"/>
                </a:solidFill>
                <a:latin typeface="Inter"/>
                <a:ea typeface="Inter"/>
                <a:cs typeface="Inter"/>
                <a:sym typeface="Inter"/>
              </a:rPr>
              <a:t>react widening</a:t>
            </a:r>
            <a:endParaRPr sz="1100"/>
          </a:p>
        </p:txBody>
      </p:sp>
      <p:sp>
        <p:nvSpPr>
          <p:cNvPr id="458" name="Google Shape;458;p37"/>
          <p:cNvSpPr/>
          <p:nvPr/>
        </p:nvSpPr>
        <p:spPr>
          <a:xfrm>
            <a:off x="6535847" y="2057400"/>
            <a:ext cx="1172749" cy="480060"/>
          </a:xfrm>
          <a:prstGeom prst="rect">
            <a:avLst/>
          </a:prstGeom>
          <a:solidFill>
            <a:srgbClr val="8A95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7"/>
          <p:cNvSpPr txBox="1"/>
          <p:nvPr/>
        </p:nvSpPr>
        <p:spPr>
          <a:xfrm>
            <a:off x="6604429" y="2208276"/>
            <a:ext cx="10355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B0F14"/>
                </a:solidFill>
                <a:latin typeface="Inter"/>
                <a:ea typeface="Inter"/>
                <a:cs typeface="Inter"/>
                <a:sym typeface="Inter"/>
              </a:rPr>
              <a:t>model latency</a:t>
            </a:r>
            <a:endParaRPr sz="1100"/>
          </a:p>
        </p:txBody>
      </p:sp>
      <p:sp>
        <p:nvSpPr>
          <p:cNvPr id="460" name="Google Shape;460;p37"/>
          <p:cNvSpPr/>
          <p:nvPr/>
        </p:nvSpPr>
        <p:spPr>
          <a:xfrm>
            <a:off x="7708597" y="2057400"/>
            <a:ext cx="521222" cy="480060"/>
          </a:xfrm>
          <a:prstGeom prst="rect">
            <a:avLst/>
          </a:prstGeom>
          <a:solidFill>
            <a:srgbClr val="4AD0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7"/>
          <p:cNvSpPr txBox="1"/>
          <p:nvPr/>
        </p:nvSpPr>
        <p:spPr>
          <a:xfrm>
            <a:off x="8332691" y="2180844"/>
            <a:ext cx="13716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~5.8s</a:t>
            </a:r>
            <a:endParaRPr sz="1100"/>
          </a:p>
        </p:txBody>
      </p:sp>
      <p:sp>
        <p:nvSpPr>
          <p:cNvPr id="462" name="Google Shape;462;p37"/>
          <p:cNvSpPr txBox="1"/>
          <p:nvPr/>
        </p:nvSpPr>
        <p:spPr>
          <a:xfrm>
            <a:off x="480073" y="2969514"/>
            <a:ext cx="11658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Hub + SDK</a:t>
            </a:r>
            <a:endParaRPr sz="1100"/>
          </a:p>
        </p:txBody>
      </p:sp>
      <p:sp>
        <p:nvSpPr>
          <p:cNvPr id="463" name="Google Shape;463;p37"/>
          <p:cNvSpPr/>
          <p:nvPr/>
        </p:nvSpPr>
        <p:spPr>
          <a:xfrm>
            <a:off x="1714546" y="2846070"/>
            <a:ext cx="651527" cy="48006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7"/>
          <p:cNvSpPr txBox="1"/>
          <p:nvPr/>
        </p:nvSpPr>
        <p:spPr>
          <a:xfrm>
            <a:off x="1783128" y="2996946"/>
            <a:ext cx="514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B0F14"/>
                </a:solidFill>
                <a:latin typeface="Inter"/>
                <a:ea typeface="Inter"/>
                <a:cs typeface="Inter"/>
                <a:sym typeface="Inter"/>
              </a:rPr>
              <a:t>system prompt</a:t>
            </a:r>
            <a:endParaRPr sz="1100"/>
          </a:p>
        </p:txBody>
      </p:sp>
      <p:sp>
        <p:nvSpPr>
          <p:cNvPr id="465" name="Google Shape;465;p37"/>
          <p:cNvSpPr/>
          <p:nvPr/>
        </p:nvSpPr>
        <p:spPr>
          <a:xfrm>
            <a:off x="2366073" y="2846070"/>
            <a:ext cx="651527" cy="480060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7"/>
          <p:cNvSpPr txBox="1"/>
          <p:nvPr/>
        </p:nvSpPr>
        <p:spPr>
          <a:xfrm>
            <a:off x="2434655" y="2996946"/>
            <a:ext cx="514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B0F14"/>
                </a:solidFill>
                <a:latin typeface="Inter"/>
                <a:ea typeface="Inter"/>
                <a:cs typeface="Inter"/>
                <a:sym typeface="Inter"/>
              </a:rPr>
              <a:t>router hop</a:t>
            </a:r>
            <a:endParaRPr sz="1100"/>
          </a:p>
        </p:txBody>
      </p:sp>
      <p:sp>
        <p:nvSpPr>
          <p:cNvPr id="467" name="Google Shape;467;p37"/>
          <p:cNvSpPr/>
          <p:nvPr/>
        </p:nvSpPr>
        <p:spPr>
          <a:xfrm>
            <a:off x="3017600" y="2846070"/>
            <a:ext cx="1172749" cy="480060"/>
          </a:xfrm>
          <a:prstGeom prst="rect">
            <a:avLst/>
          </a:prstGeom>
          <a:solidFill>
            <a:srgbClr val="F4A8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7"/>
          <p:cNvSpPr txBox="1"/>
          <p:nvPr/>
        </p:nvSpPr>
        <p:spPr>
          <a:xfrm>
            <a:off x="3086182" y="2996946"/>
            <a:ext cx="10355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B0F14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  <a:endParaRPr sz="1100"/>
          </a:p>
        </p:txBody>
      </p:sp>
      <p:sp>
        <p:nvSpPr>
          <p:cNvPr id="469" name="Google Shape;469;p37"/>
          <p:cNvSpPr/>
          <p:nvPr/>
        </p:nvSpPr>
        <p:spPr>
          <a:xfrm>
            <a:off x="4190350" y="2846070"/>
            <a:ext cx="1172749" cy="480060"/>
          </a:xfrm>
          <a:prstGeom prst="rect">
            <a:avLst/>
          </a:prstGeom>
          <a:solidFill>
            <a:srgbClr val="8A95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7"/>
          <p:cNvSpPr txBox="1"/>
          <p:nvPr/>
        </p:nvSpPr>
        <p:spPr>
          <a:xfrm>
            <a:off x="4258932" y="2996946"/>
            <a:ext cx="103558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B0F14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  <a:endParaRPr sz="1100"/>
          </a:p>
        </p:txBody>
      </p:sp>
      <p:sp>
        <p:nvSpPr>
          <p:cNvPr id="471" name="Google Shape;471;p37"/>
          <p:cNvSpPr/>
          <p:nvPr/>
        </p:nvSpPr>
        <p:spPr>
          <a:xfrm>
            <a:off x="5363099" y="2846070"/>
            <a:ext cx="521222" cy="480060"/>
          </a:xfrm>
          <a:prstGeom prst="rect">
            <a:avLst/>
          </a:prstGeom>
          <a:solidFill>
            <a:srgbClr val="4AD0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7"/>
          <p:cNvSpPr txBox="1"/>
          <p:nvPr/>
        </p:nvSpPr>
        <p:spPr>
          <a:xfrm>
            <a:off x="5987194" y="2969514"/>
            <a:ext cx="13716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~3.1s</a:t>
            </a:r>
            <a:endParaRPr sz="1100"/>
          </a:p>
        </p:txBody>
      </p:sp>
      <p:sp>
        <p:nvSpPr>
          <p:cNvPr id="473" name="Google Shape;473;p37"/>
          <p:cNvSpPr txBox="1"/>
          <p:nvPr/>
        </p:nvSpPr>
        <p:spPr>
          <a:xfrm>
            <a:off x="480073" y="3758184"/>
            <a:ext cx="11658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Manifest + SDK</a:t>
            </a:r>
            <a:endParaRPr sz="1100"/>
          </a:p>
        </p:txBody>
      </p:sp>
      <p:sp>
        <p:nvSpPr>
          <p:cNvPr id="474" name="Google Shape;474;p37"/>
          <p:cNvSpPr/>
          <p:nvPr/>
        </p:nvSpPr>
        <p:spPr>
          <a:xfrm>
            <a:off x="1714546" y="3634740"/>
            <a:ext cx="390916" cy="48006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7"/>
          <p:cNvSpPr/>
          <p:nvPr/>
        </p:nvSpPr>
        <p:spPr>
          <a:xfrm>
            <a:off x="2105461" y="3634740"/>
            <a:ext cx="260611" cy="480060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7"/>
          <p:cNvSpPr/>
          <p:nvPr/>
        </p:nvSpPr>
        <p:spPr>
          <a:xfrm>
            <a:off x="2366072" y="3634740"/>
            <a:ext cx="651527" cy="480060"/>
          </a:xfrm>
          <a:prstGeom prst="rect">
            <a:avLst/>
          </a:prstGeom>
          <a:solidFill>
            <a:srgbClr val="F4A83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7"/>
          <p:cNvSpPr txBox="1"/>
          <p:nvPr/>
        </p:nvSpPr>
        <p:spPr>
          <a:xfrm>
            <a:off x="2434654" y="3785616"/>
            <a:ext cx="5143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B0F14"/>
                </a:solidFill>
                <a:latin typeface="Inter"/>
                <a:ea typeface="Inter"/>
                <a:cs typeface="Inter"/>
                <a:sym typeface="Inter"/>
              </a:rPr>
              <a:t>react</a:t>
            </a:r>
            <a:endParaRPr sz="1100"/>
          </a:p>
        </p:txBody>
      </p:sp>
      <p:sp>
        <p:nvSpPr>
          <p:cNvPr id="478" name="Google Shape;478;p37"/>
          <p:cNvSpPr/>
          <p:nvPr/>
        </p:nvSpPr>
        <p:spPr>
          <a:xfrm>
            <a:off x="3017600" y="3634740"/>
            <a:ext cx="1042444" cy="480060"/>
          </a:xfrm>
          <a:prstGeom prst="rect">
            <a:avLst/>
          </a:prstGeom>
          <a:solidFill>
            <a:srgbClr val="8A95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7"/>
          <p:cNvSpPr txBox="1"/>
          <p:nvPr/>
        </p:nvSpPr>
        <p:spPr>
          <a:xfrm>
            <a:off x="3086182" y="3785616"/>
            <a:ext cx="90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B0F14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  <a:endParaRPr sz="1100"/>
          </a:p>
        </p:txBody>
      </p:sp>
      <p:sp>
        <p:nvSpPr>
          <p:cNvPr id="480" name="Google Shape;480;p37"/>
          <p:cNvSpPr/>
          <p:nvPr/>
        </p:nvSpPr>
        <p:spPr>
          <a:xfrm>
            <a:off x="4060043" y="3634740"/>
            <a:ext cx="521222" cy="480060"/>
          </a:xfrm>
          <a:prstGeom prst="rect">
            <a:avLst/>
          </a:prstGeom>
          <a:solidFill>
            <a:srgbClr val="4AD09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7"/>
          <p:cNvSpPr txBox="1"/>
          <p:nvPr/>
        </p:nvSpPr>
        <p:spPr>
          <a:xfrm>
            <a:off x="4684138" y="3758184"/>
            <a:ext cx="137163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~1.7s</a:t>
            </a:r>
            <a:endParaRPr sz="1100"/>
          </a:p>
        </p:txBody>
      </p:sp>
      <p:sp>
        <p:nvSpPr>
          <p:cNvPr id="482" name="Google Shape;482;p37"/>
          <p:cNvSpPr txBox="1"/>
          <p:nvPr/>
        </p:nvSpPr>
        <p:spPr>
          <a:xfrm>
            <a:off x="480073" y="425196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Most savings come from the system prompt and react columns — i.e., the tool surface itself, not the network.</a:t>
            </a:r>
            <a:endParaRPr sz="1100"/>
          </a:p>
        </p:txBody>
      </p:sp>
      <p:sp>
        <p:nvSpPr>
          <p:cNvPr id="483" name="Google Shape;483;p37"/>
          <p:cNvSpPr txBox="1"/>
          <p:nvPr/>
        </p:nvSpPr>
        <p:spPr>
          <a:xfrm>
            <a:off x="480073" y="462915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Numbers are illustrative — your traces will differ.  The shape of the wedge is what stays consistent.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8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8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13 · ANTI-PATTERNS WE ALREADY PAID FOR</a:t>
            </a:r>
            <a:endParaRPr sz="1100"/>
          </a:p>
        </p:txBody>
      </p:sp>
      <p:sp>
        <p:nvSpPr>
          <p:cNvPr id="491" name="Google Shape;491;p38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Five tickets we don't want to write again.</a:t>
            </a:r>
            <a:endParaRPr sz="1100"/>
          </a:p>
        </p:txBody>
      </p:sp>
      <p:sp>
        <p:nvSpPr>
          <p:cNvPr id="492" name="Google Shape;492;p38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14 / 17</a:t>
            </a:r>
            <a:endParaRPr sz="1100"/>
          </a:p>
        </p:txBody>
      </p:sp>
      <p:sp>
        <p:nvSpPr>
          <p:cNvPr id="493" name="Google Shape;493;p38"/>
          <p:cNvSpPr/>
          <p:nvPr/>
        </p:nvSpPr>
        <p:spPr>
          <a:xfrm>
            <a:off x="480073" y="1371600"/>
            <a:ext cx="8161238" cy="630936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8"/>
          <p:cNvSpPr/>
          <p:nvPr/>
        </p:nvSpPr>
        <p:spPr>
          <a:xfrm>
            <a:off x="582946" y="1495044"/>
            <a:ext cx="41149" cy="384048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8"/>
          <p:cNvSpPr txBox="1"/>
          <p:nvPr/>
        </p:nvSpPr>
        <p:spPr>
          <a:xfrm>
            <a:off x="754400" y="1453896"/>
            <a:ext cx="781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'Just give the agent a query() tool'</a:t>
            </a:r>
            <a:endParaRPr sz="1100"/>
          </a:p>
        </p:txBody>
      </p:sp>
      <p:sp>
        <p:nvSpPr>
          <p:cNvPr id="496" name="Google Shape;496;p38"/>
          <p:cNvSpPr txBox="1"/>
          <p:nvPr/>
        </p:nvSpPr>
        <p:spPr>
          <a:xfrm>
            <a:off x="754400" y="1680210"/>
            <a:ext cx="781832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→ React loop widened to /search every turn.  Killed by typing the query upfront and wrapping it as search_merchants/search_jira.</a:t>
            </a:r>
            <a:endParaRPr sz="1100"/>
          </a:p>
        </p:txBody>
      </p:sp>
      <p:sp>
        <p:nvSpPr>
          <p:cNvPr id="497" name="Google Shape;497;p38"/>
          <p:cNvSpPr/>
          <p:nvPr/>
        </p:nvSpPr>
        <p:spPr>
          <a:xfrm>
            <a:off x="480073" y="2029968"/>
            <a:ext cx="8161238" cy="630936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8"/>
          <p:cNvSpPr/>
          <p:nvPr/>
        </p:nvSpPr>
        <p:spPr>
          <a:xfrm>
            <a:off x="582946" y="2153412"/>
            <a:ext cx="41149" cy="384048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8"/>
          <p:cNvSpPr txBox="1"/>
          <p:nvPr/>
        </p:nvSpPr>
        <p:spPr>
          <a:xfrm>
            <a:off x="754400" y="2112264"/>
            <a:ext cx="781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Returning the SDK object directly</a:t>
            </a:r>
            <a:endParaRPr sz="1100"/>
          </a:p>
        </p:txBody>
      </p:sp>
      <p:sp>
        <p:nvSpPr>
          <p:cNvPr id="500" name="Google Shape;500;p38"/>
          <p:cNvSpPr txBox="1"/>
          <p:nvPr/>
        </p:nvSpPr>
        <p:spPr>
          <a:xfrm>
            <a:off x="754400" y="2338578"/>
            <a:ext cx="781832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→ Agent re-parsed nested JSON each turn, including private fields.  Fixed by Pydantic-at-the-boundary.</a:t>
            </a:r>
            <a:endParaRPr sz="1100"/>
          </a:p>
        </p:txBody>
      </p:sp>
      <p:sp>
        <p:nvSpPr>
          <p:cNvPr id="501" name="Google Shape;501;p38"/>
          <p:cNvSpPr/>
          <p:nvPr/>
        </p:nvSpPr>
        <p:spPr>
          <a:xfrm>
            <a:off x="480073" y="2688336"/>
            <a:ext cx="8161238" cy="630936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8"/>
          <p:cNvSpPr/>
          <p:nvPr/>
        </p:nvSpPr>
        <p:spPr>
          <a:xfrm>
            <a:off x="582946" y="2811780"/>
            <a:ext cx="41149" cy="384048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754400" y="2770632"/>
            <a:ext cx="781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Letting the model write JQL</a:t>
            </a:r>
            <a:endParaRPr sz="1100"/>
          </a:p>
        </p:txBody>
      </p:sp>
      <p:sp>
        <p:nvSpPr>
          <p:cNvPr id="504" name="Google Shape;504;p38"/>
          <p:cNvSpPr txBox="1"/>
          <p:nvPr/>
        </p:nvSpPr>
        <p:spPr>
          <a:xfrm>
            <a:off x="754400" y="2996946"/>
            <a:ext cx="781832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→ Models reach for `text ~ \"*\"`.  Fixed by exposing search_by_text and gating raw `jql` behind an admin capability.</a:t>
            </a:r>
            <a:endParaRPr sz="1100"/>
          </a:p>
        </p:txBody>
      </p:sp>
      <p:sp>
        <p:nvSpPr>
          <p:cNvPr id="505" name="Google Shape;505;p38"/>
          <p:cNvSpPr/>
          <p:nvPr/>
        </p:nvSpPr>
        <p:spPr>
          <a:xfrm>
            <a:off x="480073" y="3346704"/>
            <a:ext cx="8161238" cy="630936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8"/>
          <p:cNvSpPr/>
          <p:nvPr/>
        </p:nvSpPr>
        <p:spPr>
          <a:xfrm>
            <a:off x="582946" y="3470148"/>
            <a:ext cx="41149" cy="384048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8"/>
          <p:cNvSpPr txBox="1"/>
          <p:nvPr/>
        </p:nvSpPr>
        <p:spPr>
          <a:xfrm>
            <a:off x="754400" y="3429000"/>
            <a:ext cx="781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Per-call auth handshake</a:t>
            </a:r>
            <a:endParaRPr sz="1100"/>
          </a:p>
        </p:txBody>
      </p:sp>
      <p:sp>
        <p:nvSpPr>
          <p:cNvPr id="508" name="Google Shape;508;p38"/>
          <p:cNvSpPr txBox="1"/>
          <p:nvPr/>
        </p:nvSpPr>
        <p:spPr>
          <a:xfrm>
            <a:off x="754400" y="3655314"/>
            <a:ext cx="781832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→ Cold-start tax on every tool call.  Fixed by lazy-singleton clients, env-driven config, and Redis cache for repeat reads.</a:t>
            </a:r>
            <a:endParaRPr sz="1100"/>
          </a:p>
        </p:txBody>
      </p:sp>
      <p:sp>
        <p:nvSpPr>
          <p:cNvPr id="509" name="Google Shape;509;p38"/>
          <p:cNvSpPr/>
          <p:nvPr/>
        </p:nvSpPr>
        <p:spPr>
          <a:xfrm>
            <a:off x="480073" y="4005072"/>
            <a:ext cx="8161238" cy="630936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8"/>
          <p:cNvSpPr/>
          <p:nvPr/>
        </p:nvSpPr>
        <p:spPr>
          <a:xfrm>
            <a:off x="582946" y="4128516"/>
            <a:ext cx="41149" cy="384048"/>
          </a:xfrm>
          <a:prstGeom prst="rect">
            <a:avLst/>
          </a:prstGeom>
          <a:solidFill>
            <a:srgbClr val="E5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8"/>
          <p:cNvSpPr txBox="1"/>
          <p:nvPr/>
        </p:nvSpPr>
        <p:spPr>
          <a:xfrm>
            <a:off x="754400" y="4087368"/>
            <a:ext cx="781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MCP for an internal service</a:t>
            </a:r>
            <a:endParaRPr sz="1100"/>
          </a:p>
        </p:txBody>
      </p:sp>
      <p:sp>
        <p:nvSpPr>
          <p:cNvPr id="512" name="Google Shape;512;p38"/>
          <p:cNvSpPr txBox="1"/>
          <p:nvPr/>
        </p:nvSpPr>
        <p:spPr>
          <a:xfrm>
            <a:off x="754400" y="4313682"/>
            <a:ext cx="781832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→ We already own the schema.  Re-discovering it over a wire is theatre, and the wire costs tokens.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9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9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14 · THE SEVEN RULES</a:t>
            </a:r>
            <a:endParaRPr sz="1100"/>
          </a:p>
        </p:txBody>
      </p:sp>
      <p:sp>
        <p:nvSpPr>
          <p:cNvPr id="520" name="Google Shape;520;p39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If a new integration breaks one of these, send it back.</a:t>
            </a:r>
            <a:endParaRPr sz="1100"/>
          </a:p>
        </p:txBody>
      </p:sp>
      <p:sp>
        <p:nvSpPr>
          <p:cNvPr id="521" name="Google Shape;521;p39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15 / 17</a:t>
            </a:r>
            <a:endParaRPr sz="1100"/>
          </a:p>
        </p:txBody>
      </p:sp>
      <p:sp>
        <p:nvSpPr>
          <p:cNvPr id="522" name="Google Shape;522;p39"/>
          <p:cNvSpPr/>
          <p:nvPr/>
        </p:nvSpPr>
        <p:spPr>
          <a:xfrm>
            <a:off x="480073" y="1371600"/>
            <a:ext cx="8161238" cy="370332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9"/>
          <p:cNvSpPr/>
          <p:nvPr/>
        </p:nvSpPr>
        <p:spPr>
          <a:xfrm>
            <a:off x="582946" y="1460754"/>
            <a:ext cx="41149" cy="19202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9"/>
          <p:cNvSpPr txBox="1"/>
          <p:nvPr/>
        </p:nvSpPr>
        <p:spPr>
          <a:xfrm>
            <a:off x="754400" y="1460754"/>
            <a:ext cx="781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1.  Typed in, typed out.  Pydantic at every boundary.  No dicts crossing service lines.</a:t>
            </a:r>
            <a:endParaRPr sz="1100"/>
          </a:p>
        </p:txBody>
      </p:sp>
      <p:sp>
        <p:nvSpPr>
          <p:cNvPr id="525" name="Google Shape;525;p39"/>
          <p:cNvSpPr/>
          <p:nvPr/>
        </p:nvSpPr>
        <p:spPr>
          <a:xfrm>
            <a:off x="480073" y="1783080"/>
            <a:ext cx="8161238" cy="370332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9"/>
          <p:cNvSpPr/>
          <p:nvPr/>
        </p:nvSpPr>
        <p:spPr>
          <a:xfrm>
            <a:off x="582946" y="1872234"/>
            <a:ext cx="41149" cy="19202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9"/>
          <p:cNvSpPr txBox="1"/>
          <p:nvPr/>
        </p:nvSpPr>
        <p:spPr>
          <a:xfrm>
            <a:off x="754400" y="1872234"/>
            <a:ext cx="781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2.  The integration owns the level.  Auto-detect L0/L1/L2 from input shape, not from the agent.</a:t>
            </a:r>
            <a:endParaRPr sz="1100"/>
          </a:p>
        </p:txBody>
      </p:sp>
      <p:sp>
        <p:nvSpPr>
          <p:cNvPr id="528" name="Google Shape;528;p39"/>
          <p:cNvSpPr/>
          <p:nvPr/>
        </p:nvSpPr>
        <p:spPr>
          <a:xfrm>
            <a:off x="480073" y="2194560"/>
            <a:ext cx="8161238" cy="370332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9"/>
          <p:cNvSpPr/>
          <p:nvPr/>
        </p:nvSpPr>
        <p:spPr>
          <a:xfrm>
            <a:off x="582946" y="2283714"/>
            <a:ext cx="41149" cy="19202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9"/>
          <p:cNvSpPr txBox="1"/>
          <p:nvPr/>
        </p:nvSpPr>
        <p:spPr>
          <a:xfrm>
            <a:off x="754400" y="2283714"/>
            <a:ext cx="781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3.  Field whitelist required.  No SELECT *.  No 'all fields'.  Name what you need and trim what you return.</a:t>
            </a:r>
            <a:endParaRPr sz="1100"/>
          </a:p>
        </p:txBody>
      </p:sp>
      <p:sp>
        <p:nvSpPr>
          <p:cNvPr id="531" name="Google Shape;531;p39"/>
          <p:cNvSpPr/>
          <p:nvPr/>
        </p:nvSpPr>
        <p:spPr>
          <a:xfrm>
            <a:off x="480073" y="2606040"/>
            <a:ext cx="8161238" cy="370332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9"/>
          <p:cNvSpPr/>
          <p:nvPr/>
        </p:nvSpPr>
        <p:spPr>
          <a:xfrm>
            <a:off x="582946" y="2695194"/>
            <a:ext cx="41149" cy="19202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9"/>
          <p:cNvSpPr txBox="1"/>
          <p:nvPr/>
        </p:nvSpPr>
        <p:spPr>
          <a:xfrm>
            <a:off x="754400" y="2695194"/>
            <a:ext cx="781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4.  Cache near the call.  Redis-keyed, short TTL.  Cache the typed response, not the raw payload.</a:t>
            </a:r>
            <a:endParaRPr sz="1100"/>
          </a:p>
        </p:txBody>
      </p:sp>
      <p:sp>
        <p:nvSpPr>
          <p:cNvPr id="534" name="Google Shape;534;p39"/>
          <p:cNvSpPr/>
          <p:nvPr/>
        </p:nvSpPr>
        <p:spPr>
          <a:xfrm>
            <a:off x="480073" y="3017520"/>
            <a:ext cx="8161238" cy="370332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9"/>
          <p:cNvSpPr/>
          <p:nvPr/>
        </p:nvSpPr>
        <p:spPr>
          <a:xfrm>
            <a:off x="582946" y="3106674"/>
            <a:ext cx="41149" cy="19202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9"/>
          <p:cNvSpPr txBox="1"/>
          <p:nvPr/>
        </p:nvSpPr>
        <p:spPr>
          <a:xfrm>
            <a:off x="754400" y="3106674"/>
            <a:ext cx="781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5.  Errors are typed too.  ConnectionError vs QueryError vs NotFound.  Never paragraphs.  Never None-and-pray.</a:t>
            </a:r>
            <a:endParaRPr sz="1100"/>
          </a:p>
        </p:txBody>
      </p:sp>
      <p:sp>
        <p:nvSpPr>
          <p:cNvPr id="537" name="Google Shape;537;p39"/>
          <p:cNvSpPr/>
          <p:nvPr/>
        </p:nvSpPr>
        <p:spPr>
          <a:xfrm>
            <a:off x="480073" y="3429000"/>
            <a:ext cx="8161238" cy="370332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9"/>
          <p:cNvSpPr/>
          <p:nvPr/>
        </p:nvSpPr>
        <p:spPr>
          <a:xfrm>
            <a:off x="582946" y="3518154"/>
            <a:ext cx="41149" cy="19202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9"/>
          <p:cNvSpPr txBox="1"/>
          <p:nvPr/>
        </p:nvSpPr>
        <p:spPr>
          <a:xfrm>
            <a:off x="754400" y="3518154"/>
            <a:ext cx="781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6.  Async via asyncio.to_thread for sync SDKs.  Never block the event loop.  Never spawn a daemon for a single call.</a:t>
            </a:r>
            <a:endParaRPr sz="1100"/>
          </a:p>
        </p:txBody>
      </p:sp>
      <p:sp>
        <p:nvSpPr>
          <p:cNvPr id="540" name="Google Shape;540;p39"/>
          <p:cNvSpPr/>
          <p:nvPr/>
        </p:nvSpPr>
        <p:spPr>
          <a:xfrm>
            <a:off x="480073" y="3840480"/>
            <a:ext cx="8161238" cy="370332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9"/>
          <p:cNvSpPr/>
          <p:nvPr/>
        </p:nvSpPr>
        <p:spPr>
          <a:xfrm>
            <a:off x="582946" y="3929634"/>
            <a:ext cx="41149" cy="19202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9"/>
          <p:cNvSpPr txBox="1"/>
          <p:nvPr/>
        </p:nvSpPr>
        <p:spPr>
          <a:xfrm>
            <a:off x="754400" y="3929634"/>
            <a:ext cx="7818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7.  Manifest declares tools.  No keyword routing in chat handlers.  No bespoke agents.  Composable or reject.</a:t>
            </a:r>
            <a:endParaRPr sz="1100"/>
          </a:p>
        </p:txBody>
      </p:sp>
      <p:sp>
        <p:nvSpPr>
          <p:cNvPr id="543" name="Google Shape;543;p39"/>
          <p:cNvSpPr txBox="1"/>
          <p:nvPr/>
        </p:nvSpPr>
        <p:spPr>
          <a:xfrm>
            <a:off x="480073" y="452628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These are non-negotiable for runtime tools.  Discovery and prototyping have their own playground —</a:t>
            </a:r>
            <a:endParaRPr sz="1100"/>
          </a:p>
        </p:txBody>
      </p:sp>
      <p:sp>
        <p:nvSpPr>
          <p:cNvPr id="544" name="Google Shape;544;p39"/>
          <p:cNvSpPr txBox="1"/>
          <p:nvPr/>
        </p:nvSpPr>
        <p:spPr>
          <a:xfrm>
            <a:off x="480073" y="480060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a tool that ships behind a manifest is a tool that earned its tokens.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0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0"/>
          <p:cNvSpPr/>
          <p:nvPr/>
        </p:nvSpPr>
        <p:spPr>
          <a:xfrm>
            <a:off x="377200" y="411480"/>
            <a:ext cx="54865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0"/>
          <p:cNvSpPr txBox="1"/>
          <p:nvPr/>
        </p:nvSpPr>
        <p:spPr>
          <a:xfrm>
            <a:off x="480073" y="37719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15 · WHERE TO START</a:t>
            </a:r>
            <a:endParaRPr sz="1100"/>
          </a:p>
        </p:txBody>
      </p:sp>
      <p:sp>
        <p:nvSpPr>
          <p:cNvPr id="552" name="Google Shape;552;p40"/>
          <p:cNvSpPr txBox="1"/>
          <p:nvPr/>
        </p:nvSpPr>
        <p:spPr>
          <a:xfrm>
            <a:off x="480073" y="651510"/>
            <a:ext cx="822981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Three markdown templates, three days to ship.</a:t>
            </a:r>
            <a:endParaRPr sz="1100"/>
          </a:p>
        </p:txBody>
      </p:sp>
      <p:sp>
        <p:nvSpPr>
          <p:cNvPr id="553" name="Google Shape;553;p40"/>
          <p:cNvSpPr txBox="1"/>
          <p:nvPr/>
        </p:nvSpPr>
        <p:spPr>
          <a:xfrm>
            <a:off x="8024074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16 / 17</a:t>
            </a:r>
            <a:endParaRPr sz="1100"/>
          </a:p>
        </p:txBody>
      </p:sp>
      <p:sp>
        <p:nvSpPr>
          <p:cNvPr id="554" name="Google Shape;554;p40"/>
          <p:cNvSpPr/>
          <p:nvPr/>
        </p:nvSpPr>
        <p:spPr>
          <a:xfrm>
            <a:off x="480073" y="1440180"/>
            <a:ext cx="2708982" cy="301752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0"/>
          <p:cNvSpPr/>
          <p:nvPr/>
        </p:nvSpPr>
        <p:spPr>
          <a:xfrm>
            <a:off x="651527" y="1611630"/>
            <a:ext cx="41149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0"/>
          <p:cNvSpPr txBox="1"/>
          <p:nvPr/>
        </p:nvSpPr>
        <p:spPr>
          <a:xfrm>
            <a:off x="822982" y="1563624"/>
            <a:ext cx="23660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INTEGRATION_PATTERN.md</a:t>
            </a:r>
            <a:endParaRPr sz="1100"/>
          </a:p>
        </p:txBody>
      </p:sp>
      <p:sp>
        <p:nvSpPr>
          <p:cNvPr id="557" name="Google Shape;557;p40"/>
          <p:cNvSpPr txBox="1"/>
          <p:nvPr/>
        </p:nvSpPr>
        <p:spPr>
          <a:xfrm>
            <a:off x="651527" y="2091690"/>
            <a:ext cx="2366073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The doctrine.</a:t>
            </a:r>
            <a:b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Why SDK/CLI over MCP.</a:t>
            </a:r>
            <a:b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ReAct guarantees.</a:t>
            </a:r>
            <a:b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Progressive disclosure tiers.</a:t>
            </a:r>
            <a:endParaRPr sz="1100"/>
          </a:p>
        </p:txBody>
      </p:sp>
      <p:sp>
        <p:nvSpPr>
          <p:cNvPr id="558" name="Google Shape;558;p40"/>
          <p:cNvSpPr txBox="1"/>
          <p:nvPr/>
        </p:nvSpPr>
        <p:spPr>
          <a:xfrm>
            <a:off x="651527" y="3771900"/>
            <a:ext cx="2366073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Read first.  10-minute read.  Settle the philosophy.</a:t>
            </a:r>
            <a:endParaRPr sz="1100"/>
          </a:p>
        </p:txBody>
      </p:sp>
      <p:sp>
        <p:nvSpPr>
          <p:cNvPr id="559" name="Google Shape;559;p40"/>
          <p:cNvSpPr/>
          <p:nvPr/>
        </p:nvSpPr>
        <p:spPr>
          <a:xfrm>
            <a:off x="3326219" y="1440180"/>
            <a:ext cx="2708982" cy="301752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40"/>
          <p:cNvSpPr/>
          <p:nvPr/>
        </p:nvSpPr>
        <p:spPr>
          <a:xfrm>
            <a:off x="3497673" y="1611630"/>
            <a:ext cx="41149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0"/>
          <p:cNvSpPr txBox="1"/>
          <p:nvPr/>
        </p:nvSpPr>
        <p:spPr>
          <a:xfrm>
            <a:off x="3669128" y="1563624"/>
            <a:ext cx="23660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NEW_SDK_INTEGRATION.md</a:t>
            </a:r>
            <a:endParaRPr sz="1100"/>
          </a:p>
        </p:txBody>
      </p:sp>
      <p:sp>
        <p:nvSpPr>
          <p:cNvPr id="562" name="Google Shape;562;p40"/>
          <p:cNvSpPr txBox="1"/>
          <p:nvPr/>
        </p:nvSpPr>
        <p:spPr>
          <a:xfrm>
            <a:off x="3497673" y="2091690"/>
            <a:ext cx="2366073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Fill-in-the-blank service file.</a:t>
            </a:r>
            <a:b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Mixin, schema, tool wrapper.</a:t>
            </a:r>
            <a:b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Cache, error types, manifest.</a:t>
            </a:r>
            <a:endParaRPr sz="1100"/>
          </a:p>
        </p:txBody>
      </p:sp>
      <p:sp>
        <p:nvSpPr>
          <p:cNvPr id="563" name="Google Shape;563;p40"/>
          <p:cNvSpPr txBox="1"/>
          <p:nvPr/>
        </p:nvSpPr>
        <p:spPr>
          <a:xfrm>
            <a:off x="3497673" y="3771900"/>
            <a:ext cx="2366073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Copy → rename → swap.  Foundry-shaped.  Production-ready scaffold.</a:t>
            </a:r>
            <a:endParaRPr sz="1100"/>
          </a:p>
        </p:txBody>
      </p:sp>
      <p:sp>
        <p:nvSpPr>
          <p:cNvPr id="564" name="Google Shape;564;p40"/>
          <p:cNvSpPr/>
          <p:nvPr/>
        </p:nvSpPr>
        <p:spPr>
          <a:xfrm>
            <a:off x="6172365" y="1440180"/>
            <a:ext cx="2708982" cy="3017520"/>
          </a:xfrm>
          <a:prstGeom prst="rect">
            <a:avLst/>
          </a:prstGeom>
          <a:solidFill>
            <a:srgbClr val="141B24"/>
          </a:solidFill>
          <a:ln cap="flat" cmpd="sng" w="9525">
            <a:solidFill>
              <a:srgbClr val="22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0"/>
          <p:cNvSpPr/>
          <p:nvPr/>
        </p:nvSpPr>
        <p:spPr>
          <a:xfrm>
            <a:off x="6343819" y="1611630"/>
            <a:ext cx="41149" cy="30861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0"/>
          <p:cNvSpPr txBox="1"/>
          <p:nvPr/>
        </p:nvSpPr>
        <p:spPr>
          <a:xfrm>
            <a:off x="6515274" y="1563624"/>
            <a:ext cx="23660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NEW_CLI_INTEGRATION.md</a:t>
            </a:r>
            <a:endParaRPr sz="1100"/>
          </a:p>
        </p:txBody>
      </p:sp>
      <p:sp>
        <p:nvSpPr>
          <p:cNvPr id="567" name="Google Shape;567;p40"/>
          <p:cNvSpPr txBox="1"/>
          <p:nvPr/>
        </p:nvSpPr>
        <p:spPr>
          <a:xfrm>
            <a:off x="6343819" y="2091690"/>
            <a:ext cx="2366073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Subprocess wrapper, argv builders.</a:t>
            </a:r>
            <a:b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stdout JSON parsing.</a:t>
            </a:r>
            <a:b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0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Dry-run + snapshot tests.</a:t>
            </a:r>
            <a:endParaRPr sz="1100"/>
          </a:p>
        </p:txBody>
      </p:sp>
      <p:sp>
        <p:nvSpPr>
          <p:cNvPr id="568" name="Google Shape;568;p40"/>
          <p:cNvSpPr txBox="1"/>
          <p:nvPr/>
        </p:nvSpPr>
        <p:spPr>
          <a:xfrm>
            <a:off x="6343819" y="3771900"/>
            <a:ext cx="2366073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Use when no SDK exists.  jq pipelines welcome.</a:t>
            </a:r>
            <a:endParaRPr sz="1100"/>
          </a:p>
        </p:txBody>
      </p:sp>
      <p:sp>
        <p:nvSpPr>
          <p:cNvPr id="569" name="Google Shape;569;p40"/>
          <p:cNvSpPr txBox="1"/>
          <p:nvPr/>
        </p:nvSpPr>
        <p:spPr>
          <a:xfrm>
            <a:off x="480073" y="459486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36E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Location — documentation/integration-templates/   ·   Pair with manifest in backend/app/agents/platform/manifests/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1"/>
          <p:cNvSpPr/>
          <p:nvPr/>
        </p:nvSpPr>
        <p:spPr>
          <a:xfrm>
            <a:off x="377200" y="1714500"/>
            <a:ext cx="54865" cy="178308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/>
          <p:cNvSpPr txBox="1"/>
          <p:nvPr/>
        </p:nvSpPr>
        <p:spPr>
          <a:xfrm>
            <a:off x="548655" y="109728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TL;DR</a:t>
            </a:r>
            <a:endParaRPr sz="1100"/>
          </a:p>
        </p:txBody>
      </p:sp>
      <p:sp>
        <p:nvSpPr>
          <p:cNvPr id="577" name="Google Shape;577;p41"/>
          <p:cNvSpPr txBox="1"/>
          <p:nvPr/>
        </p:nvSpPr>
        <p:spPr>
          <a:xfrm>
            <a:off x="548655" y="1440180"/>
            <a:ext cx="8229819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500" u="none" cap="none" strike="noStrike">
                <a:solidFill>
                  <a:srgbClr val="E8ECF1"/>
                </a:solidFill>
                <a:latin typeface="Inter"/>
                <a:ea typeface="Inter"/>
                <a:cs typeface="Inter"/>
                <a:sym typeface="Inter"/>
              </a:rPr>
              <a:t>Build the tool, not the telephone.</a:t>
            </a:r>
            <a:endParaRPr sz="1100"/>
          </a:p>
        </p:txBody>
      </p:sp>
      <p:sp>
        <p:nvSpPr>
          <p:cNvPr id="578" name="Google Shape;578;p41"/>
          <p:cNvSpPr txBox="1"/>
          <p:nvPr/>
        </p:nvSpPr>
        <p:spPr>
          <a:xfrm>
            <a:off x="548655" y="2468880"/>
            <a:ext cx="8229819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Type your inputs.  Whitelist your fields.  Cache your boundary.</a:t>
            </a:r>
            <a:br>
              <a:rPr b="0" i="0" lang="en" sz="14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4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Auto-detect the level so the agent never widens on guesswork.</a:t>
            </a:r>
            <a:br>
              <a:rPr b="0" i="0" lang="en" sz="14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4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Let the manifest pick which tools the model even sees.</a:t>
            </a:r>
            <a:br>
              <a:rPr b="0" i="0" lang="en" sz="14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4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Disclose progressively — headline, card, detail, raw.</a:t>
            </a:r>
            <a:endParaRPr sz="1100"/>
          </a:p>
        </p:txBody>
      </p:sp>
      <p:sp>
        <p:nvSpPr>
          <p:cNvPr id="579" name="Google Shape;579;p41"/>
          <p:cNvSpPr txBox="1"/>
          <p:nvPr/>
        </p:nvSpPr>
        <p:spPr>
          <a:xfrm>
            <a:off x="548655" y="438912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Inter"/>
                <a:ea typeface="Inter"/>
                <a:cs typeface="Inter"/>
                <a:sym typeface="Inter"/>
              </a:rPr>
              <a:t>MCP is a fine handshake for unknown servers.  Inside SkyTab Intelligence, we already know each other.</a:t>
            </a:r>
            <a:endParaRPr sz="1100"/>
          </a:p>
        </p:txBody>
      </p:sp>
      <p:sp>
        <p:nvSpPr>
          <p:cNvPr id="580" name="Google Shape;580;p41"/>
          <p:cNvSpPr txBox="1"/>
          <p:nvPr/>
        </p:nvSpPr>
        <p:spPr>
          <a:xfrm>
            <a:off x="8092656" y="4800600"/>
            <a:ext cx="8229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A95A5"/>
                </a:solidFill>
                <a:latin typeface="Inter"/>
                <a:ea typeface="Inter"/>
                <a:cs typeface="Inter"/>
                <a:sym typeface="Inter"/>
              </a:rPr>
              <a:t>17 / 17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